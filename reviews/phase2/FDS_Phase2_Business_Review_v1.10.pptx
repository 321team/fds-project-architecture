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9d4ee3cfdb041ea" Type="http://schemas.openxmlformats.org/package/2006/relationships/metadata/core-properties" Target="docProps/core.xml"/><Relationship Id="R334f59f6dd8b44ea" Type="http://schemas.openxmlformats.org/officeDocument/2006/relationships/extended-properties" Target="docProps/app.xml"/><Relationship Id="R35e26b162d644609"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1d569dc6b90d4b4a"/>
  </p:sldMasterIdLst>
  <p:notesMasterIdLst>
    <p:notesMasterId xmlns:r="http://schemas.openxmlformats.org/officeDocument/2006/relationships" r:id="Rc03909d5b4134e5f"/>
  </p:notesMasterIdLst>
  <p:sldIdLst>
    <p:sldId xmlns:r="http://schemas.openxmlformats.org/officeDocument/2006/relationships" id="256" r:id="R6ee0a21414794bf9"/>
    <p:sldId xmlns:r="http://schemas.openxmlformats.org/officeDocument/2006/relationships" id="257" r:id="Rfa27097b1fdc4665"/>
    <p:sldId xmlns:r="http://schemas.openxmlformats.org/officeDocument/2006/relationships" id="258" r:id="Rd8709372c1ee4a57"/>
    <p:sldId xmlns:r="http://schemas.openxmlformats.org/officeDocument/2006/relationships" id="259" r:id="Rfba59a41e2a04f37"/>
    <p:sldId xmlns:r="http://schemas.openxmlformats.org/officeDocument/2006/relationships" id="260" r:id="Rcba950127bb94c7a"/>
    <p:sldId xmlns:r="http://schemas.openxmlformats.org/officeDocument/2006/relationships" id="261" r:id="R9c181f031a304523"/>
    <p:sldId xmlns:r="http://schemas.openxmlformats.org/officeDocument/2006/relationships" id="262" r:id="R664eb1cb7a2e4fab"/>
    <p:sldId xmlns:r="http://schemas.openxmlformats.org/officeDocument/2006/relationships" id="263" r:id="Re58fca71d0be46c0"/>
    <p:sldId xmlns:r="http://schemas.openxmlformats.org/officeDocument/2006/relationships" id="264" r:id="R543547caf3384b0b"/>
    <p:sldId xmlns:r="http://schemas.openxmlformats.org/officeDocument/2006/relationships" id="265" r:id="R919371befcf94568"/>
    <p:sldId xmlns:r="http://schemas.openxmlformats.org/officeDocument/2006/relationships" id="266" r:id="R3b56bdd3544146a2"/>
    <p:sldId xmlns:r="http://schemas.openxmlformats.org/officeDocument/2006/relationships" id="267" r:id="R6f8a8343e3a34c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d569dc6b90d4b4a" Type="http://schemas.openxmlformats.org/officeDocument/2006/relationships/slideMaster" Target="slideMasters/slideMaster1.xml"/><Relationship Id="R3a8d63b385574922" Type="http://schemas.openxmlformats.org/officeDocument/2006/relationships/tableStyles" Target="tableStyles.xml"/><Relationship Id="R3b56bdd3544146a2" Type="http://schemas.openxmlformats.org/officeDocument/2006/relationships/slide" Target="slides/slide11.xml"/><Relationship Id="R543547caf3384b0b" Type="http://schemas.openxmlformats.org/officeDocument/2006/relationships/slide" Target="slides/slide9.xml"/><Relationship Id="R586da9ffaac54321" Type="http://schemas.openxmlformats.org/officeDocument/2006/relationships/theme" Target="theme/theme1.xml"/><Relationship Id="R664eb1cb7a2e4fab" Type="http://schemas.openxmlformats.org/officeDocument/2006/relationships/slide" Target="slides/slide7.xml"/><Relationship Id="R6ee0a21414794bf9" Type="http://schemas.openxmlformats.org/officeDocument/2006/relationships/slide" Target="slides/slide1.xml"/><Relationship Id="R6f8a8343e3a34c48" Type="http://schemas.openxmlformats.org/officeDocument/2006/relationships/slide" Target="slides/slide12.xml"/><Relationship Id="R919371befcf94568" Type="http://schemas.openxmlformats.org/officeDocument/2006/relationships/slide" Target="slides/slide10.xml"/><Relationship Id="R9c181f031a304523" Type="http://schemas.openxmlformats.org/officeDocument/2006/relationships/slide" Target="slides/slide6.xml"/><Relationship Id="R9f0c9dce2fb54209" Type="http://schemas.openxmlformats.org/officeDocument/2006/relationships/presProps" Target="presProps.xml"/><Relationship Id="Rc03909d5b4134e5f" Type="http://schemas.openxmlformats.org/officeDocument/2006/relationships/notesMaster" Target="notesMasters/notesMaster1.xml"/><Relationship Id="Rcba950127bb94c7a" Type="http://schemas.openxmlformats.org/officeDocument/2006/relationships/slide" Target="slides/slide5.xml"/><Relationship Id="Rd8709372c1ee4a57" Type="http://schemas.openxmlformats.org/officeDocument/2006/relationships/slide" Target="slides/slide3.xml"/><Relationship Id="Re58fca71d0be46c0" Type="http://schemas.openxmlformats.org/officeDocument/2006/relationships/slide" Target="slides/slide8.xml"/><Relationship Id="Rfa27097b1fdc4665" Type="http://schemas.openxmlformats.org/officeDocument/2006/relationships/slide" Target="slides/slide2.xml"/><Relationship Id="Rfba59a41e2a04f37"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8951070895ff4033"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8949149518543db" Type="http://schemas.openxmlformats.org/officeDocument/2006/relationships/slide" Target="../slides/slide1.xml"/><Relationship Id="R81f9f101647b47c0"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c9c294006cbe48b6" Type="http://schemas.openxmlformats.org/officeDocument/2006/relationships/slide" Target="../slides/slide2.xml"/><Relationship Id="Rce63ce32e8834d2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24907bcaa85a4a29" Type="http://schemas.openxmlformats.org/officeDocument/2006/relationships/slide" Target="../slides/slide3.xml"/><Relationship Id="Rd38dafc3fe42431c"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8865be10722a42cc" Type="http://schemas.openxmlformats.org/officeDocument/2006/relationships/slide" Target="../slides/slide4.xml"/><Relationship Id="R93a8fb4b197e4e35"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6332ea14284542ac" Type="http://schemas.openxmlformats.org/officeDocument/2006/relationships/slide" Target="../slides/slide5.xml"/><Relationship Id="Rbd5f4a64f0f646a9"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54ff9f0b4e4b4940" Type="http://schemas.openxmlformats.org/officeDocument/2006/relationships/notesMaster" Target="../notesMasters/notesMaster1.xml"/><Relationship Id="Re3698da0395e44ba"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e5b0600a83674f95" Type="http://schemas.openxmlformats.org/officeDocument/2006/relationships/notesMaster" Target="../notesMasters/notesMaster1.xml"/><Relationship Id="Rfac14616417142d3"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483831aa11834173" Type="http://schemas.openxmlformats.org/officeDocument/2006/relationships/slide" Target="../slides/slide8.xml"/><Relationship Id="R5a27c8f928ba4769"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137d07328baf4ff6" Type="http://schemas.openxmlformats.org/officeDocument/2006/relationships/notesMaster" Target="../notesMasters/notesMaster1.xml"/><Relationship Id="R9a0d5fb96a894803"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d5659811add14cff" Type="http://schemas.openxmlformats.org/officeDocument/2006/relationships/notesMaster" Target="../notesMasters/notesMaster1.xml"/><Relationship Id="Rdb484a70c0704fb9"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28d45fd66df146eb" Type="http://schemas.openxmlformats.org/officeDocument/2006/relationships/slide" Target="../slides/slide11.xml"/><Relationship Id="R310946f54ffa433f"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99bb7207f88f4fa3" Type="http://schemas.openxmlformats.org/officeDocument/2006/relationships/notesMaster" Target="../notesMasters/notesMaster1.xml"/><Relationship Id="Ra2c2a6dcf559481a" Type="http://schemas.openxmlformats.org/officeDocument/2006/relationships/slide" Target="../slides/slide12.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 인수 및 기반서비스 인계 완료. Phase 2 설계 리뷰·구축 계획.</a:t>
            </a:r>
          </a:p>
          <a:p xmlns:a="http://schemas.openxmlformats.org/drawingml/2006/main">
            <a:r>
              <a:t>현황 기준: 2026-10-06 KST, 재착수 후 원본 조회</a:t>
            </a:r>
          </a:p>
          <a:p xmlns:a="http://schemas.openxmlformats.org/drawingml/2006/main">
            <a:r>
              <a:t/>
            </a:r>
          </a:p>
          <a:p xmlns:a="http://schemas.openxmlformats.org/drawingml/2006/main">
            <a:r>
              <a:t>발표 흐름</a:t>
            </a:r>
          </a:p>
          <a:p xmlns:a="http://schemas.openxmlformats.org/drawingml/2006/main">
            <a:r>
              <a:t>Phase 1에서 데이터베이스와 기반서비스의 인수를 완료했습니다. Phase 2에서는 거래 처리와 위험 판정을 클라우드에서 실행하고 기존 데이터베이스와 연결하겠습니다.</a:t>
            </a:r>
          </a:p>
          <a:p xmlns:a="http://schemas.openxmlformats.org/drawingml/2006/main">
            <a:r>
              <a:t/>
            </a:r>
          </a:p>
          <a:p xmlns:a="http://schemas.openxmlformats.org/drawingml/2006/main">
            <a:r>
              <a:t>설계의 방향은 기존 데이터 기반을 재사용하고, 필수 업무 연결과 배포·복구를 먼저 검증하는 것입니다. 오늘은 설계 방향과 담당자별 작업 흐름을 설명드리고, 실제 구축 전에 확정할 조건과 이후 실행 계획을 함께 검토받겠습니다.</a:t>
            </a:r>
          </a:p>
          <a:p xmlns:a="http://schemas.openxmlformats.org/drawingml/2006/main">
            <a:r>
              <a:t/>
            </a:r>
          </a:p>
          <a:p xmlns:a="http://schemas.openxmlformats.org/drawingml/2006/main">
            <a:r>
              <a:t>설계·인수조건과 검증 범위</a:t>
            </a:r>
          </a:p>
          <a:p xmlns:a="http://schemas.openxmlformats.org/drawingml/2006/main">
            <a:r>
              <a:t>발표 출발 문구는 사용자가 지정한 사업 설명 기준을 유지한다. 이 자료 작성은 프로젝트 티켓 상태·인수 기록·정본을 변경하는 행위가 아니다. 목표 구성은 실측 비용 절감·성능 개선을 주장하지 않는다.</a:t>
            </a:r>
          </a:p>
          <a:p xmlns:a="http://schemas.openxmlformats.org/drawingml/2006/main">
            <a:r>
              <a:t/>
            </a:r>
          </a:p>
          <a:p xmlns:a="http://schemas.openxmlformats.org/drawingml/2006/main">
            <a:r>
              <a:t>용어와 추적</a:t>
            </a:r>
          </a:p>
          <a:p xmlns:a="http://schemas.openxmlformats.org/drawingml/2006/main">
            <a:r>
              <a:t>P0: 필수 업무 연결·배포·차단·복구 인수. P1: 배포 검증 후 조건부 운영 확장. ROSA: AWS 관리형 OpenShift 업무 실행 플랫폼. Runner: 자동 검사·배포 실행 서버. Backend: 인프라 구축 상태 저장소. UID: 플랫폼 실행 계정 식별값. SCC: 앱 실행 허용 보안 조건.</a:t>
            </a:r>
          </a:p>
          <a:p xmlns:a="http://schemas.openxmlformats.org/drawingml/2006/main">
            <a:r>
              <a:t>D21: 온프레미스와 클라우드 VPN 연결 방식. D22: 배포 이미지 저장소 선택. G4: 전체 인프라·VPN 확인. G5: 배포·실패 차단·복구 확인. G6: 통합 업무·장애 회귀 확인. PG03: 실제 앱 실행 계정·보안 호환 검증.</a:t>
            </a:r>
          </a:p>
          <a:p xmlns:a="http://schemas.openxmlformats.org/drawingml/2006/main">
            <a:r>
              <a:t>코드 작성·정적/모의 검사·CI·독립 승인·Lead 병합 판단·MERGE·Runtime·AC 인수를 각각 구분한다.</a:t>
            </a:r>
          </a:p>
          <a:p xmlns:a="http://schemas.openxmlformats.org/drawingml/2006/main">
            <a:r>
              <a:t/>
            </a:r>
          </a:p>
          <a:p xmlns:a="http://schemas.openxmlformats.org/drawingml/2006/main">
            <a:r>
              <a:t>근거(정본·설계 후보·운영 기록의 적용 범위를 구분)</a:t>
            </a:r>
          </a:p>
          <a:p xmlns:a="http://schemas.openxmlformats.org/drawingml/2006/main">
            <a:r>
              <a:t>https://github.com/321Team/fds-project-baseline/blob/979facb98de8ca1f1e2ce22f38b27ac3366f3fc3/baseline/FDS_Project_Implementation_Baseline_v3.1.21.md</a:t>
            </a:r>
          </a:p>
          <a:p xmlns:a="http://schemas.openxmlformats.org/drawingml/2006/main">
            <a:r>
              <a:t>https://github.com/321Team/fds-project-baseline/blob/72d798d5c784bf2270566b60374d1632d3152981/phase2/README.md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 인수 및 기반서비스 인계 완료. Phase 2 설계 리뷰·구축 계획.</a:t>
            </a:r>
          </a:p>
          <a:p xmlns:a="http://schemas.openxmlformats.org/drawingml/2006/main">
            <a:r>
              <a:t>현황 기준: 2026-10-06 KST, 재착수 후 원본 조회</a:t>
            </a:r>
          </a:p>
          <a:p xmlns:a="http://schemas.openxmlformats.org/drawingml/2006/main">
            <a:r>
              <a:t/>
            </a:r>
          </a:p>
          <a:p xmlns:a="http://schemas.openxmlformats.org/drawingml/2006/main">
            <a:r>
              <a:t>발표 흐름</a:t>
            </a:r>
          </a:p>
          <a:p xmlns:a="http://schemas.openxmlformats.org/drawingml/2006/main">
            <a:r>
              <a:t>사용자가 거래를 요청하면 거래 접수 서비스가 분석 서비스에 위험 판정을 요청하고 결과를 돌려받습니다. 거래와 판정 결과를 기존 데이터베이스에 기록하는 주체도 거래 접수 서비스입니다.</a:t>
            </a:r>
          </a:p>
          <a:p xmlns:a="http://schemas.openxmlformats.org/drawingml/2006/main">
            <a:r>
              <a:t/>
            </a:r>
          </a:p>
          <a:p xmlns:a="http://schemas.openxmlformats.org/drawingml/2006/main">
            <a:r>
              <a:t>분석 서비스는 DB에 직접 접속하지 않도록 설계했습니다. 서비스별 송신 정책으로 DB 통신을 막고, DB 접속정보도 제공하지 않습니다. 거래 서비스의 정상 연결과 분석 서비스의 차단을 함께 시험하겠습니다.</a:t>
            </a:r>
          </a:p>
          <a:p xmlns:a="http://schemas.openxmlformats.org/drawingml/2006/main">
            <a:r>
              <a:t/>
            </a:r>
          </a:p>
          <a:p xmlns:a="http://schemas.openxmlformats.org/drawingml/2006/main">
            <a:r>
              <a:t>클라우드의 업무 실행 환경은 AWS에서 사용하는 관리형 OpenShift 플랫폼인 ROSA입니다. 이재환이 앱과 DB 연결을 담당하며, 정상 거래와 장애·복구 흐름을 같은 환경에서 검증합니다.</a:t>
            </a:r>
          </a:p>
          <a:p xmlns:a="http://schemas.openxmlformats.org/drawingml/2006/main">
            <a:r>
              <a:t/>
            </a:r>
          </a:p>
          <a:p xmlns:a="http://schemas.openxmlformats.org/drawingml/2006/main">
            <a:r>
              <a:t>설계·인수조건과 검증 범위</a:t>
            </a:r>
          </a:p>
          <a:p xmlns:a="http://schemas.openxmlformats.org/drawingml/2006/main">
            <a:r>
              <a:t>transaction-api → fds-engine 판정 요청·결과, transaction-api → PostgreSQL 거래·판정 결과 저장. fds-engine의 DB 직접 접근 금지. ROSA Pod별 egress NetworkPolicy와 DB credential 미부여를 함께 구현한다. NetworkPolicy는 허용 합집합이므로 다른 광역 허용 정책·selector도 확인한다. 실제 DB 관측 source는 구성에 따라 검증하며 모두 node IP라고 단정하지 않는다. credential 미부여가 TCP 차단 시험을 대체하지 않는다.</a:t>
            </a:r>
          </a:p>
          <a:p xmlns:a="http://schemas.openxmlformats.org/drawingml/2006/main">
            <a:r>
              <a:t/>
            </a:r>
          </a:p>
          <a:p xmlns:a="http://schemas.openxmlformats.org/drawingml/2006/main">
            <a:r>
              <a:t>용어와 추적</a:t>
            </a:r>
          </a:p>
          <a:p xmlns:a="http://schemas.openxmlformats.org/drawingml/2006/main">
            <a:r>
              <a:t>P0: 필수 업무 연결·배포·차단·복구 인수. P1: 배포 검증 후 조건부 운영 확장. ROSA: AWS 관리형 OpenShift 업무 실행 플랫폼. Runner: 자동 검사·배포 실행 서버. Backend: 인프라 구축 상태 저장소. UID: 플랫폼 실행 계정 식별값. SCC: 앱 실행 허용 보안 조건.</a:t>
            </a:r>
          </a:p>
          <a:p xmlns:a="http://schemas.openxmlformats.org/drawingml/2006/main">
            <a:r>
              <a:t>D21: 온프레미스와 클라우드 VPN 연결 방식. D22: 배포 이미지 저장소 선택. G4: 전체 인프라·VPN 확인. G5: 배포·실패 차단·복구 확인. G6: 통합 업무·장애 회귀 확인. PG03: 실제 앱 실행 계정·보안 호환 검증.</a:t>
            </a:r>
          </a:p>
          <a:p xmlns:a="http://schemas.openxmlformats.org/drawingml/2006/main">
            <a:r>
              <a:t>코드 작성·정적/모의 검사·CI·독립 승인·Lead 병합 판단·MERGE·Runtime·AC 인수를 각각 구분한다.</a:t>
            </a:r>
          </a:p>
          <a:p xmlns:a="http://schemas.openxmlformats.org/drawingml/2006/main">
            <a:r>
              <a:t/>
            </a:r>
          </a:p>
          <a:p xmlns:a="http://schemas.openxmlformats.org/drawingml/2006/main">
            <a:r>
              <a:t>근거(정본·설계 후보·운영 기록의 적용 범위를 구분)</a:t>
            </a:r>
          </a:p>
          <a:p xmlns:a="http://schemas.openxmlformats.org/drawingml/2006/main">
            <a:r>
              <a:t>https://github.com/321Team/fds-project-baseline/blob/979facb98de8ca1f1e2ce22f38b27ac3366f3fc3/baseline/FDS_Project_Implementation_Baseline_v3.1.21.md</a:t>
            </a:r>
          </a:p>
          <a:p xmlns:a="http://schemas.openxmlformats.org/drawingml/2006/main">
            <a:r>
              <a:t>https://github.com/321Team/fds-project-baseline/blob/72d798d5c784bf2270566b60374d1632d3152981/phase2/README.md</a:t>
            </a:r>
          </a:p>
          <a:p xmlns:a="http://schemas.openxmlformats.org/drawingml/2006/main">
            <a:r>
              <a:t>https://github.com/321Team/fds-project-baseline/issues/43</a:t>
            </a:r>
          </a:p>
          <a:p xmlns:a="http://schemas.openxmlformats.org/drawingml/2006/main">
            <a:r>
              <a:t>https://github.com/321Team/fds-project-baseline/issues/47</a:t>
            </a:r>
          </a:p>
          <a:p xmlns:a="http://schemas.openxmlformats.org/drawingml/2006/main">
            <a:r>
              <a:t>https://github.com/321Team/fds-project-baseline/issues/119</a:t>
            </a:r>
          </a:p>
          <a:p xmlns:a="http://schemas.openxmlformats.org/drawingml/2006/main">
            <a:r>
              <a:t>https://github.com/openshift/console/blob/main/frontend/public/imgs/logos/openshift.svg</a:t>
            </a:r>
          </a:p>
          <a:p xmlns:a="http://schemas.openxmlformats.org/drawingml/2006/main">
            <a:r>
              <a:t>https://github.com/openshift/console/blob/main/frontend/public/imgs/logos/postgresql.svg</a:t>
            </a:r>
          </a:p>
          <a:p xmlns:a="http://schemas.openxmlformats.org/drawingml/2006/main">
            <a:r>
              <a:t>https://kubernetes.io/docs/concepts/services-networking/network-policies/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 인수 및 기반서비스 인계 완료. Phase 2 설계 리뷰·구축 계획.</a:t>
            </a:r>
          </a:p>
          <a:p xmlns:a="http://schemas.openxmlformats.org/drawingml/2006/main">
            <a:r>
              <a:t>현황 기준: 2026-10-06 KST, 재착수 후 원본 조회</a:t>
            </a:r>
          </a:p>
          <a:p xmlns:a="http://schemas.openxmlformats.org/drawingml/2006/main">
            <a:r>
              <a:t/>
            </a:r>
          </a:p>
          <a:p xmlns:a="http://schemas.openxmlformats.org/drawingml/2006/main">
            <a:r>
              <a:t>발표 흐름</a:t>
            </a:r>
          </a:p>
          <a:p xmlns:a="http://schemas.openxmlformats.org/drawingml/2006/main">
            <a:r>
              <a:t>기존 서버 환경과 AWS 서울 리전을 암호화 VPN으로 연결합니다. AWS의 EC2 중계 서버에서 Libreswan을 사용하는 방식을 선택했으며, 클라우드의 거래 서비스가 이 경로로 기존 DB에 접근합니다.</a:t>
            </a:r>
          </a:p>
          <a:p xmlns:a="http://schemas.openxmlformats.org/drawingml/2006/main">
            <a:r>
              <a:t/>
            </a:r>
          </a:p>
          <a:p xmlns:a="http://schemas.openxmlformats.org/drawingml/2006/main">
            <a:r>
              <a:t>이하영은 AWS 네트워크와 중계 서버를 Terraform으로 구축할 예정입니다. ROSA 클러스터의 생성 방식과 필요한 권한은 별도로 확정합니다. 현재는 인프라 골격과 앱 허용 조건 검사 도구까지 소스를 반영했고, 실제 자원 생성과 클러스터 구축은 미착수입니다.</a:t>
            </a:r>
          </a:p>
          <a:p xmlns:a="http://schemas.openxmlformats.org/drawingml/2006/main">
            <a:r>
              <a:t/>
            </a:r>
          </a:p>
          <a:p xmlns:a="http://schemas.openxmlformats.org/drawingml/2006/main">
            <a:r>
              <a:t>이재환은 VPN 구성·복구와 앱·DB 통합을 맡고, 이권욱은 자동 검사·배포와 설계·검증 기록을 취합합니다. 파란 선은 검사한 프로그램 이미지를 저장소에 등록해 ROSA에 공급하는 경로입니다. 청록 선은 자동 배포 실행 서버인 Runner가 배포·복구 명령을 전달하는 경로입니다. Harbor는 재사용 후보이며 최종 선택과 인증·접속 조건을 확정해야 합니다.</a:t>
            </a:r>
          </a:p>
          <a:p xmlns:a="http://schemas.openxmlformats.org/drawingml/2006/main">
            <a:r>
              <a:t/>
            </a:r>
          </a:p>
          <a:p xmlns:a="http://schemas.openxmlformats.org/drawingml/2006/main">
            <a:r>
              <a:t>설계·인수조건과 검증 범위</a:t>
            </a:r>
          </a:p>
          <a:p xmlns:a="http://schemas.openxmlformats.org/drawingml/2006/main">
            <a:r>
              <a:t>P0는 Runner-direct. Registry는 배포 명령의 실행 주체가 아니다. Terraform AWS provider만으로 ROSA 생성 방식을 확정하지 않는다. Terraform rhcs 또는 rosa CLI의 단일 관리 경로·IAM/OIDC 생성 책임·state 소유·재생성/삭제를 #35/#38 기존 범위에서 결정한다. 현재 도구 선택·새 provider 추가·실행 승인을 이 발표로 대신하지 않는다.</a:t>
            </a:r>
          </a:p>
          <a:p xmlns:a="http://schemas.openxmlformats.org/drawingml/2006/main">
            <a:r>
              <a:t/>
            </a:r>
          </a:p>
          <a:p xmlns:a="http://schemas.openxmlformats.org/drawingml/2006/main">
            <a:r>
              <a:t>용어와 추적</a:t>
            </a:r>
          </a:p>
          <a:p xmlns:a="http://schemas.openxmlformats.org/drawingml/2006/main">
            <a:r>
              <a:t>P0: 필수 업무 연결·배포·차단·복구 인수. P1: 배포 검증 후 조건부 운영 확장. ROSA: AWS 관리형 OpenShift 업무 실행 플랫폼. Runner: 자동 검사·배포 실행 서버. Backend: 인프라 구축 상태 저장소. UID: 플랫폼 실행 계정 식별값. SCC: 앱 실행 허용 보안 조건.</a:t>
            </a:r>
          </a:p>
          <a:p xmlns:a="http://schemas.openxmlformats.org/drawingml/2006/main">
            <a:r>
              <a:t>D21: 온프레미스와 클라우드 VPN 연결 방식. D22: 배포 이미지 저장소 선택. G4: 전체 인프라·VPN 확인. G5: 배포·실패 차단·복구 확인. G6: 통합 업무·장애 회귀 확인. PG03: 실제 앱 실행 계정·보안 호환 검증.</a:t>
            </a:r>
          </a:p>
          <a:p xmlns:a="http://schemas.openxmlformats.org/drawingml/2006/main">
            <a:r>
              <a:t>코드 작성·정적/모의 검사·CI·독립 승인·Lead 병합 판단·MERGE·Runtime·AC 인수를 각각 구분한다.</a:t>
            </a:r>
          </a:p>
          <a:p xmlns:a="http://schemas.openxmlformats.org/drawingml/2006/main">
            <a:r>
              <a:t/>
            </a:r>
          </a:p>
          <a:p xmlns:a="http://schemas.openxmlformats.org/drawingml/2006/main">
            <a:r>
              <a:t>근거(정본·설계 후보·운영 기록의 적용 범위를 구분)</a:t>
            </a:r>
          </a:p>
          <a:p xmlns:a="http://schemas.openxmlformats.org/drawingml/2006/main">
            <a:r>
              <a:t>https://github.com/321Team/fds-project-baseline/blob/979facb98de8ca1f1e2ce22f38b27ac3366f3fc3/baseline/FDS_Project_Implementation_Baseline_v3.1.21.md</a:t>
            </a:r>
          </a:p>
          <a:p xmlns:a="http://schemas.openxmlformats.org/drawingml/2006/main">
            <a:r>
              <a:t>https://github.com/321Team/fds-project-baseline/blob/72d798d5c784bf2270566b60374d1632d3152981/phase2/README.md</a:t>
            </a:r>
          </a:p>
          <a:p xmlns:a="http://schemas.openxmlformats.org/drawingml/2006/main">
            <a:r>
              <a:t>https://github.com/321Team/fds-project-baseline/issues/36</a:t>
            </a:r>
          </a:p>
          <a:p xmlns:a="http://schemas.openxmlformats.org/drawingml/2006/main">
            <a:r>
              <a:t>https://github.com/321Team/fds-project-baseline/issues/37</a:t>
            </a:r>
          </a:p>
          <a:p xmlns:a="http://schemas.openxmlformats.org/drawingml/2006/main">
            <a:r>
              <a:t>https://github.com/321Team/fds-project-baseline/issues/42</a:t>
            </a:r>
          </a:p>
          <a:p xmlns:a="http://schemas.openxmlformats.org/drawingml/2006/main">
            <a:r>
              <a:t>https://github.com/321Team/fds-project-baseline/issues/46</a:t>
            </a:r>
          </a:p>
          <a:p xmlns:a="http://schemas.openxmlformats.org/drawingml/2006/main">
            <a:r>
              <a:t>https://github.com/hashicorp/design-system/blob/main/packages/flight-icons/svg/terraform-color-24.svg</a:t>
            </a:r>
          </a:p>
          <a:p xmlns:a="http://schemas.openxmlformats.org/drawingml/2006/main">
            <a:r>
              <a:t>https://github.com/awslabs/aws-icons-for-plantuml/blob/main/dist/Compute/EC2.png</a:t>
            </a:r>
          </a:p>
          <a:p xmlns:a="http://schemas.openxmlformats.org/drawingml/2006/main">
            <a:r>
              <a:t>https://github.com/primer/octicons/blob/main/icons/mark-github-24.svg</a:t>
            </a:r>
          </a:p>
          <a:p xmlns:a="http://schemas.openxmlformats.org/drawingml/2006/main">
            <a:r>
              <a:t>https://github.com/cncf/artwork/blob/main/projects/harbor/icon/color/harbor-icon-color.svg</a:t>
            </a:r>
          </a:p>
          <a:p xmlns:a="http://schemas.openxmlformats.org/drawingml/2006/main">
            <a:r>
              <a:t>https://github.com/321Team/fds-project-baseline/issues/120</a:t>
            </a:r>
          </a:p>
          <a:p xmlns:a="http://schemas.openxmlformats.org/drawingml/2006/main">
            <a:r>
              <a:t>https://github.com/321Team/infra-terraform/pull/3</a:t>
            </a:r>
          </a:p>
          <a:p xmlns:a="http://schemas.openxmlformats.org/drawingml/2006/main">
            <a:r>
              <a:t>https://github.com/321Team/infra-rosa/pull/2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 인수 및 기반서비스 인계 완료. Phase 2 설계 리뷰·구축 계획.</a:t>
            </a:r>
          </a:p>
          <a:p xmlns:a="http://schemas.openxmlformats.org/drawingml/2006/main">
            <a:r>
              <a:t>현황 기준: 2026-10-06 KST, 재착수 후 원본 조회</a:t>
            </a:r>
          </a:p>
          <a:p xmlns:a="http://schemas.openxmlformats.org/drawingml/2006/main">
            <a:r>
              <a:t/>
            </a:r>
          </a:p>
          <a:p xmlns:a="http://schemas.openxmlformats.org/drawingml/2006/main">
            <a:r>
              <a:t>발표 흐름</a:t>
            </a:r>
          </a:p>
          <a:p xmlns:a="http://schemas.openxmlformats.org/drawingml/2006/main">
            <a:r>
              <a:t>10월 8일은 구축 입력과 초기 인프라 인계 목표입니다. 실제 자원 코드와 계정·권한·상태 저장소·비용 조건을 확보해 계획을 생성하고, 그 계획을 검토한 뒤 적용합니다. 14일은 전체 인프라와 VPN 확인, ROSA는 15일부터 19일까지 구축·검증하는 목표입니다.</a:t>
            </a:r>
          </a:p>
          <a:p xmlns:a="http://schemas.openxmlformats.org/drawingml/2006/main">
            <a:r>
              <a:t/>
            </a:r>
          </a:p>
          <a:p xmlns:a="http://schemas.openxmlformats.org/drawingml/2006/main">
            <a:r>
              <a:t>앱 작업은 16일과 19일, 두 근무일입니다. 공통 배포 파일과 플랫폼이 부여하는 실행 계정의 호환성을 준비해야 합니다. 거래 서비스의 정상 준비 상태에는 실제 DB 연결이 필요하므로, 앱 정상 판정 전에 최소 DB 경로와 접속정보 참조를 확보하는 순서를 이번 리뷰에서 정리하겠습니다.</a:t>
            </a:r>
          </a:p>
          <a:p xmlns:a="http://schemas.openxmlformats.org/drawingml/2006/main">
            <a:r>
              <a:t/>
            </a:r>
          </a:p>
          <a:p xmlns:a="http://schemas.openxmlformats.org/drawingml/2006/main">
            <a:r>
              <a:t>20일의 정상 배포·실패 차단·이전 이미지 복구 기준은 유지합니다. 21일은 DB 전체 통합, 22일은 동일 ROSA에서 업무·장애 회귀 검증 목표입니다. VPN 이후 기존 앱 경로 전환과 DB 보안 후속도 이어지므로, 재환님의 집중 구간에 지원 작업과 변경 창을 정해야 합니다.</a:t>
            </a:r>
          </a:p>
          <a:p xmlns:a="http://schemas.openxmlformats.org/drawingml/2006/main">
            <a:r>
              <a:t/>
            </a:r>
          </a:p>
          <a:p xmlns:a="http://schemas.openxmlformats.org/drawingml/2006/main">
            <a:r>
              <a:t>P0는 이 필수 업무 경로와 검증입니다. P1은 배포 검증 후 지원·권한·비용과 작업 여력을 확인해 도입하며, 조건이 부족하면 유예합니다. 23일 산출물 검토·자원 정리, 26일 종료 목표를 유지합니다. 날짜는 실행 완료 표시가 아닙니다.</a:t>
            </a:r>
          </a:p>
          <a:p xmlns:a="http://schemas.openxmlformats.org/drawingml/2006/main">
            <a:r>
              <a:t/>
            </a:r>
          </a:p>
          <a:p xmlns:a="http://schemas.openxmlformats.org/drawingml/2006/main">
            <a:r>
              <a:t>설계·인수조건과 검증 범위</a:t>
            </a:r>
          </a:p>
          <a:p xmlns:a="http://schemas.openxmlformats.org/drawingml/2006/main">
            <a:r>
              <a:t>정본 v3.1.21 §2: Architecture/Stage-A 조건부10/8, IaC10/8~14, VPN10/12~14, G4=10/14, ROSA BASIC_READY 목표10/15·Full10/19, APP10/16~19(주말 제외 2근무일), G5/Delivery10/20, Hybrid10/21, G6/E2E10/22, Review/teardown10/23, Close10/26. 10/9 비근무·주말 근무 없음. reviewed plan은 apply 전 조건이며 첫 plan 전에 reviewed plan을 요구하지 않는다. transaction-api /readyz는 실제 DB SELECT1 실패 시503. /livez·Running·모의DB·readiness 우회로 G5 기준을 낮추지 않는다. 최소 DB 경로 생산자·소비자·승인 창을 확정하며 #47 전체 인수는10/21 유지. #19 기존 경로 전환은10/15 목표 제안·Ready backend 조건 미충족으로 HOLD, 실행 예약 아님. #11 DB 보안 위험수용 재판단 상한10/20; #47 적용·음성시험 별도 변경 창. #15의10/19 별도 기한은 현재 원본 확인되지 않아 추가하지 않는다. 새 배정·일정·실행 권한을 이 자료로 변경하지 않는다.</a:t>
            </a:r>
          </a:p>
          <a:p xmlns:a="http://schemas.openxmlformats.org/drawingml/2006/main">
            <a:r>
              <a:t/>
            </a:r>
          </a:p>
          <a:p xmlns:a="http://schemas.openxmlformats.org/drawingml/2006/main">
            <a:r>
              <a:t>용어와 추적</a:t>
            </a:r>
          </a:p>
          <a:p xmlns:a="http://schemas.openxmlformats.org/drawingml/2006/main">
            <a:r>
              <a:t>P0: 필수 업무 연결·배포·차단·복구 인수. P1: 배포 검증 후 조건부 운영 확장. ROSA: AWS 관리형 OpenShift 업무 실행 플랫폼. Runner: 자동 검사·배포 실행 서버. Backend: 인프라 구축 상태 저장소. UID: 플랫폼 실행 계정 식별값. SCC: 앱 실행 허용 보안 조건.</a:t>
            </a:r>
          </a:p>
          <a:p xmlns:a="http://schemas.openxmlformats.org/drawingml/2006/main">
            <a:r>
              <a:t>D21: 온프레미스와 클라우드 VPN 연결 방식. D22: 배포 이미지 저장소 선택. G4: 전체 인프라·VPN 확인. G5: 배포·실패 차단·복구 확인. G6: 통합 업무·장애 회귀 확인. PG03: 실제 앱 실행 계정·보안 호환 검증.</a:t>
            </a:r>
          </a:p>
          <a:p xmlns:a="http://schemas.openxmlformats.org/drawingml/2006/main">
            <a:r>
              <a:t>코드 작성·정적/모의 검사·CI·독립 승인·Lead 병합 판단·MERGE·Runtime·AC 인수를 각각 구분한다.</a:t>
            </a:r>
          </a:p>
          <a:p xmlns:a="http://schemas.openxmlformats.org/drawingml/2006/main">
            <a:r>
              <a:t/>
            </a:r>
          </a:p>
          <a:p xmlns:a="http://schemas.openxmlformats.org/drawingml/2006/main">
            <a:r>
              <a:t>근거(정본·설계 후보·운영 기록의 적용 범위를 구분)</a:t>
            </a:r>
          </a:p>
          <a:p xmlns:a="http://schemas.openxmlformats.org/drawingml/2006/main">
            <a:r>
              <a:t>https://github.com/321Team/fds-project-baseline/blob/979facb98de8ca1f1e2ce22f38b27ac3366f3fc3/baseline/FDS_Project_Implementation_Baseline_v3.1.21.md</a:t>
            </a:r>
          </a:p>
          <a:p xmlns:a="http://schemas.openxmlformats.org/drawingml/2006/main">
            <a:r>
              <a:t>https://github.com/321Team/fds-project-baseline/blob/72d798d5c784bf2270566b60374d1632d3152981/phase2/README.md</a:t>
            </a:r>
          </a:p>
          <a:p xmlns:a="http://schemas.openxmlformats.org/drawingml/2006/main">
            <a:r>
              <a:t>https://github.com/321Team/fds-project-baseline/blob/979facb98de8ca1f1e2ce22f38b27ac3366f3fc3/tests/FDS_Test_Strategy_v3.1.21.md</a:t>
            </a:r>
          </a:p>
          <a:p xmlns:a="http://schemas.openxmlformats.org/drawingml/2006/main">
            <a:r>
              <a:t>https://github.com/321Team/fds-project-baseline/issues/34</a:t>
            </a:r>
          </a:p>
          <a:p xmlns:a="http://schemas.openxmlformats.org/drawingml/2006/main">
            <a:r>
              <a:t>https://github.com/321Team/fds-project-baseline/issues/35</a:t>
            </a:r>
          </a:p>
          <a:p xmlns:a="http://schemas.openxmlformats.org/drawingml/2006/main">
            <a:r>
              <a:t>https://github.com/321Team/fds-project-baseline/issues/38</a:t>
            </a:r>
          </a:p>
          <a:p xmlns:a="http://schemas.openxmlformats.org/drawingml/2006/main">
            <a:r>
              <a:t>https://github.com/321Team/fds-project-baseline/issues/50</a:t>
            </a:r>
          </a:p>
          <a:p xmlns:a="http://schemas.openxmlformats.org/drawingml/2006/main">
            <a:r>
              <a:t>https://github.com/321Team/fds-project-baseline/issues/44</a:t>
            </a:r>
          </a:p>
          <a:p xmlns:a="http://schemas.openxmlformats.org/drawingml/2006/main">
            <a:r>
              <a:t>https://github.com/321Team/fds-project-baseline/issues/43</a:t>
            </a:r>
          </a:p>
          <a:p xmlns:a="http://schemas.openxmlformats.org/drawingml/2006/main">
            <a:r>
              <a:t>https://github.com/321Team/fds-project-baseline/issues/19#issuecomment-6012871977</a:t>
            </a:r>
          </a:p>
          <a:p xmlns:a="http://schemas.openxmlformats.org/drawingml/2006/main">
            <a:r>
              <a:t>https://github.com/321Team/fds-project-baseline/issues/11#issuecomment-5989172773</a:t>
            </a:r>
          </a:p>
          <a:p xmlns:a="http://schemas.openxmlformats.org/drawingml/2006/main">
            <a:r>
              <a:t>https://github.com/321Team/fds-msa/blob/9658255ce9e39167cc8876a38b98aeb1f0311694/transaction-api/app/main.py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 인수 및 기반서비스 인계 완료. Phase 2 설계 리뷰·구축 계획.</a:t>
            </a:r>
          </a:p>
          <a:p xmlns:a="http://schemas.openxmlformats.org/drawingml/2006/main">
            <a:r>
              <a:t>현황 기준: 2026-10-06 KST, 재착수 후 원본 조회</a:t>
            </a:r>
          </a:p>
          <a:p xmlns:a="http://schemas.openxmlformats.org/drawingml/2006/main">
            <a:r>
              <a:t/>
            </a:r>
          </a:p>
          <a:p xmlns:a="http://schemas.openxmlformats.org/drawingml/2006/main">
            <a:r>
              <a:t>발표 흐름</a:t>
            </a:r>
          </a:p>
          <a:p xmlns:a="http://schemas.openxmlformats.org/drawingml/2006/main">
            <a:r>
              <a:t>권한 후보와 네트워크 정책 후보, 비교·대상 확인 도구는 독립 리뷰와 소스 병합이 진행됐습니다. 최종 업무 정책 검증·적용과 각 담당자의 실제 역할 사용 확인은 잔여입니다. 상태 저장소와 중계 서버 관리 입력의 권장안도 나왔지만, 아직 최종 채택·적용 결과는 아닙니다.</a:t>
            </a:r>
          </a:p>
          <a:p xmlns:a="http://schemas.openxmlformats.org/drawingml/2006/main">
            <a:r>
              <a:t/>
            </a:r>
          </a:p>
          <a:p xmlns:a="http://schemas.openxmlformats.org/drawingml/2006/main">
            <a:r>
              <a:t>AWS 인프라는 네트워크 입력과 구축 상태를 나눠 관리할 네 가지 논리 경계를 골격에 담았습니다. 실제 자원을 만드는 코드는 0개이며 정적 검사만 확인했습니다. 별도로 앱 실행 요청을 플랫폼이 허용하는지 검사할 도구도 병합했습니다. 실제 계획·적용·클러스터 구축과 앱 실행은 앞으로 진행할 작업입니다.</a:t>
            </a:r>
          </a:p>
          <a:p xmlns:a="http://schemas.openxmlformats.org/drawingml/2006/main">
            <a:r>
              <a:t/>
            </a:r>
          </a:p>
          <a:p xmlns:a="http://schemas.openxmlformats.org/drawingml/2006/main">
            <a:r>
              <a:t>배포·복구·승인·중복 실행 방지 코드도 병합됐습니다. 앱의 공통 배포 파일과 실행 계정 호환성, 실제 인증·관리 API·배포 흐름 연결이 남았습니다.</a:t>
            </a:r>
          </a:p>
          <a:p xmlns:a="http://schemas.openxmlformats.org/drawingml/2006/main">
            <a:r>
              <a:t/>
            </a:r>
          </a:p>
          <a:p xmlns:a="http://schemas.openxmlformats.org/drawingml/2006/main">
            <a:r>
              <a:t>VPN 관문의 준비와 재부팅 유지, 외부 관측 경로에서의 UDP·IKE 왕복은 진전이 있습니다. 다만 사전 시험의 인증은 예상 실패였고 실제 AWS 업무 터널은 아직 검증하지 않았습니다. 실제 터널의 허용·차단·지속·복구, 신규 DNS 접근과 관리 접속을 이어서 확인하겠습니다.</a:t>
            </a:r>
          </a:p>
          <a:p xmlns:a="http://schemas.openxmlformats.org/drawingml/2006/main">
            <a:r>
              <a:t/>
            </a:r>
          </a:p>
          <a:p xmlns:a="http://schemas.openxmlformats.org/drawingml/2006/main">
            <a:r>
              <a:t>설계·인수조건과 검증 범위</a:t>
            </a:r>
          </a:p>
          <a:p xmlns:a="http://schemas.openxmlformats.org/drawingml/2006/main">
            <a:r>
              <a:t>Terraform PR3 HEAD ebfc56e25125784187e36a0c1dd2ca0463e82acd / merge·현재main1f166d5c27ff24316887ae8ee2f2211fbb9a1a7d, 소스 병합13:30:18KST. Terraform1.16.4/aws6.66.0, resource0, backend bucket/key placeholder, network/vpn/rosa-prereq/rosa-runtime 4논리state경계. FMT·INIT backend=false/lockfile readonly·VALIDATE PASS는 작성자 CloudShell 보고·해당 독립 리뷰 범위. PLAN/APPLY/RUNTIME/CI=NOT_RUN. 하영 APPROVED5399738915는 scaffold 한정, 권욱 COMMENTED5423796110는 Lead 병합 판단. ROSA PR2 HEAD b66f412c35e756fc35ee5963eb9ad55dc845b14b / merge·현재maina37b10628cd59427c45dd28e2f6bd924891e1c54, 소스 병합13:30:24KST. Namespace 조회·oc create --dry-run=server의 generic UID/SCC admission 코드이며 실제 Pod/cluster 생성·image pull·앱 SA/volume/UID Running/Ready 미검증. 하영 APPROVED5412755375는 pre-check 코드·MOCK 범위, 권욱 COMMENTED5423796214는 병합 판단. CI=NOT_RUN, PG03=HOLD. #43 PORTABLE_BASE=NOT_READY, PG03=HOLD, BASIC_READY/PENDING, registry decision PENDING, APP_RUNTIME=NOT_RUN. PR140/141/142/143/144의 소스 병합·사용자 stdout은 actual role grant/SSM Runtime과 구분한다. 18:43:54 사용자 stdout은 승인3태그 중계 inventory0·Network role ABSENT·기본 세션 문서 ABSENT_OR_UNAVAILABLE이며 전체 EC2 부재·원본독립확인 아님. #35 6013969064 backend/KMS/profile/생성책임은 PROPOSED. #37 6014247521은 소비 관점 이견 없음이며 #35 채택 대체 아님. 유료 중계 생성 시점을 VPN10/12~14 창 직전으로 맞추자는 의견은 검토 안건이며 기존10/8 목표를 변경하지 않는다.</a:t>
            </a:r>
          </a:p>
          <a:p xmlns:a="http://schemas.openxmlformats.org/drawingml/2006/main">
            <a:r>
              <a:t/>
            </a:r>
          </a:p>
          <a:p xmlns:a="http://schemas.openxmlformats.org/drawingml/2006/main">
            <a:r>
              <a:t>용어와 추적</a:t>
            </a:r>
          </a:p>
          <a:p xmlns:a="http://schemas.openxmlformats.org/drawingml/2006/main">
            <a:r>
              <a:t>P0: 필수 업무 연결·배포·차단·복구 인수. P1: 배포 검증 후 조건부 운영 확장. ROSA: AWS 관리형 OpenShift 업무 실행 플랫폼. Runner: 자동 검사·배포 실행 서버. Backend: 인프라 구축 상태 저장소. UID: 플랫폼 실행 계정 식별값. SCC: 앱 실행 허용 보안 조건.</a:t>
            </a:r>
          </a:p>
          <a:p xmlns:a="http://schemas.openxmlformats.org/drawingml/2006/main">
            <a:r>
              <a:t>D21: 온프레미스와 클라우드 VPN 연결 방식. D22: 배포 이미지 저장소 선택. G4: 전체 인프라·VPN 확인. G5: 배포·실패 차단·복구 확인. G6: 통합 업무·장애 회귀 확인. PG03: 실제 앱 실행 계정·보안 호환 검증.</a:t>
            </a:r>
          </a:p>
          <a:p xmlns:a="http://schemas.openxmlformats.org/drawingml/2006/main">
            <a:r>
              <a:t>코드 작성·정적/모의 검사·CI·독립 승인·Lead 병합 판단·MERGE·Runtime·AC 인수를 각각 구분한다.</a:t>
            </a:r>
          </a:p>
          <a:p xmlns:a="http://schemas.openxmlformats.org/drawingml/2006/main">
            <a:r>
              <a:t/>
            </a:r>
          </a:p>
          <a:p xmlns:a="http://schemas.openxmlformats.org/drawingml/2006/main">
            <a:r>
              <a:t>근거(정본·설계 후보·운영 기록의 적용 범위를 구분)</a:t>
            </a:r>
          </a:p>
          <a:p xmlns:a="http://schemas.openxmlformats.org/drawingml/2006/main">
            <a:r>
              <a:t>https://github.com/321Team/fds-project-baseline/blob/979facb98de8ca1f1e2ce22f38b27ac3366f3fc3/baseline/FDS_Project_Implementation_Baseline_v3.1.21.md</a:t>
            </a:r>
          </a:p>
          <a:p xmlns:a="http://schemas.openxmlformats.org/drawingml/2006/main">
            <a:r>
              <a:t>https://github.com/321Team/fds-project-baseline/blob/72d798d5c784bf2270566b60374d1632d3152981/phase2/README.md</a:t>
            </a:r>
          </a:p>
          <a:p xmlns:a="http://schemas.openxmlformats.org/drawingml/2006/main">
            <a:r>
              <a:t>https://github.com/321Team/fds-project-baseline/pull/139</a:t>
            </a:r>
          </a:p>
          <a:p xmlns:a="http://schemas.openxmlformats.org/drawingml/2006/main">
            <a:r>
              <a:t>https://github.com/321Team/infra-terraform/pull/3#issuecomment-6009420279</a:t>
            </a:r>
          </a:p>
          <a:p xmlns:a="http://schemas.openxmlformats.org/drawingml/2006/main">
            <a:r>
              <a:t>https://github.com/321Team/infra-rosa/pull/2#issuecomment-6009420443</a:t>
            </a:r>
          </a:p>
          <a:p xmlns:a="http://schemas.openxmlformats.org/drawingml/2006/main">
            <a:r>
              <a:t>https://github.com/321Team/fds-project-baseline/issues/35#issuecomment-6009370204</a:t>
            </a:r>
          </a:p>
          <a:p xmlns:a="http://schemas.openxmlformats.org/drawingml/2006/main">
            <a:r>
              <a:t>https://github.com/321Team/fds-project-baseline/issues/43#issuecomment-5980505812</a:t>
            </a:r>
          </a:p>
          <a:p xmlns:a="http://schemas.openxmlformats.org/drawingml/2006/main">
            <a:r>
              <a:t>https://github.com/321Team/fds-project-baseline/issues/37#issuecomment-5980841348</a:t>
            </a:r>
          </a:p>
          <a:p xmlns:a="http://schemas.openxmlformats.org/drawingml/2006/main">
            <a:r>
              <a:t>https://github.com/321Team/fds-project-baseline/issues/42#issuecomment-5977390034</a:t>
            </a:r>
          </a:p>
          <a:p xmlns:a="http://schemas.openxmlformats.org/drawingml/2006/main">
            <a:r>
              <a:t>https://github.com/321Team/fds-project-baseline/issues/46#issuecomment-5948127003</a:t>
            </a:r>
          </a:p>
          <a:p xmlns:a="http://schemas.openxmlformats.org/drawingml/2006/main">
            <a:r>
              <a:t>https://github.com/321Team/fds-project-baseline/pull/140</a:t>
            </a:r>
          </a:p>
          <a:p xmlns:a="http://schemas.openxmlformats.org/drawingml/2006/main">
            <a:r>
              <a:t>https://github.com/321Team/fds-project-baseline/pull/141</a:t>
            </a:r>
          </a:p>
          <a:p xmlns:a="http://schemas.openxmlformats.org/drawingml/2006/main">
            <a:r>
              <a:t>https://github.com/321Team/fds-project-baseline/issues/35#issuecomment-6011488238</a:t>
            </a:r>
          </a:p>
          <a:p xmlns:a="http://schemas.openxmlformats.org/drawingml/2006/main">
            <a:r>
              <a:t>https://github.com/321Team/fds-project-baseline/issues/37#issuecomment-6011493625</a:t>
            </a:r>
          </a:p>
          <a:p xmlns:a="http://schemas.openxmlformats.org/drawingml/2006/main">
            <a:r>
              <a:t>https://github.com/321Team/infra-cicd/pull/53</a:t>
            </a:r>
          </a:p>
          <a:p xmlns:a="http://schemas.openxmlformats.org/drawingml/2006/main">
            <a:r>
              <a:t>https://github.com/321Team/infra-cicd/pull/54</a:t>
            </a:r>
          </a:p>
          <a:p xmlns:a="http://schemas.openxmlformats.org/drawingml/2006/main">
            <a:r>
              <a:t>https://github.com/321Team/infra-cicd/pull/55</a:t>
            </a:r>
          </a:p>
          <a:p xmlns:a="http://schemas.openxmlformats.org/drawingml/2006/main">
            <a:r>
              <a:t>https://github.com/321Team/fds-project-baseline/pull/142</a:t>
            </a:r>
          </a:p>
          <a:p xmlns:a="http://schemas.openxmlformats.org/drawingml/2006/main">
            <a:r>
              <a:t>https://github.com/321Team/fds-project-baseline/pull/143</a:t>
            </a:r>
          </a:p>
          <a:p xmlns:a="http://schemas.openxmlformats.org/drawingml/2006/main">
            <a:r>
              <a:t>https://github.com/321Team/fds-project-baseline/pull/144</a:t>
            </a:r>
          </a:p>
          <a:p xmlns:a="http://schemas.openxmlformats.org/drawingml/2006/main">
            <a:r>
              <a:t>https://github.com/321Team/fds-project-baseline/issues/35#issuecomment-6013662958</a:t>
            </a:r>
          </a:p>
          <a:p xmlns:a="http://schemas.openxmlformats.org/drawingml/2006/main">
            <a:r>
              <a:t>https://github.com/321Team/fds-project-baseline/issues/35#issuecomment-6013969064</a:t>
            </a:r>
          </a:p>
          <a:p xmlns:a="http://schemas.openxmlformats.org/drawingml/2006/main">
            <a:r>
              <a:t>https://github.com/321Team/fds-project-baseline/issues/37#issuecomment-6014247521</a:t>
            </a:r>
          </a:p>
          <a:p xmlns:a="http://schemas.openxmlformats.org/drawingml/2006/main">
            <a:r>
              <a:t>https://github.com/321Team/fds-project-baseline/issues/37#issuecomment-5964427918</a:t>
            </a:r>
          </a:p>
          <a:p xmlns:a="http://schemas.openxmlformats.org/drawingml/2006/main">
            <a:r>
              <a:t>https://github.com/321Team/fds-project-baseline/issues/37#issuecomment-5965537470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 인수 및 기반서비스 인계 완료. Phase 2 설계 리뷰·구축 계획.</a:t>
            </a:r>
          </a:p>
          <a:p xmlns:a="http://schemas.openxmlformats.org/drawingml/2006/main">
            <a:r>
              <a:t>현황 기준: 2026-10-06 22:10 KST 재확인. PR3 병합·PR137 Draft·정본 일정 불변</a:t>
            </a:r>
          </a:p>
          <a:p xmlns:a="http://schemas.openxmlformats.org/drawingml/2006/main">
            <a:r>
              <a:t/>
            </a:r>
          </a:p>
          <a:p xmlns:a="http://schemas.openxmlformats.org/drawingml/2006/main">
            <a:r>
              <a:t>발표 흐름</a:t>
            </a:r>
          </a:p>
          <a:p xmlns:a="http://schemas.openxmlformats.org/drawingml/2006/main">
            <a:r>
              <a:t>첫 결정은 DB와 관리 접속입니다. 앱 정상 판정 전에 최소 DB 경로와 접속정보 참조의 생산자·소비자·작업 창을 확정하는 안을 우선합니다. 21일 전체 통합을 그날 첫 개통으로 보지 않습니다. 시험 출발지는 미정이며, 온프레미스 VPN 또는 승인된 클라우드 내부 클라이언트를 고릅니다. 창을 정하지 못하면 20일과 21일을 재정렬해야 합니다.</a:t>
            </a:r>
          </a:p>
          <a:p xmlns:a="http://schemas.openxmlformats.org/drawingml/2006/main">
            <a:r>
              <a:t/>
            </a:r>
          </a:p>
          <a:p xmlns:a="http://schemas.openxmlformats.org/drawingml/2006/main">
            <a:r>
              <a:t>중계 관리가 실패하면 이하영의 생성과 이재환의 접속·복구가 끊깁니다. CentOS Stream 10의 공식 SSM 지원은 확인되지 않았고 실패를 단정하지 않습니다. 실패 시 지원 가능한 OS와 검토된 초기 설정으로 바꾸는 안을 우선하며, 공개 SSH 우회는 사용하지 않습니다.</a:t>
            </a:r>
          </a:p>
          <a:p xmlns:a="http://schemas.openxmlformats.org/drawingml/2006/main">
            <a:r>
              <a:t/>
            </a:r>
          </a:p>
          <a:p xmlns:a="http://schemas.openxmlformats.org/drawingml/2006/main">
            <a:r>
              <a:t>이미지 저장소는 Harbor 후보를 유지하고, 선택·신뢰·승인 이미지 식별값이 확정되기 전에는 Runner 직접 배포를 유지합니다. ROSA는 rhcs 또는 rosa CLI 중 단일 경로를 생성 전에 고릅니다. 비용 총액과 한도·가동시간은 미확정이며, 미확인 350~450달러 추정을 확정 수치로 채택하지 않습니다. 이 값이 없으면 유료 생성을 보류합니다.</a:t>
            </a:r>
          </a:p>
          <a:p xmlns:a="http://schemas.openxmlformats.org/drawingml/2006/main">
            <a:r>
              <a:t/>
            </a:r>
          </a:p>
          <a:p xmlns:a="http://schemas.openxmlformats.org/drawingml/2006/main">
            <a:r>
              <a:t>재환님 집중 구간에서는 지원 인계와 변경 창만 정합니다. 담당·목표일·인수조건은 바꾸지 않습니다. 기존 경로 전환과 DB 보안 후속이 이 구간과 겹치면 창을 분리합니다. P1은 P0 여력을 확인한 뒤 별도로 결정하고, 미결은 보류와 재개 조건으로 기록합니다.</a:t>
            </a:r>
          </a:p>
          <a:p xmlns:a="http://schemas.openxmlformats.org/drawingml/2006/main">
            <a:r>
              <a:t/>
            </a:r>
          </a:p>
          <a:p xmlns:a="http://schemas.openxmlformats.org/drawingml/2006/main">
            <a:r>
              <a:t>설계·인수조건과 검증 범위</a:t>
            </a:r>
          </a:p>
          <a:p xmlns:a="http://schemas.openxmlformats.org/drawingml/2006/main">
            <a:r>
              <a:t>ROSA rhcs/rosa CLI 방식은 생성 전 미확정 입력. IaC permissions 로컬 DRAFT 전체 JSON 직접 수신·감사 미수행, REPLACE_ 잔여는 작성자 입력이며 Terraform backend 예제는 원본 확인됨. 부분 초안 리뷰는 실제 ID 생성 전에도 진행하되 placeholder 적용 금지. CentOS Stream10은 AWS 지원표에서 확인되지 않음, 실패 단정 없음. SSM Agent Online/실제 승인 문서 세션/재부팅 확인, 실패 시 지원 OS/AMI·검토된 bootstrap 변경안 우선, 공개 SSH 우회 금지. 역할 분리는 기존 생성/VPN/PMO 책임의 검토안이며 새 배정·기한 아님. UDP500/4500 외부0.0.0.0/0 계약은 동적 공인IP 대응 외부 접속 범위이며 내측 업무 전체 허용 아님; IKE ID+PSK 인증·ChildSA·허용/차단·장시간·DPD/rekey·공인IP변경·재부팅/재생성 복구 필요. 교육장 한도와400/450/500 역사 예산값 관계 미확정. HCP·3AZ·NAT3은 후보, $350~450 미검증 추정은 채택하지 않음. 신규 유료 실행 전 전체 비용·cost-to-finish·H_max·정리 조건확정. Private Ingress 시험 출발지·subnet/source·DNS·TLS·승인 경로 결정 필요.</a:t>
            </a:r>
          </a:p>
          <a:p xmlns:a="http://schemas.openxmlformats.org/drawingml/2006/main">
            <a:r>
              <a:t/>
            </a:r>
          </a:p>
          <a:p xmlns:a="http://schemas.openxmlformats.org/drawingml/2006/main">
            <a:r>
              <a:t>용어와 추적</a:t>
            </a:r>
          </a:p>
          <a:p xmlns:a="http://schemas.openxmlformats.org/drawingml/2006/main">
            <a:r>
              <a:t>P0: 필수 업무 연결·배포·차단·복구 인수. P1: 배포 검증 후 조건부 운영 확장. ROSA: AWS 관리형 OpenShift 업무 실행 플랫폼. Runner: 자동 검사·배포 실행 서버. Backend: 인프라 구축 상태 저장소. UID: 플랫폼 실행 계정 식별값. SCC: 앱 실행 허용 보안 조건.</a:t>
            </a:r>
          </a:p>
          <a:p xmlns:a="http://schemas.openxmlformats.org/drawingml/2006/main">
            <a:r>
              <a:t>D21: 온프레미스와 클라우드 VPN 연결 방식. D22: 배포 이미지 저장소 선택. G4: 전체 인프라·VPN 확인. G5: 배포·실패 차단·복구 확인. G6: 통합 업무·장애 회귀 확인. PG03: 실제 앱 실행 계정·보안 호환 검증.</a:t>
            </a:r>
          </a:p>
          <a:p xmlns:a="http://schemas.openxmlformats.org/drawingml/2006/main">
            <a:r>
              <a:t>코드 작성·정적/모의 검사·CI·독립 승인·Lead 병합 판단·MERGE·Runtime·AC 인수를 각각 구분한다.</a:t>
            </a:r>
          </a:p>
          <a:p xmlns:a="http://schemas.openxmlformats.org/drawingml/2006/main">
            <a:r>
              <a:t/>
            </a:r>
          </a:p>
          <a:p xmlns:a="http://schemas.openxmlformats.org/drawingml/2006/main">
            <a:r>
              <a:t>근거(정본·설계 후보·운영 기록의 적용 범위를 구분)</a:t>
            </a:r>
          </a:p>
          <a:p xmlns:a="http://schemas.openxmlformats.org/drawingml/2006/main">
            <a:r>
              <a:t>https://github.com/321Team/fds-project-baseline/blob/979facb98de8ca1f1e2ce22f38b27ac3366f3fc3/baseline/FDS_Project_Implementation_Baseline_v3.1.21.md</a:t>
            </a:r>
          </a:p>
          <a:p xmlns:a="http://schemas.openxmlformats.org/drawingml/2006/main">
            <a:r>
              <a:t>https://github.com/321Team/fds-project-baseline/blob/72d798d5c784bf2270566b60374d1632d3152981/phase2/README.md</a:t>
            </a:r>
          </a:p>
          <a:p xmlns:a="http://schemas.openxmlformats.org/drawingml/2006/main">
            <a:r>
              <a:t>https://github.com/321Team/fds-project-baseline/issues/34</a:t>
            </a:r>
          </a:p>
          <a:p xmlns:a="http://schemas.openxmlformats.org/drawingml/2006/main">
            <a:r>
              <a:t>https://github.com/321Team/fds-project-baseline/issues/36</a:t>
            </a:r>
          </a:p>
          <a:p xmlns:a="http://schemas.openxmlformats.org/drawingml/2006/main">
            <a:r>
              <a:t>https://github.com/321Team/fds-project-baseline/issues/42</a:t>
            </a:r>
          </a:p>
          <a:p xmlns:a="http://schemas.openxmlformats.org/drawingml/2006/main">
            <a:r>
              <a:t>https://github.com/321Team/fds-project-baseline/issues/120</a:t>
            </a:r>
          </a:p>
          <a:p xmlns:a="http://schemas.openxmlformats.org/drawingml/2006/main">
            <a:r>
              <a:t>https://github.com/321Team/fds-project-baseline/issues/121</a:t>
            </a:r>
          </a:p>
          <a:p xmlns:a="http://schemas.openxmlformats.org/drawingml/2006/main">
            <a:r>
              <a:t>https://github.com/321Team/fds-project-baseline/issues/35#issuecomment-6011488238</a:t>
            </a:r>
          </a:p>
          <a:p xmlns:a="http://schemas.openxmlformats.org/drawingml/2006/main">
            <a:r>
              <a:t>https://github.com/321Team/fds-project-baseline/issues/37#issuecomment-6011493625</a:t>
            </a:r>
          </a:p>
          <a:p xmlns:a="http://schemas.openxmlformats.org/drawingml/2006/main">
            <a:r>
              <a:t>https://github.com/321Team/fds-project-baseline/issues/35#issuecomment-6013969064</a:t>
            </a:r>
          </a:p>
          <a:p xmlns:a="http://schemas.openxmlformats.org/drawingml/2006/main">
            <a:r>
              <a:t>https://github.com/321Team/fds-project-baseline/issues/37#issuecomment-6014247521</a:t>
            </a:r>
          </a:p>
          <a:p xmlns:a="http://schemas.openxmlformats.org/drawingml/2006/main">
            <a:r>
              <a:t>https://docs.redhat.com/en/documentation/red_hat_openshift_service_on_aws/4/html/install_clusters/creating-a-red-hat-openshift-service-on-aws-cluster-with-terraform</a:t>
            </a:r>
          </a:p>
          <a:p xmlns:a="http://schemas.openxmlformats.org/drawingml/2006/main">
            <a:r>
              <a:t>https://docs.aws.amazon.com/rosa/latest/userguide/getting-started-hcp.html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 인수 및 기반서비스 인계 완료. Phase 2 설계 리뷰·구축 계획.</a:t>
            </a:r>
          </a:p>
          <a:p xmlns:a="http://schemas.openxmlformats.org/drawingml/2006/main">
            <a:r>
              <a:t>현황 기준: 2026-10-06 KST, 재착수 후 원본 조회</a:t>
            </a:r>
          </a:p>
          <a:p xmlns:a="http://schemas.openxmlformats.org/drawingml/2006/main">
            <a:r>
              <a:t/>
            </a:r>
          </a:p>
          <a:p xmlns:a="http://schemas.openxmlformats.org/drawingml/2006/main">
            <a:r>
              <a:t>발표 흐름</a:t>
            </a:r>
          </a:p>
          <a:p xmlns:a="http://schemas.openxmlformats.org/drawingml/2006/main">
            <a:r>
              <a:t>표의 주소와 사양은 구축 입력입니다. AWS 네트워크와 중계 서버, 기존 DB·Harbor·DNS·Runner의 위치를 연결해 두었고, 실제 클라우드 자원 식별값은 생성 후 확인해 인계합니다. ROSA 생성 방식·지원 구성·권한·비용은 확정할 항목입니다.</a:t>
            </a:r>
          </a:p>
          <a:p xmlns:a="http://schemas.openxmlformats.org/drawingml/2006/main">
            <a:r>
              <a:t/>
            </a:r>
          </a:p>
          <a:p xmlns:a="http://schemas.openxmlformats.org/drawingml/2006/main">
            <a:r>
              <a:t>중계 서버는 SSM 원격 관리 지원과 실제 설치·접속을 확인해야 합니다. DB·Harbor·dns02·VPN 관문이 server08을 공유하므로 호스트 장애가 업무와 이미지 공급, VPN에 동시에 영향을 줄 수 있습니다. dns01은 server01에 있습니다. 이 배치는 자동 장애 전환이 확보됐다는 의미가 아닙니다.</a:t>
            </a:r>
          </a:p>
          <a:p xmlns:a="http://schemas.openxmlformats.org/drawingml/2006/main">
            <a:r>
              <a:t/>
            </a:r>
          </a:p>
          <a:p xmlns:a="http://schemas.openxmlformats.org/drawingml/2006/main">
            <a:r>
              <a:t>설계·인수조건과 검증 범위</a:t>
            </a:r>
          </a:p>
          <a:p xmlns:a="http://schemas.openxmlformats.org/drawingml/2006/main">
            <a:r>
              <a:t>정본 물리 배치: server08에 db01·harbor01·dns02·vpn-gw01, dns01은server01. AMI/type/AZ/10.20.110.10/EIP1/gp3 encrypted40GiB 입력은 현재 source 계약이며 생성 완료 아님. SSM 세션 KMS 미사용 결정이 state/EBS 암호화 결정을 대신하지 않음. 첫 실제 생성/readback에 SourceDestCheck=false·IMDSv2·EBS KmsKeyId·profile·Agent Online·승인 세션 문서 owner/type/version/content SHA 필요. PSK를 user_data/TF변수/state/AMI에 넣지 않는다. Agent Online 이후 승인 세션에서 conn/PSK 적용. 변경은 영향·작업 창·회귀·원복 절차 적용.</a:t>
            </a:r>
          </a:p>
          <a:p xmlns:a="http://schemas.openxmlformats.org/drawingml/2006/main">
            <a:r>
              <a:t/>
            </a:r>
          </a:p>
          <a:p xmlns:a="http://schemas.openxmlformats.org/drawingml/2006/main">
            <a:r>
              <a:t>용어와 추적</a:t>
            </a:r>
          </a:p>
          <a:p xmlns:a="http://schemas.openxmlformats.org/drawingml/2006/main">
            <a:r>
              <a:t>P0: 필수 업무 연결·배포·차단·복구 인수. P1: 배포 검증 후 조건부 운영 확장. ROSA: AWS 관리형 OpenShift 업무 실행 플랫폼. Runner: 자동 검사·배포 실행 서버. Backend: 인프라 구축 상태 저장소. UID: 플랫폼 실행 계정 식별값. SCC: 앱 실행 허용 보안 조건.</a:t>
            </a:r>
          </a:p>
          <a:p xmlns:a="http://schemas.openxmlformats.org/drawingml/2006/main">
            <a:r>
              <a:t>D21: 온프레미스와 클라우드 VPN 연결 방식. D22: 배포 이미지 저장소 선택. G4: 전체 인프라·VPN 확인. G5: 배포·실패 차단·복구 확인. G6: 통합 업무·장애 회귀 확인. PG03: 실제 앱 실행 계정·보안 호환 검증.</a:t>
            </a:r>
          </a:p>
          <a:p xmlns:a="http://schemas.openxmlformats.org/drawingml/2006/main">
            <a:r>
              <a:t>코드 작성·정적/모의 검사·CI·독립 승인·Lead 병합 판단·MERGE·Runtime·AC 인수를 각각 구분한다.</a:t>
            </a:r>
          </a:p>
          <a:p xmlns:a="http://schemas.openxmlformats.org/drawingml/2006/main">
            <a:r>
              <a:t/>
            </a:r>
          </a:p>
          <a:p xmlns:a="http://schemas.openxmlformats.org/drawingml/2006/main">
            <a:r>
              <a:t>근거(정본·설계 후보·운영 기록의 적용 범위를 구분)</a:t>
            </a:r>
          </a:p>
          <a:p xmlns:a="http://schemas.openxmlformats.org/drawingml/2006/main">
            <a:r>
              <a:t>https://github.com/321Team/fds-project-baseline/blob/979facb98de8ca1f1e2ce22f38b27ac3366f3fc3/baseline/FDS_Project_Implementation_Baseline_v3.1.21.md</a:t>
            </a:r>
          </a:p>
          <a:p xmlns:a="http://schemas.openxmlformats.org/drawingml/2006/main">
            <a:r>
              <a:t>https://github.com/321Team/fds-project-baseline/blob/72d798d5c784bf2270566b60374d1632d3152981/phase2/README.md</a:t>
            </a:r>
          </a:p>
          <a:p xmlns:a="http://schemas.openxmlformats.org/drawingml/2006/main">
            <a:r>
              <a:t>https://github.com/321Team/fds-project-baseline/issues/35</a:t>
            </a:r>
          </a:p>
          <a:p xmlns:a="http://schemas.openxmlformats.org/drawingml/2006/main">
            <a:r>
              <a:t>https://github.com/321Team/fds-project-baseline/issues/37</a:t>
            </a:r>
          </a:p>
          <a:p xmlns:a="http://schemas.openxmlformats.org/drawingml/2006/main">
            <a:r>
              <a:t>https://github.com/321Team/fds-project-baseline/issues/38</a:t>
            </a:r>
          </a:p>
          <a:p xmlns:a="http://schemas.openxmlformats.org/drawingml/2006/main">
            <a:r>
              <a:t>https://github.com/321Team/fds-project-baseline/issues/42</a:t>
            </a:r>
          </a:p>
          <a:p xmlns:a="http://schemas.openxmlformats.org/drawingml/2006/main">
            <a:r>
              <a:t>https://docs.aws.amazon.com/systems-manager/latest/userguide/operating-systems-and-machine-types.html</a:t>
            </a:r>
          </a:p>
          <a:p xmlns:a="http://schemas.openxmlformats.org/drawingml/2006/main">
            <a:r>
              <a:t>https://github.com/321Team/fds-project-baseline/issues/35#issuecomment-6011488238</a:t>
            </a:r>
          </a:p>
          <a:p xmlns:a="http://schemas.openxmlformats.org/drawingml/2006/main">
            <a:r>
              <a:t>https://github.com/321Team/fds-project-baseline/issues/37#issuecomment-6014503123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 인수 및 기반서비스 인계 완료. Phase 2 설계 리뷰·구축 계획.</a:t>
            </a:r>
          </a:p>
          <a:p xmlns:a="http://schemas.openxmlformats.org/drawingml/2006/main">
            <a:r>
              <a:t>현황 기준: 2026-10-06 KST, 재착수 후 원본 조회</a:t>
            </a:r>
          </a:p>
          <a:p xmlns:a="http://schemas.openxmlformats.org/drawingml/2006/main">
            <a:r>
              <a:t/>
            </a:r>
          </a:p>
          <a:p xmlns:a="http://schemas.openxmlformats.org/drawingml/2006/main">
            <a:r>
              <a:t>발표 흐름</a:t>
            </a:r>
          </a:p>
          <a:p xmlns:a="http://schemas.openxmlformats.org/drawingml/2006/main">
            <a:r>
              <a:t>연결 확인 단계에서는 이하영의 실제 인프라와 이재환의 VPN 연결·허용·차단·복구 결과를 인계합니다. 플랫폼과 앱은 승인된 최소 DB 경로와 접속정보 참조를 받아 정상 준비 상태를 확인한 뒤 배포 검증으로 이어집니다.</a:t>
            </a:r>
          </a:p>
          <a:p xmlns:a="http://schemas.openxmlformats.org/drawingml/2006/main">
            <a:r>
              <a:t/>
            </a:r>
          </a:p>
          <a:p xmlns:a="http://schemas.openxmlformats.org/drawingml/2006/main">
            <a:r>
              <a:t>20일에는 정상 배포, 검사 실패 차단, 이전 승인 이미지 복구 후 정상 상태를 확인합니다. DB 전체 통합은 21일, 같은 ROSA의 전체 업무·장애 회귀는 22일 목표입니다. 이후 원본 증적과 비용·삭제 결과를 취합합니다.</a:t>
            </a:r>
          </a:p>
          <a:p xmlns:a="http://schemas.openxmlformats.org/drawingml/2006/main">
            <a:r>
              <a:t/>
            </a:r>
          </a:p>
          <a:p xmlns:a="http://schemas.openxmlformats.org/drawingml/2006/main">
            <a:r>
              <a:t>인프라 골격과 앱 허용 검사 코드의 독립 승인은 해당 코드 범위입니다. Lead의 소스 병합 판단과 실제 실행·인수 판단을 구분하고, 준비 도구의 검사나 병합만으로 단계 완료를 선언하지 않습니다.</a:t>
            </a:r>
          </a:p>
          <a:p xmlns:a="http://schemas.openxmlformats.org/drawingml/2006/main">
            <a:r>
              <a:t/>
            </a:r>
          </a:p>
          <a:p xmlns:a="http://schemas.openxmlformats.org/drawingml/2006/main">
            <a:r>
              <a:t>설계·인수조건과 검증 범위</a:t>
            </a:r>
          </a:p>
          <a:p xmlns:a="http://schemas.openxmlformats.org/drawingml/2006/main">
            <a:r>
              <a:t>단계 목표 유지: G4 전체IaC+VPN10/14, ROSA basic10/15/full10/19, APP10/16~19, G5Delivery10/20, HybridDB10/21, G6E2E10/22. 승인 image digest와 actual Pod imageID, 플랫폼 API/Namespace/Context/짧은 인증 입력·Health 계약을 인계한다. 최소 DB 선행 인계가 #47 전체 AC를 선취·축소하는 것은 아니다. 실행자와 독립 검토자 기준은 기존 프로젝트 기준 적용. 증적 원본·hash는 무결성과 Runtime 성공을 구분한다.</a:t>
            </a:r>
          </a:p>
          <a:p xmlns:a="http://schemas.openxmlformats.org/drawingml/2006/main">
            <a:r>
              <a:t/>
            </a:r>
          </a:p>
          <a:p xmlns:a="http://schemas.openxmlformats.org/drawingml/2006/main">
            <a:r>
              <a:t>용어와 추적</a:t>
            </a:r>
          </a:p>
          <a:p xmlns:a="http://schemas.openxmlformats.org/drawingml/2006/main">
            <a:r>
              <a:t>P0: 필수 업무 연결·배포·차단·복구 인수. P1: 배포 검증 후 조건부 운영 확장. ROSA: AWS 관리형 OpenShift 업무 실행 플랫폼. Runner: 자동 검사·배포 실행 서버. Backend: 인프라 구축 상태 저장소. UID: 플랫폼 실행 계정 식별값. SCC: 앱 실행 허용 보안 조건.</a:t>
            </a:r>
          </a:p>
          <a:p xmlns:a="http://schemas.openxmlformats.org/drawingml/2006/main">
            <a:r>
              <a:t>D21: 온프레미스와 클라우드 VPN 연결 방식. D22: 배포 이미지 저장소 선택. G4: 전체 인프라·VPN 확인. G5: 배포·실패 차단·복구 확인. G6: 통합 업무·장애 회귀 확인. PG03: 실제 앱 실행 계정·보안 호환 검증.</a:t>
            </a:r>
          </a:p>
          <a:p xmlns:a="http://schemas.openxmlformats.org/drawingml/2006/main">
            <a:r>
              <a:t>코드 작성·정적/모의 검사·CI·독립 승인·Lead 병합 판단·MERGE·Runtime·AC 인수를 각각 구분한다.</a:t>
            </a:r>
          </a:p>
          <a:p xmlns:a="http://schemas.openxmlformats.org/drawingml/2006/main">
            <a:r>
              <a:t/>
            </a:r>
          </a:p>
          <a:p xmlns:a="http://schemas.openxmlformats.org/drawingml/2006/main">
            <a:r>
              <a:t>근거(정본·설계 후보·운영 기록의 적용 범위를 구분)</a:t>
            </a:r>
          </a:p>
          <a:p xmlns:a="http://schemas.openxmlformats.org/drawingml/2006/main">
            <a:r>
              <a:t>https://github.com/321Team/fds-project-baseline/blob/979facb98de8ca1f1e2ce22f38b27ac3366f3fc3/baseline/FDS_Project_Implementation_Baseline_v3.1.21.md</a:t>
            </a:r>
          </a:p>
          <a:p xmlns:a="http://schemas.openxmlformats.org/drawingml/2006/main">
            <a:r>
              <a:t>https://github.com/321Team/fds-project-baseline/blob/72d798d5c784bf2270566b60374d1632d3152981/phase2/README.md</a:t>
            </a:r>
          </a:p>
          <a:p xmlns:a="http://schemas.openxmlformats.org/drawingml/2006/main">
            <a:r>
              <a:t>https://github.com/321Team/fds-project-baseline/blob/979facb98de8ca1f1e2ce22f38b27ac3366f3fc3/tests/FDS_Test_Strategy_v3.1.21.md</a:t>
            </a:r>
          </a:p>
          <a:p xmlns:a="http://schemas.openxmlformats.org/drawingml/2006/main">
            <a:r>
              <a:t>https://github.com/321Team/fds-project-baseline/issues/44</a:t>
            </a:r>
          </a:p>
          <a:p xmlns:a="http://schemas.openxmlformats.org/drawingml/2006/main">
            <a:r>
              <a:t>https://github.com/321Team/fds-project-baseline/issues/120</a:t>
            </a:r>
          </a:p>
          <a:p xmlns:a="http://schemas.openxmlformats.org/drawingml/2006/main">
            <a:r>
              <a:t>https://github.com/321Team/fds-project-baseline/issues/121</a:t>
            </a:r>
          </a:p>
          <a:p xmlns:a="http://schemas.openxmlformats.org/drawingml/2006/main">
            <a:r>
              <a:t>https://github.com/321Team/fds-project-baseline/issues/95</a:t>
            </a:r>
          </a:p>
          <a:p xmlns:a="http://schemas.openxmlformats.org/drawingml/2006/main">
            <a:r>
              <a:t>https://github.com/321Team/fds-project-baseline/issues/46</a:t>
            </a:r>
          </a:p>
          <a:p xmlns:a="http://schemas.openxmlformats.org/drawingml/2006/main">
            <a:r>
              <a:t>https://github.com/321Team/fds-project-baseline/issues/47</a:t>
            </a:r>
          </a:p>
          <a:p xmlns:a="http://schemas.openxmlformats.org/drawingml/2006/main">
            <a:r>
              <a:t>https://github.com/321Team/fds-project-baseline/issues/50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 인수 및 기반서비스 인계 완료. Phase 2 설계 리뷰·구축 계획.</a:t>
            </a:r>
          </a:p>
          <a:p xmlns:a="http://schemas.openxmlformats.org/drawingml/2006/main">
            <a:r>
              <a:t>현황 기준: 2026-10-06 KST, 재착수 후 원본 조회</a:t>
            </a:r>
          </a:p>
          <a:p xmlns:a="http://schemas.openxmlformats.org/drawingml/2006/main">
            <a:r>
              <a:t/>
            </a:r>
          </a:p>
          <a:p xmlns:a="http://schemas.openxmlformats.org/drawingml/2006/main">
            <a:r>
              <a:t>발표 흐름</a:t>
            </a:r>
          </a:p>
          <a:p xmlns:a="http://schemas.openxmlformats.org/drawingml/2006/main">
            <a:r>
              <a:t>AWS 인프라 골격은 자원 생성 코드가 0개이며 계획·적용·실제 자원은 미실행입니다. 앱 허용 조건 검사 도구는 정적·모의 검사와 소스 병합까지 진행했고, 실제 클러스터 허용 검사·앱 실행·이미지 수신·전체 실행 계정 호환성은 남았습니다.</a:t>
            </a:r>
          </a:p>
          <a:p xmlns:a="http://schemas.openxmlformats.org/drawingml/2006/main">
            <a:r>
              <a:t/>
            </a:r>
          </a:p>
          <a:p xmlns:a="http://schemas.openxmlformats.org/drawingml/2006/main">
            <a:r>
              <a:t>앱 공통 배포 파일은 미준비이며, 배포 제어 코드는 실제 인증·관리 API·실행 흐름과 연결해야 합니다. 네트워크 정책 후보와 수집 도구의 소스 병합도 실제 권한 적용·접속 성공과 구분합니다.</a:t>
            </a:r>
          </a:p>
          <a:p xmlns:a="http://schemas.openxmlformats.org/drawingml/2006/main">
            <a:r>
              <a:t/>
            </a:r>
          </a:p>
          <a:p xmlns:a="http://schemas.openxmlformats.org/drawingml/2006/main">
            <a:r>
              <a:t>VPN 관문 재부팅과 UDP·IKE 사전 관측은 운영 기록으로 확인했습니다. 인증은 예상 실패였고 실제 AWS 터널 인수는 미실행입니다. 신규 DNS 접근은 확보되지 않았으며, 이것이 어느 장비의 의도된 차단인지는 아직 확인하지 못했습니다. 현재 출발지·반환 경로·허용 범위를 확인해야 합니다.</a:t>
            </a:r>
          </a:p>
          <a:p xmlns:a="http://schemas.openxmlformats.org/drawingml/2006/main">
            <a:r>
              <a:t/>
            </a:r>
          </a:p>
          <a:p xmlns:a="http://schemas.openxmlformats.org/drawingml/2006/main">
            <a:r>
              <a:t>전체 설계 확정과 저장소 선택, 지원·용량·비용도 잔여입니다. 이 자료의 상태 확인은 원본 기록 조회이며 새로운 서버 실행 결과가 아닙니다.</a:t>
            </a:r>
          </a:p>
          <a:p xmlns:a="http://schemas.openxmlformats.org/drawingml/2006/main">
            <a:r>
              <a:t/>
            </a:r>
          </a:p>
          <a:p xmlns:a="http://schemas.openxmlformats.org/drawingml/2006/main">
            <a:r>
              <a:t>설계·인수조건과 검증 범위</a:t>
            </a:r>
          </a:p>
          <a:p xmlns:a="http://schemas.openxmlformats.org/drawingml/2006/main">
            <a:r>
              <a:t>VPN #37 5964427918/5964438526: 관문 준비·재부팅 유지 보고. 5964908273/5965537470: OCI 관측 경로 UDP500/4500·IKE_SA_INIT/NAT-T/IKE_AUTH 왕복, PSK mismatch에 따른 AUTH expected failure, ChildSA0. evidence104 범위는pre-VPN baseline·HTTPS 공인IP 관측이며 최종UDP/IKE 원본 편입 아님. #40 5978867156은 DNS 과거raw재해시와 source 계약 정리, 신규Runner→DNS L3·source·정책 drift미확정. 접근실패를DENY PASS로승격하지 않음. CI가0건이면NOT_RUN. PR53/54/55는library소스 병합이며 transport/workflow/credential/승인원본/claim-Adapter/checkpoint/cleanup·Runtime 잔여, 단일POSIXRunner제약. PR137 HEAD72d798d5c784bf2270566b60374d1632d3152981 Draft/open/미병합·ARCHITECTURE_FREEZE=HOLD. 이번자료는계정/서버/클러스터시험·정본/티켓수정없음.</a:t>
            </a:r>
          </a:p>
          <a:p xmlns:a="http://schemas.openxmlformats.org/drawingml/2006/main">
            <a:r>
              <a:t/>
            </a:r>
          </a:p>
          <a:p xmlns:a="http://schemas.openxmlformats.org/drawingml/2006/main">
            <a:r>
              <a:t>용어와 추적</a:t>
            </a:r>
          </a:p>
          <a:p xmlns:a="http://schemas.openxmlformats.org/drawingml/2006/main">
            <a:r>
              <a:t>P0: 필수 업무 연결·배포·차단·복구 인수. P1: 배포 검증 후 조건부 운영 확장. ROSA: AWS 관리형 OpenShift 업무 실행 플랫폼. Runner: 자동 검사·배포 실행 서버. Backend: 인프라 구축 상태 저장소. UID: 플랫폼 실행 계정 식별값. SCC: 앱 실행 허용 보안 조건.</a:t>
            </a:r>
          </a:p>
          <a:p xmlns:a="http://schemas.openxmlformats.org/drawingml/2006/main">
            <a:r>
              <a:t>D21: 온프레미스와 클라우드 VPN 연결 방식. D22: 배포 이미지 저장소 선택. G4: 전체 인프라·VPN 확인. G5: 배포·실패 차단·복구 확인. G6: 통합 업무·장애 회귀 확인. PG03: 실제 앱 실행 계정·보안 호환 검증.</a:t>
            </a:r>
          </a:p>
          <a:p xmlns:a="http://schemas.openxmlformats.org/drawingml/2006/main">
            <a:r>
              <a:t>코드 작성·정적/모의 검사·CI·독립 승인·Lead 병합 판단·MERGE·Runtime·AC 인수를 각각 구분한다.</a:t>
            </a:r>
          </a:p>
          <a:p xmlns:a="http://schemas.openxmlformats.org/drawingml/2006/main">
            <a:r>
              <a:t/>
            </a:r>
          </a:p>
          <a:p xmlns:a="http://schemas.openxmlformats.org/drawingml/2006/main">
            <a:r>
              <a:t>근거(정본·설계 후보·운영 기록의 적용 범위를 구분)</a:t>
            </a:r>
          </a:p>
          <a:p xmlns:a="http://schemas.openxmlformats.org/drawingml/2006/main">
            <a:r>
              <a:t>https://github.com/321Team/fds-project-baseline/blob/979facb98de8ca1f1e2ce22f38b27ac3366f3fc3/baseline/FDS_Project_Implementation_Baseline_v3.1.21.md</a:t>
            </a:r>
          </a:p>
          <a:p xmlns:a="http://schemas.openxmlformats.org/drawingml/2006/main">
            <a:r>
              <a:t>https://github.com/321Team/fds-project-baseline/blob/72d798d5c784bf2270566b60374d1632d3152981/phase2/README.md</a:t>
            </a:r>
          </a:p>
          <a:p xmlns:a="http://schemas.openxmlformats.org/drawingml/2006/main">
            <a:r>
              <a:t>https://github.com/321Team/fds-project-baseline/pull/137</a:t>
            </a:r>
          </a:p>
          <a:p xmlns:a="http://schemas.openxmlformats.org/drawingml/2006/main">
            <a:r>
              <a:t>https://github.com/321Team/fds-project-baseline/pull/139</a:t>
            </a:r>
          </a:p>
          <a:p xmlns:a="http://schemas.openxmlformats.org/drawingml/2006/main">
            <a:r>
              <a:t>https://github.com/321Team/infra-terraform/pull/3#issuecomment-6009420279</a:t>
            </a:r>
          </a:p>
          <a:p xmlns:a="http://schemas.openxmlformats.org/drawingml/2006/main">
            <a:r>
              <a:t>https://github.com/321Team/infra-rosa/pull/2#issuecomment-6009420443</a:t>
            </a:r>
          </a:p>
          <a:p xmlns:a="http://schemas.openxmlformats.org/drawingml/2006/main">
            <a:r>
              <a:t>https://github.com/321Team/fds-project-baseline/issues/35#issuecomment-6008668288</a:t>
            </a:r>
          </a:p>
          <a:p xmlns:a="http://schemas.openxmlformats.org/drawingml/2006/main">
            <a:r>
              <a:t>https://github.com/321Team/fds-project-baseline/issues/35#issuecomment-6008686445</a:t>
            </a:r>
          </a:p>
          <a:p xmlns:a="http://schemas.openxmlformats.org/drawingml/2006/main">
            <a:r>
              <a:t>https://github.com/321Team/fds-project-baseline/issues/35#issuecomment-6009225979</a:t>
            </a:r>
          </a:p>
          <a:p xmlns:a="http://schemas.openxmlformats.org/drawingml/2006/main">
            <a:r>
              <a:t>https://github.com/321Team/fds-project-baseline/issues/35#issuecomment-6009370204</a:t>
            </a:r>
          </a:p>
          <a:p xmlns:a="http://schemas.openxmlformats.org/drawingml/2006/main">
            <a:r>
              <a:t>https://github.com/321Team/fds-project-baseline/issues/43#issuecomment-5980505812</a:t>
            </a:r>
          </a:p>
          <a:p xmlns:a="http://schemas.openxmlformats.org/drawingml/2006/main">
            <a:r>
              <a:t>https://github.com/321Team/fds-project-baseline/issues/37#issuecomment-5980841348</a:t>
            </a:r>
          </a:p>
          <a:p xmlns:a="http://schemas.openxmlformats.org/drawingml/2006/main">
            <a:r>
              <a:t>https://github.com/321Team/fds-project-baseline/issues/42#issuecomment-5977390034</a:t>
            </a:r>
          </a:p>
          <a:p xmlns:a="http://schemas.openxmlformats.org/drawingml/2006/main">
            <a:r>
              <a:t>https://github.com/321Team/fds-project-baseline/issues/46#issuecomment-5948127003</a:t>
            </a:r>
          </a:p>
          <a:p xmlns:a="http://schemas.openxmlformats.org/drawingml/2006/main">
            <a:r>
              <a:t>https://github.com/321Team/fds-project-baseline/issues/36#issuecomment-5966659098</a:t>
            </a:r>
          </a:p>
          <a:p xmlns:a="http://schemas.openxmlformats.org/drawingml/2006/main">
            <a:r>
              <a:t>https://github.com/321Team/fds-project-baseline/pull/140</a:t>
            </a:r>
          </a:p>
          <a:p xmlns:a="http://schemas.openxmlformats.org/drawingml/2006/main">
            <a:r>
              <a:t>https://github.com/321Team/fds-project-baseline/pull/141</a:t>
            </a:r>
          </a:p>
          <a:p xmlns:a="http://schemas.openxmlformats.org/drawingml/2006/main">
            <a:r>
              <a:t>https://github.com/321Team/fds-project-baseline/issues/35#issuecomment-6011488238</a:t>
            </a:r>
          </a:p>
          <a:p xmlns:a="http://schemas.openxmlformats.org/drawingml/2006/main">
            <a:r>
              <a:t>https://github.com/321Team/fds-project-baseline/issues/37#issuecomment-6011493625</a:t>
            </a:r>
          </a:p>
          <a:p xmlns:a="http://schemas.openxmlformats.org/drawingml/2006/main">
            <a:r>
              <a:t>https://github.com/321Team/infra-cicd/pull/53</a:t>
            </a:r>
          </a:p>
          <a:p xmlns:a="http://schemas.openxmlformats.org/drawingml/2006/main">
            <a:r>
              <a:t>https://github.com/321Team/infra-cicd/pull/54</a:t>
            </a:r>
          </a:p>
          <a:p xmlns:a="http://schemas.openxmlformats.org/drawingml/2006/main">
            <a:r>
              <a:t>https://github.com/321Team/infra-cicd/pull/55</a:t>
            </a:r>
          </a:p>
          <a:p xmlns:a="http://schemas.openxmlformats.org/drawingml/2006/main">
            <a:r>
              <a:t>https://github.com/321Team/fds-project-baseline/issues/40#issuecomment-5978867156</a:t>
            </a:r>
          </a:p>
          <a:p xmlns:a="http://schemas.openxmlformats.org/drawingml/2006/main">
            <a:r>
              <a:t>https://github.com/321Team/fds-project-baseline/issues/37#issuecomment-5965537470</a:t>
            </a:r>
          </a:p>
          <a:p xmlns:a="http://schemas.openxmlformats.org/drawingml/2006/main">
            <a:r>
              <a:t>https://github.com/321Team/fds-project-baseline/issues/43</a:t>
            </a:r>
          </a:p>
          <a:p xmlns:a="http://schemas.openxmlformats.org/drawingml/2006/main">
            <a:r>
              <a:t>https://github.com/321Team/fds-project-baseline/issues/35#issuecomment-6013662958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 인수 및 기반서비스 인계 완료. Phase 2 설계 리뷰·구축 계획.</a:t>
            </a:r>
          </a:p>
          <a:p xmlns:a="http://schemas.openxmlformats.org/drawingml/2006/main">
            <a:r>
              <a:t>현황 기준: 2026-10-06 KST, 재착수 후 원본 조회</a:t>
            </a:r>
          </a:p>
          <a:p xmlns:a="http://schemas.openxmlformats.org/drawingml/2006/main">
            <a:r>
              <a:t/>
            </a:r>
          </a:p>
          <a:p xmlns:a="http://schemas.openxmlformats.org/drawingml/2006/main">
            <a:r>
              <a:t>발표 흐름</a:t>
            </a:r>
          </a:p>
          <a:p xmlns:a="http://schemas.openxmlformats.org/drawingml/2006/main">
            <a:r>
              <a:t>이 그림은 논리 업무 흐름과 물리 연결을 합친 큰그림입니다. 클라우드의 거래 접수 서비스가 위험 판정 결과를 돌려받고, AWS 중계 서버와 기존 VPN 관문을 통해 DB에 거래·판정 결과를 저장합니다.</a:t>
            </a:r>
          </a:p>
          <a:p xmlns:a="http://schemas.openxmlformats.org/drawingml/2006/main">
            <a:r>
              <a:t/>
            </a:r>
          </a:p>
          <a:p xmlns:a="http://schemas.openxmlformats.org/drawingml/2006/main">
            <a:r>
              <a:t>이하영은 자원 생성과 플랫폼, 이재환은 VPN과 앱·DB 통합을 담당합니다. 분석 서비스의 DB 송신을 통신 정책으로 차단하고 DB 접속정보도 주지 않습니다. DB에서 관측하는 실제 출발지는 구축 후 확인합니다.</a:t>
            </a:r>
          </a:p>
          <a:p xmlns:a="http://schemas.openxmlformats.org/drawingml/2006/main">
            <a:r>
              <a:t/>
            </a:r>
          </a:p>
          <a:p xmlns:a="http://schemas.openxmlformats.org/drawingml/2006/main">
            <a:r>
              <a:t>실선은 P0 필수 경로입니다. 업무 진입점을 사설로 선택하면 시험 클라이언트도 승인된 사설 경로가 필요하므로, 출발지와 DNS·TLS를 확정합니다. 실제 연결·차단·복구 결과로 검증합니다.</a:t>
            </a:r>
          </a:p>
          <a:p xmlns:a="http://schemas.openxmlformats.org/drawingml/2006/main">
            <a:r>
              <a:t/>
            </a:r>
          </a:p>
          <a:p xmlns:a="http://schemas.openxmlformats.org/drawingml/2006/main">
            <a:r>
              <a:t>설계·인수조건과 검증 범위</a:t>
            </a:r>
          </a:p>
          <a:p xmlns:a="http://schemas.openxmlformats.org/drawingml/2006/main">
            <a:r>
              <a:t>업무 사용자 노드는ROSA 밖에 있으며 화살표는업무요청 관계다. Private Ingress 미정이며 on-prem VPN 또는VPC내부 등승인경로·source/DNS/TLS를결정한다. EC2+EIP Libreswan selected방식유지, 관리형VPN/VGW/TGW재선정 아님. Pod별egressNetworkPolicy+noDBcredentials의차단설계, API허용·engine차단을실제시험. source/NAT모델은실측·지원 확인 후고정한다. P0실선은구축완료표시 아님.</a:t>
            </a:r>
          </a:p>
          <a:p xmlns:a="http://schemas.openxmlformats.org/drawingml/2006/main">
            <a:r>
              <a:t/>
            </a:r>
          </a:p>
          <a:p xmlns:a="http://schemas.openxmlformats.org/drawingml/2006/main">
            <a:r>
              <a:t>용어와 추적</a:t>
            </a:r>
          </a:p>
          <a:p xmlns:a="http://schemas.openxmlformats.org/drawingml/2006/main">
            <a:r>
              <a:t>P0: 필수 업무 연결·배포·차단·복구 인수. P1: 배포 검증 후 조건부 운영 확장. ROSA: AWS 관리형 OpenShift 업무 실행 플랫폼. Runner: 자동 검사·배포 실행 서버. Backend: 인프라 구축 상태 저장소. UID: 플랫폼 실행 계정 식별값. SCC: 앱 실행 허용 보안 조건.</a:t>
            </a:r>
          </a:p>
          <a:p xmlns:a="http://schemas.openxmlformats.org/drawingml/2006/main">
            <a:r>
              <a:t>D21: 온프레미스와 클라우드 VPN 연결 방식. D22: 배포 이미지 저장소 선택. G4: 전체 인프라·VPN 확인. G5: 배포·실패 차단·복구 확인. G6: 통합 업무·장애 회귀 확인. PG03: 실제 앱 실행 계정·보안 호환 검증.</a:t>
            </a:r>
          </a:p>
          <a:p xmlns:a="http://schemas.openxmlformats.org/drawingml/2006/main">
            <a:r>
              <a:t>코드 작성·정적/모의 검사·CI·독립 승인·Lead 병합 판단·MERGE·Runtime·AC 인수를 각각 구분한다.</a:t>
            </a:r>
          </a:p>
          <a:p xmlns:a="http://schemas.openxmlformats.org/drawingml/2006/main">
            <a:r>
              <a:t/>
            </a:r>
          </a:p>
          <a:p xmlns:a="http://schemas.openxmlformats.org/drawingml/2006/main">
            <a:r>
              <a:t>근거(정본·설계 후보·운영 기록의 적용 범위를 구분)</a:t>
            </a:r>
          </a:p>
          <a:p xmlns:a="http://schemas.openxmlformats.org/drawingml/2006/main">
            <a:r>
              <a:t>https://github.com/321Team/fds-project-baseline/blob/979facb98de8ca1f1e2ce22f38b27ac3366f3fc3/baseline/FDS_Project_Implementation_Baseline_v3.1.21.md</a:t>
            </a:r>
          </a:p>
          <a:p xmlns:a="http://schemas.openxmlformats.org/drawingml/2006/main">
            <a:r>
              <a:t>https://github.com/321Team/fds-project-baseline/blob/979facb98de8ca1f1e2ce22f38b27ac3366f3fc3/tests/FDS_Test_Strategy_v3.1.21.md</a:t>
            </a:r>
          </a:p>
          <a:p xmlns:a="http://schemas.openxmlformats.org/drawingml/2006/main">
            <a:r>
              <a:t>https://github.com/321Team/fds-project-baseline/blob/72d798d5c784bf2270566b60374d1632d3152981/phase2/README.md</a:t>
            </a:r>
          </a:p>
          <a:p xmlns:a="http://schemas.openxmlformats.org/drawingml/2006/main">
            <a:r>
              <a:t>https://github.com/321Team/fds-project-baseline/issues/35</a:t>
            </a:r>
          </a:p>
          <a:p xmlns:a="http://schemas.openxmlformats.org/drawingml/2006/main">
            <a:r>
              <a:t>https://github.com/321Team/fds-project-baseline/issues/36</a:t>
            </a:r>
          </a:p>
          <a:p xmlns:a="http://schemas.openxmlformats.org/drawingml/2006/main">
            <a:r>
              <a:t>https://github.com/321Team/fds-project-baseline/issues/37</a:t>
            </a:r>
          </a:p>
          <a:p xmlns:a="http://schemas.openxmlformats.org/drawingml/2006/main">
            <a:r>
              <a:t>https://github.com/321Team/fds-project-baseline/issues/38</a:t>
            </a:r>
          </a:p>
          <a:p xmlns:a="http://schemas.openxmlformats.org/drawingml/2006/main">
            <a:r>
              <a:t>https://github.com/321Team/fds-project-baseline/issues/43</a:t>
            </a:r>
          </a:p>
          <a:p xmlns:a="http://schemas.openxmlformats.org/drawingml/2006/main">
            <a:r>
              <a:t>https://github.com/321Team/fds-project-baseline/issues/47</a:t>
            </a:r>
          </a:p>
          <a:p xmlns:a="http://schemas.openxmlformats.org/drawingml/2006/main">
            <a:r>
              <a:t>https://github.com/321Team/fds-project-baseline/issues/119</a:t>
            </a:r>
          </a:p>
          <a:p xmlns:a="http://schemas.openxmlformats.org/drawingml/2006/main">
            <a:r>
              <a:t>https://github.com/hashicorp/design-system/blob/main/packages/flight-icons/svg/terraform-color-24.svg</a:t>
            </a:r>
          </a:p>
          <a:p xmlns:a="http://schemas.openxmlformats.org/drawingml/2006/main">
            <a:r>
              <a:t>https://github.com/openshift/console/blob/main/frontend/public/imgs/logos/openshift.svg</a:t>
            </a:r>
          </a:p>
          <a:p xmlns:a="http://schemas.openxmlformats.org/drawingml/2006/main">
            <a:r>
              <a:t>https://github.com/openshift/console/blob/main/frontend/public/imgs/logos/postgresql.svg</a:t>
            </a:r>
          </a:p>
          <a:p xmlns:a="http://schemas.openxmlformats.org/drawingml/2006/main">
            <a:r>
              <a:t>https://github.com/awslabs/aws-icons-for-plantuml/blob/main/dist/Compute/EC2.png</a:t>
            </a:r>
          </a:p>
          <a:p xmlns:a="http://schemas.openxmlformats.org/drawingml/2006/main">
            <a:r>
              <a:t>https://kubernetes.io/docs/concepts/services-networking/network-policies/</a:t>
            </a:r>
          </a:p>
          <a:p xmlns:a="http://schemas.openxmlformats.org/drawingml/2006/main">
            <a:r>
              <a:t>https://docs.redhat.com/en/documentation/red_hat_openshift_service_on_aws/4/html/cluster_administration/configuring-private-connections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 인수 및 기반서비스 인계 완료. Phase 2 설계 리뷰·구축 계획.</a:t>
            </a:r>
          </a:p>
          <a:p xmlns:a="http://schemas.openxmlformats.org/drawingml/2006/main">
            <a:r>
              <a:t>현황 기준: 2026-10-06 KST, 재착수 후 원본 조회</a:t>
            </a:r>
          </a:p>
          <a:p xmlns:a="http://schemas.openxmlformats.org/drawingml/2006/main">
            <a:r>
              <a:t/>
            </a:r>
          </a:p>
          <a:p xmlns:a="http://schemas.openxmlformats.org/drawingml/2006/main">
            <a:r>
              <a:t>발표 흐름</a:t>
            </a:r>
          </a:p>
          <a:p xmlns:a="http://schemas.openxmlformats.org/drawingml/2006/main">
            <a:r>
              <a:t>파란 경로는 GitHub 소스에서 검사·생성한 업무 프로그램 이미지를 저장소에 등록하고 ROSA가 받는 흐름입니다. 청록 경로는 Runner가 직접 배포와 복구 명령을 전달하는 흐름입니다. 배포할 승인 이미지와 실제 실행 이미지의 식별값을 맞춰 확인합니다.</a:t>
            </a:r>
          </a:p>
          <a:p xmlns:a="http://schemas.openxmlformats.org/drawingml/2006/main">
            <a:r>
              <a:t/>
            </a:r>
          </a:p>
          <a:p xmlns:a="http://schemas.openxmlformats.org/drawingml/2006/main">
            <a:r>
              <a:t>아래는 관리 접속의 선행조건입니다. Runner의 관리망은 DB 보호망 밖에 있으므로 별도의 승인 경로와 통신 대상, 최소 DNS와 인증을 확정해야 합니다. 이 조건은 P0이며, 전체 DNS 운영 확장인 P1과 구분합니다. 준비된 배포 코드를 실제 ROSA 연결과 시험에 이어 붙입니다.</a:t>
            </a:r>
          </a:p>
          <a:p xmlns:a="http://schemas.openxmlformats.org/drawingml/2006/main">
            <a:r>
              <a:t/>
            </a:r>
          </a:p>
          <a:p xmlns:a="http://schemas.openxmlformats.org/drawingml/2006/main">
            <a:r>
              <a:t>설계·인수조건과 검증 범위</a:t>
            </a:r>
          </a:p>
          <a:p xmlns:a="http://schemas.openxmlformats.org/drawingml/2006/main">
            <a:r>
              <a:t>파란실선=image supply, 청록실선=Runner-direct Deploy/rollback control, 청록점선=P0미확정접속조건, 회색점선=P1선택경계. Runner관리망10.250.10.20은DB보호selector10.1.93.0/24밖; 별도관리Route/source/DNS계약필요. privateAPI/OAuth/Ingress필수이름조회·TLS·namespace/context/API·short-livedcredential·승인digest/actualimageID인계. Registry는배포명령실행주체아님. #120 Go전Runnerdirect유지.</a:t>
            </a:r>
          </a:p>
          <a:p xmlns:a="http://schemas.openxmlformats.org/drawingml/2006/main">
            <a:r>
              <a:t/>
            </a:r>
          </a:p>
          <a:p xmlns:a="http://schemas.openxmlformats.org/drawingml/2006/main">
            <a:r>
              <a:t>용어와 추적</a:t>
            </a:r>
          </a:p>
          <a:p xmlns:a="http://schemas.openxmlformats.org/drawingml/2006/main">
            <a:r>
              <a:t>P0: 필수 업무 연결·배포·차단·복구 인수. P1: 배포 검증 후 조건부 운영 확장. ROSA: AWS 관리형 OpenShift 업무 실행 플랫폼. Runner: 자동 검사·배포 실행 서버. Backend: 인프라 구축 상태 저장소. UID: 플랫폼 실행 계정 식별값. SCC: 앱 실행 허용 보안 조건.</a:t>
            </a:r>
          </a:p>
          <a:p xmlns:a="http://schemas.openxmlformats.org/drawingml/2006/main">
            <a:r>
              <a:t>D21: 온프레미스와 클라우드 VPN 연결 방식. D22: 배포 이미지 저장소 선택. G4: 전체 인프라·VPN 확인. G5: 배포·실패 차단·복구 확인. G6: 통합 업무·장애 회귀 확인. PG03: 실제 앱 실행 계정·보안 호환 검증.</a:t>
            </a:r>
          </a:p>
          <a:p xmlns:a="http://schemas.openxmlformats.org/drawingml/2006/main">
            <a:r>
              <a:t>코드 작성·정적/모의 검사·CI·독립 승인·Lead 병합 판단·MERGE·Runtime·AC 인수를 각각 구분한다.</a:t>
            </a:r>
          </a:p>
          <a:p xmlns:a="http://schemas.openxmlformats.org/drawingml/2006/main">
            <a:r>
              <a:t/>
            </a:r>
          </a:p>
          <a:p xmlns:a="http://schemas.openxmlformats.org/drawingml/2006/main">
            <a:r>
              <a:t>근거(정본·설계 후보·운영 기록의 적용 범위를 구분)</a:t>
            </a:r>
          </a:p>
          <a:p xmlns:a="http://schemas.openxmlformats.org/drawingml/2006/main">
            <a:r>
              <a:t>https://github.com/321Team/fds-project-baseline/blob/979facb98de8ca1f1e2ce22f38b27ac3366f3fc3/baseline/FDS_Project_Implementation_Baseline_v3.1.21.md</a:t>
            </a:r>
          </a:p>
          <a:p xmlns:a="http://schemas.openxmlformats.org/drawingml/2006/main">
            <a:r>
              <a:t>https://github.com/321Team/fds-project-baseline/blob/979facb98de8ca1f1e2ce22f38b27ac3366f3fc3/tests/FDS_Test_Strategy_v3.1.21.md</a:t>
            </a:r>
          </a:p>
          <a:p xmlns:a="http://schemas.openxmlformats.org/drawingml/2006/main">
            <a:r>
              <a:t>https://github.com/321Team/fds-project-baseline/blob/72d798d5c784bf2270566b60374d1632d3152981/phase2/README.md</a:t>
            </a:r>
          </a:p>
          <a:p xmlns:a="http://schemas.openxmlformats.org/drawingml/2006/main">
            <a:r>
              <a:t>https://github.com/321Team/fds-project-baseline/issues/38</a:t>
            </a:r>
          </a:p>
          <a:p xmlns:a="http://schemas.openxmlformats.org/drawingml/2006/main">
            <a:r>
              <a:t>https://github.com/321Team/fds-project-baseline/issues/40</a:t>
            </a:r>
          </a:p>
          <a:p xmlns:a="http://schemas.openxmlformats.org/drawingml/2006/main">
            <a:r>
              <a:t>https://github.com/321Team/fds-project-baseline/issues/42</a:t>
            </a:r>
          </a:p>
          <a:p xmlns:a="http://schemas.openxmlformats.org/drawingml/2006/main">
            <a:r>
              <a:t>https://github.com/321Team/fds-project-baseline/issues/46</a:t>
            </a:r>
          </a:p>
          <a:p xmlns:a="http://schemas.openxmlformats.org/drawingml/2006/main">
            <a:r>
              <a:t>https://github.com/321Team/fds-project-baseline/issues/48</a:t>
            </a:r>
          </a:p>
          <a:p xmlns:a="http://schemas.openxmlformats.org/drawingml/2006/main">
            <a:r>
              <a:t>https://github.com/321Team/fds-project-baseline/issues/119</a:t>
            </a:r>
          </a:p>
          <a:p xmlns:a="http://schemas.openxmlformats.org/drawingml/2006/main">
            <a:r>
              <a:t>https://github.com/321Team/fds-project-baseline/issues/120</a:t>
            </a:r>
          </a:p>
          <a:p xmlns:a="http://schemas.openxmlformats.org/drawingml/2006/main">
            <a:r>
              <a:t>https://github.com/primer/octicons/blob/main/icons/mark-github-24.svg</a:t>
            </a:r>
          </a:p>
          <a:p xmlns:a="http://schemas.openxmlformats.org/drawingml/2006/main">
            <a:r>
              <a:t>https://github.com/cncf/artwork/blob/main/projects/harbor/icon/color/harbor-icon-color.svg</a:t>
            </a:r>
          </a:p>
          <a:p xmlns:a="http://schemas.openxmlformats.org/drawingml/2006/main">
            <a:r>
              <a:t>https://github.com/openshift/console/blob/main/frontend/public/imgs/logos/openshift.svg</a:t>
            </a:r>
          </a:p>
          <a:p xmlns:a="http://schemas.openxmlformats.org/drawingml/2006/main">
            <a:r>
              <a:t>https://github.com/321Team/fds-project-baseline/pull/140</a:t>
            </a:r>
          </a:p>
          <a:p xmlns:a="http://schemas.openxmlformats.org/drawingml/2006/main">
            <a:r>
              <a:t>https://github.com/321Team/fds-project-baseline/pull/141</a:t>
            </a:r>
          </a:p>
          <a:p xmlns:a="http://schemas.openxmlformats.org/drawingml/2006/main">
            <a:r>
              <a:t>https://github.com/321Team/fds-project-baseline/issues/35#issuecomment-6011488238</a:t>
            </a:r>
          </a:p>
          <a:p xmlns:a="http://schemas.openxmlformats.org/drawingml/2006/main">
            <a:r>
              <a:t>https://github.com/321Team/fds-project-baseline/issues/37#issuecomment-6011493625</a:t>
            </a:r>
          </a:p>
          <a:p xmlns:a="http://schemas.openxmlformats.org/drawingml/2006/main">
            <a:r>
              <a:t>https://github.com/321Team/infra-cicd/pull/53</a:t>
            </a:r>
          </a:p>
          <a:p xmlns:a="http://schemas.openxmlformats.org/drawingml/2006/main">
            <a:r>
              <a:t>https://github.com/321Team/infra-cicd/pull/54</a:t>
            </a:r>
          </a:p>
          <a:p xmlns:a="http://schemas.openxmlformats.org/drawingml/2006/main">
            <a:r>
              <a:t>https://github.com/321Team/infra-cicd/pull/55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 인수 및 기반서비스 인계 완료. Phase 2 설계 리뷰·구축 계획.</a:t>
            </a:r>
          </a:p>
          <a:p xmlns:a="http://schemas.openxmlformats.org/drawingml/2006/main">
            <a:r>
              <a:t>현황 기준: 2026-10-06 KST, 재착수 후 원본 조회</a:t>
            </a:r>
          </a:p>
          <a:p xmlns:a="http://schemas.openxmlformats.org/drawingml/2006/main">
            <a:r>
              <a:t/>
            </a:r>
          </a:p>
          <a:p xmlns:a="http://schemas.openxmlformats.org/drawingml/2006/main">
            <a:r>
              <a:t>발표 흐름</a:t>
            </a:r>
          </a:p>
          <a:p xmlns:a="http://schemas.openxmlformats.org/drawingml/2006/main">
            <a:r>
              <a:t>회색 점선 영역은 P1 운영 확장입니다. 필수 배포 검증 이후 지원·권한·비용과 P0 작업 여력을 확인해 도입 범위를 결정합니다. 이권욱은 환경 간 이름 조회 확장과 설정 기반 자동 배포, 이하영은 백업·복구 도구와 운영 기능·보안 기준 점검을 담당합니다.</a:t>
            </a:r>
          </a:p>
          <a:p xmlns:a="http://schemas.openxmlformats.org/drawingml/2006/main">
            <a:r>
              <a:t/>
            </a:r>
          </a:p>
          <a:p xmlns:a="http://schemas.openxmlformats.org/drawingml/2006/main">
            <a:r>
              <a:t>설정 기록을 기준으로 자동 배포하는 방식의 후보 도구는 Argo CD입니다. 도입 결정 전에는 Runner 직접 배포를 유지합니다. 조건이 부족하면 근거와 재개 조건을 기록해 유예하고, AI 운영 플랫폼도 유예를 우선합니다. P1을 유예하더라도 P0 필수 이름 조회와 비밀정보 보호·복구 조건은 계속 충족합니다.</a:t>
            </a:r>
          </a:p>
          <a:p xmlns:a="http://schemas.openxmlformats.org/drawingml/2006/main">
            <a:r>
              <a:t/>
            </a:r>
          </a:p>
          <a:p xmlns:a="http://schemas.openxmlformats.org/drawingml/2006/main">
            <a:r>
              <a:t>설계·인수조건과 검증 범위</a:t>
            </a:r>
          </a:p>
          <a:p xmlns:a="http://schemas.openxmlformats.org/drawingml/2006/main">
            <a:r>
              <a:t>P1도입은G5후여력기반지원/권한/비용판단·기존변경승인후진행. GitOpsGo전Runner-direct유지, Go면DeliveryCR·권한·Gitsource·reconciliation/rollback·Operator공급조건승인. OADP+S3/Operator/HybridDNS/Compliance의정확한도입일은결정후확정,10/26이전강제아님. RHOAI유예우선. P0최소DNS·Secret보호·필수복구는면제되지않음.</a:t>
            </a:r>
          </a:p>
          <a:p xmlns:a="http://schemas.openxmlformats.org/drawingml/2006/main">
            <a:r>
              <a:t/>
            </a:r>
          </a:p>
          <a:p xmlns:a="http://schemas.openxmlformats.org/drawingml/2006/main">
            <a:r>
              <a:t>용어와 추적</a:t>
            </a:r>
          </a:p>
          <a:p xmlns:a="http://schemas.openxmlformats.org/drawingml/2006/main">
            <a:r>
              <a:t>P0: 필수 업무 연결·배포·차단·복구 인수. P1: 배포 검증 후 조건부 운영 확장. ROSA: AWS 관리형 OpenShift 업무 실행 플랫폼. Runner: 자동 검사·배포 실행 서버. Backend: 인프라 구축 상태 저장소. UID: 플랫폼 실행 계정 식별값. SCC: 앱 실행 허용 보안 조건.</a:t>
            </a:r>
          </a:p>
          <a:p xmlns:a="http://schemas.openxmlformats.org/drawingml/2006/main">
            <a:r>
              <a:t>D21: 온프레미스와 클라우드 VPN 연결 방식. D22: 배포 이미지 저장소 선택. G4: 전체 인프라·VPN 확인. G5: 배포·실패 차단·복구 확인. G6: 통합 업무·장애 회귀 확인. PG03: 실제 앱 실행 계정·보안 호환 검증.</a:t>
            </a:r>
          </a:p>
          <a:p xmlns:a="http://schemas.openxmlformats.org/drawingml/2006/main">
            <a:r>
              <a:t>코드 작성·정적/모의 검사·CI·독립 승인·Lead 병합 판단·MERGE·Runtime·AC 인수를 각각 구분한다.</a:t>
            </a:r>
          </a:p>
          <a:p xmlns:a="http://schemas.openxmlformats.org/drawingml/2006/main">
            <a:r>
              <a:t/>
            </a:r>
          </a:p>
          <a:p xmlns:a="http://schemas.openxmlformats.org/drawingml/2006/main">
            <a:r>
              <a:t>근거(정본·설계 후보·운영 기록의 적용 범위를 구분)</a:t>
            </a:r>
          </a:p>
          <a:p xmlns:a="http://schemas.openxmlformats.org/drawingml/2006/main">
            <a:r>
              <a:t>https://github.com/321Team/fds-project-baseline/blob/979facb98de8ca1f1e2ce22f38b27ac3366f3fc3/baseline/FDS_Project_Implementation_Baseline_v3.1.21.md</a:t>
            </a:r>
          </a:p>
          <a:p xmlns:a="http://schemas.openxmlformats.org/drawingml/2006/main">
            <a:r>
              <a:t>https://github.com/321Team/fds-project-baseline/blob/979facb98de8ca1f1e2ce22f38b27ac3366f3fc3/tests/FDS_Test_Strategy_v3.1.21.md</a:t>
            </a:r>
          </a:p>
          <a:p xmlns:a="http://schemas.openxmlformats.org/drawingml/2006/main">
            <a:r>
              <a:t>https://github.com/321Team/fds-project-baseline/blob/72d798d5c784bf2270566b60374d1632d3152981/phase2/README.md</a:t>
            </a:r>
          </a:p>
          <a:p xmlns:a="http://schemas.openxmlformats.org/drawingml/2006/main">
            <a:r>
              <a:t>https://github.com/321Team/fds-project-baseline/issues/40</a:t>
            </a:r>
          </a:p>
          <a:p xmlns:a="http://schemas.openxmlformats.org/drawingml/2006/main">
            <a:r>
              <a:t>https://github.com/321Team/fds-project-baseline/issues/41</a:t>
            </a:r>
          </a:p>
          <a:p xmlns:a="http://schemas.openxmlformats.org/drawingml/2006/main">
            <a:r>
              <a:t>https://github.com/321Team/fds-project-baseline/issues/44</a:t>
            </a:r>
          </a:p>
          <a:p xmlns:a="http://schemas.openxmlformats.org/drawingml/2006/main">
            <a:r>
              <a:t>https://github.com/321Team/fds-project-baseline/issues/48</a:t>
            </a:r>
          </a:p>
          <a:p xmlns:a="http://schemas.openxmlformats.org/drawingml/2006/main">
            <a:r>
              <a:t>https://github.com/321Team/fds-project-baseline/issues/51</a:t>
            </a:r>
          </a:p>
          <a:p xmlns:a="http://schemas.openxmlformats.org/drawingml/2006/main">
            <a:r>
              <a:t>https://github.com/321Team/fds-project-baseline/issues/95</a:t>
            </a:r>
          </a:p>
          <a:p xmlns:a="http://schemas.openxmlformats.org/drawingml/2006/main">
            <a:r>
              <a:t>https://github.com/321Team/fds-project-baseline/issues/120</a:t>
            </a:r>
          </a:p>
          <a:p xmlns:a="http://schemas.openxmlformats.org/drawingml/2006/main">
            <a:r>
              <a:t>https://github.com/321Team/fds-project-baseline/issues/121</a:t>
            </a:r>
          </a:p>
          <a:p xmlns:a="http://schemas.openxmlformats.org/drawingml/2006/main">
            <a:r>
              <a:t>https://github.com/openshift/console/blob/main/frontend/public/imgs/logos/openshift.svg</a:t>
            </a:r>
          </a:p>
          <a:p xmlns:a="http://schemas.openxmlformats.org/drawingml/2006/main">
            <a:r>
              <a:t>https://github.com/cncf/artwork/blob/main/projects/argo/icon/color/argo-icon-color.svg</a:t>
            </a:r>
          </a:p>
          <a:p xmlns:a="http://schemas.openxmlformats.org/drawingml/2006/main">
            <a:r>
              <a:t>https://github.com/awslabs/aws-icons-for-plantuml/blob/main/dist/Storage/SimpleStorageService.png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69ba9661fc514e5e"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e8a107049a44c38" Type="http://schemas.openxmlformats.org/officeDocument/2006/relationships/theme" Target="theme/theme2.xml"/><Relationship Id="R87e5a5ae7fc244be"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e5a5ae7fc244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3ee07c56da3a47af" Type="http://schemas.openxmlformats.org/officeDocument/2006/relationships/notesSlide" Target="../notesSlides/notesSlide1.xml"/><Relationship Id="Rc5b22c6714eb489b"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274c2cbfe73c4b4d" Type="http://schemas.openxmlformats.org/officeDocument/2006/relationships/notesSlide" Target="../notesSlides/notesSlide2.xml"/><Relationship Id="R5e56e7a9d7d14bce" Type="http://schemas.openxmlformats.org/officeDocument/2006/relationships/image" Target="../media/image.png"/><Relationship Id="Rca120f8747bc4ec3" Type="http://schemas.openxmlformats.org/officeDocument/2006/relationships/image" Target="../media/image2.png"/><Relationship Id="Rcf1cc20851ca427a"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02aa74d173d44a39" Type="http://schemas.openxmlformats.org/officeDocument/2006/relationships/notesSlide" Target="../notesSlides/notesSlide3.xml"/><Relationship Id="R25ce4585c27f4ad0" Type="http://schemas.openxmlformats.org/officeDocument/2006/relationships/image" Target="../media/image5.png"/><Relationship Id="R6acc451c469643bc" Type="http://schemas.openxmlformats.org/officeDocument/2006/relationships/image" Target="../media/image6.png"/><Relationship Id="R78705ad51daa468c" Type="http://schemas.openxmlformats.org/officeDocument/2006/relationships/slideLayout" Target="../slideLayouts/slideLayout1.xml"/><Relationship Id="R83c8a46a6bc0445d" Type="http://schemas.openxmlformats.org/officeDocument/2006/relationships/image" Target="../media/image4.png"/><Relationship Id="Reeb3a6afa4924291" Type="http://schemas.openxmlformats.org/officeDocument/2006/relationships/image" Target="../media/image3.png"/></Relationships>
</file>

<file path=ppt/slides/_rels/slide4.xml.rels><?xml version='1.0' encoding='UTF-8' standalone='yes'?>
<Relationships xmlns="http://schemas.openxmlformats.org/package/2006/relationships"><Relationship Id="R7393d6d5ac634d19" Type="http://schemas.openxmlformats.org/officeDocument/2006/relationships/notesSlide" Target="../notesSlides/notesSlide4.xml"/><Relationship Id="Rc3bce1c680b14ba5"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907229f86a784dd1" Type="http://schemas.openxmlformats.org/officeDocument/2006/relationships/slideLayout" Target="../slideLayouts/slideLayout1.xml"/><Relationship Id="R97d7bbe61416453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04e6bb6212424095" Type="http://schemas.openxmlformats.org/officeDocument/2006/relationships/notesSlide" Target="../notesSlides/notesSlide6.xml"/><Relationship Id="Rb89b7993b1f644cb"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ec6283afc891416f" Type="http://schemas.openxmlformats.org/officeDocument/2006/relationships/slideLayout" Target="../slideLayouts/slideLayout1.xml"/><Relationship Id="Rfa559c001a1a40f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763c0b6ef0b6423f" Type="http://schemas.openxmlformats.org/officeDocument/2006/relationships/notesSlide" Target="../notesSlides/notesSlide8.xml"/><Relationship Id="Ra79b5170e95546cf"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0a848578e8ba41c9" Type="http://schemas.openxmlformats.org/officeDocument/2006/relationships/notesSlide" Target="../notesSlides/notesSlide9.xml"/><Relationship Id="Rc2bb51937d424246"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2f60131ecd4d47fe" Type="http://schemas.openxmlformats.org/officeDocument/2006/relationships/image" Target="../media/image10.png"/><Relationship Id="R51340c1a0a584665" Type="http://schemas.openxmlformats.org/officeDocument/2006/relationships/slideLayout" Target="../slideLayouts/slideLayout1.xml"/><Relationship Id="R51e9117e95d84246" Type="http://schemas.openxmlformats.org/officeDocument/2006/relationships/image" Target="../media/image9.png"/><Relationship Id="Ra0185a52dad34260" Type="http://schemas.openxmlformats.org/officeDocument/2006/relationships/image" Target="../media/image7.png"/><Relationship Id="Ra52bd33a6d5947b3" Type="http://schemas.openxmlformats.org/officeDocument/2006/relationships/image" Target="../media/image8.png"/><Relationship Id="Raec4182f61b049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25eaec4a936547e7" Type="http://schemas.openxmlformats.org/officeDocument/2006/relationships/image" Target="../media/image12.png"/><Relationship Id="R4e1a6bd3d4ed4b48" Type="http://schemas.openxmlformats.org/officeDocument/2006/relationships/image" Target="../media/image11.png"/><Relationship Id="R53524ed6b2f449d7" Type="http://schemas.openxmlformats.org/officeDocument/2006/relationships/notesSlide" Target="../notesSlides/notesSlide11.xml"/><Relationship Id="R57795d3ecee74c68" Type="http://schemas.openxmlformats.org/officeDocument/2006/relationships/image" Target="../media/image14.png"/><Relationship Id="Rc534c84988624bec" Type="http://schemas.openxmlformats.org/officeDocument/2006/relationships/slideLayout" Target="../slideLayouts/slideLayout1.xml"/><Relationship Id="Rf2f595cde4c64126" Type="http://schemas.openxmlformats.org/officeDocument/2006/relationships/image" Target="../media/image13.png"/></Relationships>
</file>

<file path=ppt/slides/_rels/slide12.xml.rels><?xml version='1.0' encoding='UTF-8' standalone='yes'?>
<Relationships xmlns="http://schemas.openxmlformats.org/package/2006/relationships"><Relationship Id="R1d79fd74d34f4e82" Type="http://schemas.openxmlformats.org/officeDocument/2006/relationships/image" Target="../media/image17.png"/><Relationship Id="R374bf3545d4f4358" Type="http://schemas.openxmlformats.org/officeDocument/2006/relationships/image" Target="../media/image16.png"/><Relationship Id="R92c802d9c6234059" Type="http://schemas.openxmlformats.org/officeDocument/2006/relationships/image" Target="../media/image18.png"/><Relationship Id="Rab33bfdd1304442b" Type="http://schemas.openxmlformats.org/officeDocument/2006/relationships/image" Target="../media/image20.png"/><Relationship Id="Rbeeafc91d38a40fe" Type="http://schemas.openxmlformats.org/officeDocument/2006/relationships/slideLayout" Target="../slideLayouts/slideLayout1.xml"/><Relationship Id="Rea3b4eae08974ead" Type="http://schemas.openxmlformats.org/officeDocument/2006/relationships/image" Target="../media/image15.png"/><Relationship Id="Reed747044ca34767" Type="http://schemas.openxmlformats.org/officeDocument/2006/relationships/notesSlide" Target="../notesSlides/notesSlide12.xml"/><Relationship Id="Rf4b4e5e0bf194cee" Type="http://schemas.openxmlformats.org/officeDocument/2006/relationships/image" Target="../media/image19.png"/></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Phase 2 설계 리뷰">
            <a:extLst xmlns:a="http://schemas.openxmlformats.org/drawingml/2006/main">
              <a:ext uri="{FF2B5EF4-FFF2-40B4-BE49-F238E27FC236}">
                <a16:creationId xmlns:a16="http://schemas.microsoft.com/office/drawing/2014/main" id="{20E72ADC-5E55-44D7-93AA-1D38B3243834}"/>
              </a:ext>
            </a:extLst>
          </p:cNvPr>
          <p:cNvSpPr>
            <a:spLocks xmlns:a="http://schemas.openxmlformats.org/drawingml/2006/main" noGrp="1"/>
          </p:cNvSpPr>
          <p:nvPr/>
        </p:nvSpPr>
        <p:spPr>
          <a:xfrm xmlns:a="http://schemas.openxmlformats.org/drawingml/2006/main">
            <a:off x="-27432000" y="-274320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9ED7D8"/>
                </a:solidFill>
                <a:latin typeface="Malgun Gothic"/>
                <a:ea typeface="Malgun Gothic"/>
                <a:cs typeface="Malgun Gothic"/>
              </a:defRPr>
            </a:pPr>
            <a:r>
              <a:rPr sz="1800" b="1">
                <a:solidFill>
                  <a:srgbClr val="9ED7D8"/>
                </a:solidFill>
                <a:latin typeface="Malgun Gothic"/>
                <a:ea typeface="Malgun Gothic"/>
                <a:cs typeface="Malgun Gothic"/>
              </a:rPr>
              <a:t>코오롱베니트  ·  Red Hat 파트너 설계 리뷰</a:t>
            </a:r>
          </a:p>
        </p:txBody>
      </p:sp>
      <p:sp>
        <p:nvSpPr>
          <p:cNvPr id="2" name="하이브리드 클라우드">
            <a:extLst xmlns:a="http://schemas.openxmlformats.org/drawingml/2006/main">
              <a:ext uri="{FF2B5EF4-FFF2-40B4-BE49-F238E27FC236}">
                <a16:creationId xmlns:a16="http://schemas.microsoft.com/office/drawing/2014/main" id="{62739348-2CF6-4D55-AA9F-602881DFBC34}"/>
              </a:ext>
            </a:extLst>
          </p:cNvPr>
          <p:cNvSpPr>
            <a:spLocks xmlns:a="http://schemas.openxmlformats.org/drawingml/2006/main" noGrp="1"/>
          </p:cNvSpPr>
          <p:nvPr/>
        </p:nvSpPr>
        <p:spPr>
          <a:xfrm xmlns:a="http://schemas.openxmlformats.org/drawingml/2006/main">
            <a:off x="-27432000" y="-27432000"/>
            <a:ext cx="10820400" cy="7132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800" b="1">
                <a:solidFill>
                  <a:srgbClr val="FFFFFF"/>
                </a:solidFill>
                <a:latin typeface="Malgun Gothic"/>
                <a:ea typeface="Malgun Gothic"/>
                <a:cs typeface="Malgun Gothic"/>
              </a:defRPr>
            </a:pPr>
            <a:r>
              <a:rPr sz="4800" b="1">
                <a:solidFill>
                  <a:srgbClr val="FFFFFF"/>
                </a:solidFill>
                <a:latin typeface="Malgun Gothic"/>
                <a:ea typeface="Malgun Gothic"/>
                <a:cs typeface="Malgun Gothic"/>
              </a:rPr>
              <a:t>하이브리드 클라우드</a:t>
            </a:r>
          </a:p>
        </p:txBody>
      </p:sp>
      <p:sp>
        <p:nvSpPr>
          <p:cNvPr id="3" name="거래 처리와 위험 판정의 클라우드 실행">
            <a:extLst xmlns:a="http://schemas.openxmlformats.org/drawingml/2006/main">
              <a:ext uri="{FF2B5EF4-FFF2-40B4-BE49-F238E27FC236}">
                <a16:creationId xmlns:a16="http://schemas.microsoft.com/office/drawing/2014/main" id="{F82AFE8B-8AB5-4332-B7D8-22D277C64A94}"/>
              </a:ext>
            </a:extLst>
          </p:cNvPr>
          <p:cNvSpPr>
            <a:spLocks xmlns:a="http://schemas.openxmlformats.org/drawingml/2006/main" noGrp="1"/>
          </p:cNvSpPr>
          <p:nvPr/>
        </p:nvSpPr>
        <p:spPr>
          <a:xfrm xmlns:a="http://schemas.openxmlformats.org/drawingml/2006/main">
            <a:off x="-27432000" y="-27432000"/>
            <a:ext cx="106680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0">
                <a:solidFill>
                  <a:srgbClr val="FFFFFF"/>
                </a:solidFill>
                <a:latin typeface="Malgun Gothic"/>
                <a:ea typeface="Malgun Gothic"/>
                <a:cs typeface="Malgun Gothic"/>
              </a:defRPr>
            </a:pPr>
            <a:r>
              <a:rPr sz="2550" b="0">
                <a:solidFill>
                  <a:srgbClr val="FFFFFF"/>
                </a:solidFill>
                <a:latin typeface="Malgun Gothic"/>
                <a:ea typeface="Malgun Gothic"/>
                <a:cs typeface="Malgun Gothic"/>
              </a:rPr>
              <a:t>거래 처리와 위험 판정의 클라우드 실행</a:t>
            </a:r>
          </a:p>
        </p:txBody>
      </p:sp>
      <p:sp>
        <p:nvSpPr>
          <p:cNvPr id="4" name="기존 데이터 기반 재사용">
            <a:extLst xmlns:a="http://schemas.openxmlformats.org/drawingml/2006/main">
              <a:ext uri="{FF2B5EF4-FFF2-40B4-BE49-F238E27FC236}">
                <a16:creationId xmlns:a16="http://schemas.microsoft.com/office/drawing/2014/main" id="{D043C851-47A1-45B9-85AE-0B66EBABA466}"/>
              </a:ext>
            </a:extLst>
          </p:cNvPr>
          <p:cNvSpPr>
            <a:spLocks xmlns:a="http://schemas.openxmlformats.org/drawingml/2006/main" noGrp="1"/>
          </p:cNvSpPr>
          <p:nvPr/>
        </p:nvSpPr>
        <p:spPr>
          <a:xfrm xmlns:a="http://schemas.openxmlformats.org/drawingml/2006/main">
            <a:off x="-27432000" y="-27432000"/>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D9E7EC"/>
                </a:solidFill>
                <a:latin typeface="Malgun Gothic"/>
                <a:ea typeface="Malgun Gothic"/>
                <a:cs typeface="Malgun Gothic"/>
              </a:defRPr>
            </a:pPr>
            <a:r>
              <a:rPr sz="2175" b="0">
                <a:solidFill>
                  <a:srgbClr val="D9E7EC"/>
                </a:solidFill>
                <a:latin typeface="Malgun Gothic"/>
                <a:ea typeface="Malgun Gothic"/>
                <a:cs typeface="Malgun Gothic"/>
              </a:rPr>
              <a:t>기존 데이터 기반 재사용</a:t>
            </a:r>
          </a:p>
          <a:p xmlns:a="http://schemas.openxmlformats.org/drawingml/2006/main">
            <a:pPr algn="l">
              <a:buNone/>
              <a:defRPr sz="2175" b="0">
                <a:solidFill>
                  <a:srgbClr val="D9E7EC"/>
                </a:solidFill>
                <a:latin typeface="Malgun Gothic"/>
                <a:ea typeface="Malgun Gothic"/>
                <a:cs typeface="Malgun Gothic"/>
              </a:defRPr>
            </a:pPr>
            <a:r>
              <a:rPr sz="2175" b="0">
                <a:solidFill>
                  <a:srgbClr val="D9E7EC"/>
                </a:solidFill>
                <a:latin typeface="Malgun Gothic"/>
                <a:ea typeface="Malgun Gothic"/>
                <a:cs typeface="Malgun Gothic"/>
              </a:rPr>
              <a:t>필수 업무 연결·배포·복구를 먼저 검증</a:t>
            </a:r>
          </a:p>
        </p:txBody>
      </p:sp>
      <p:sp>
        <p:nvSpPr>
          <p:cNvPr id="5" name="Phase 1 인수 및 기반서비스 인계 완료">
            <a:extLst xmlns:a="http://schemas.openxmlformats.org/drawingml/2006/main">
              <a:ext uri="{FF2B5EF4-FFF2-40B4-BE49-F238E27FC236}">
                <a16:creationId xmlns:a16="http://schemas.microsoft.com/office/drawing/2014/main" id="{8C093371-C56F-4746-B4C6-5C1D19798704}"/>
              </a:ext>
            </a:extLst>
          </p:cNvPr>
          <p:cNvSpPr>
            <a:spLocks xmlns:a="http://schemas.openxmlformats.org/drawingml/2006/main" noGrp="1"/>
          </p:cNvSpPr>
          <p:nvPr/>
        </p:nvSpPr>
        <p:spPr>
          <a:xfrm xmlns:a="http://schemas.openxmlformats.org/drawingml/2006/main">
            <a:off x="-27432000" y="-27432000"/>
            <a:ext cx="1038225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FFFFFF"/>
                </a:solidFill>
                <a:latin typeface="Malgun Gothic"/>
                <a:ea typeface="Malgun Gothic"/>
                <a:cs typeface="Malgun Gothic"/>
              </a:defRPr>
            </a:pPr>
            <a:r>
              <a:rPr sz="1600" b="1">
                <a:solidFill>
                  <a:srgbClr val="FFFFFF"/>
                </a:solidFill>
                <a:latin typeface="Malgun Gothic"/>
                <a:ea typeface="Malgun Gothic"/>
                <a:cs typeface="Malgun Gothic"/>
              </a:rPr>
              <a:t>저희는 Phase 1에서 데이터베이스와 기반서비스를 인수했습니다</a:t>
            </a:r>
          </a:p>
        </p:txBody>
      </p:sp>
      <p:sp>
        <p:nvSpPr>
          <p:cNvPr id="6" name="설계 방향과 담당자별 구축 계획 검토     2026.10.06">
            <a:extLst xmlns:a="http://schemas.openxmlformats.org/drawingml/2006/main">
              <a:ext uri="{FF2B5EF4-FFF2-40B4-BE49-F238E27FC236}">
                <a16:creationId xmlns:a16="http://schemas.microsoft.com/office/drawing/2014/main" id="{9792A0ED-A520-4B99-9556-890A9B4307D7}"/>
              </a:ext>
            </a:extLst>
          </p:cNvPr>
          <p:cNvSpPr>
            <a:spLocks xmlns:a="http://schemas.openxmlformats.org/drawingml/2006/main" noGrp="1"/>
          </p:cNvSpPr>
          <p:nvPr/>
        </p:nvSpPr>
        <p:spPr>
          <a:xfrm xmlns:a="http://schemas.openxmlformats.org/drawingml/2006/main">
            <a:off x="-27432000" y="-27432000"/>
            <a:ext cx="10001250"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B8CEDA"/>
                </a:solidFill>
                <a:latin typeface="Malgun Gothic"/>
                <a:ea typeface="Malgun Gothic"/>
                <a:cs typeface="Malgun Gothic"/>
              </a:defRPr>
            </a:pPr>
            <a:r>
              <a:rPr sz="1400" b="0">
                <a:solidFill>
                  <a:srgbClr val="D5E6EE"/>
                </a:solidFill>
                <a:latin typeface="Malgun Gothic"/>
                <a:ea typeface="Malgun Gothic"/>
                <a:cs typeface="Malgun Gothic"/>
              </a:rPr>
              <a:t>오늘 설계 방향과, 구축 전에 정해야 할 조건을 검토받습니다    2026.10.06</a:t>
            </a:r>
          </a:p>
        </p:txBody>
      </p:sp>
      <p:sp xmlns:a="http://schemas.openxmlformats.org/drawingml/2006/main">
        <p:nvSpPr>
          <p:cNvPr id="8" name="Rounded Rectangle 7"/>
          <p:cNvSpPr/>
          <p:nvPr/>
        </p:nvSpPr>
        <p:spPr>
          <a:xfrm>
            <a:off x="-27432000" y="-27432000"/>
            <a:ext cx="3520440" cy="2240280"/>
          </a:xfrm>
          <a:prstGeom prst="roundRect">
            <a:avLst>
              <a:gd name="adj" fmla="val 8000"/>
            </a:avLst>
          </a:prstGeom>
          <a:solidFill>
            <a:srgbClr val="1B3E56"/>
          </a:solidFill>
          <a:ln w="15875">
            <a:solidFill>
              <a:srgbClr val="1F8A8A"/>
            </a:solid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256032" bIns="73152"/>
          <a:lstStyle/>
          <a:p>
            <a:pPr algn="l">
              <a:spcAft>
                <a:spcPts val="200"/>
              </a:spcAft>
            </a:pPr>
            <a:r>
              <a:rPr sz="1500" b="1">
                <a:solidFill>
                  <a:srgbClr val="FFFFFF"/>
                </a:solidFill>
                <a:latin typeface="Malgun Gothic"/>
                <a:ea typeface="Malgun Gothic"/>
                <a:cs typeface="Malgun Gothic"/>
              </a:rPr>
              <a:t>01   기존 데이터를 재사용</a:t>
            </a:r>
          </a:p>
          <a:p>
            <a:pPr algn="l">
              <a:spcAft>
                <a:spcPts val="200"/>
              </a:spcAft>
            </a:pPr>
            <a:r>
              <a:rPr sz="1200" b="0">
                <a:solidFill>
                  <a:srgbClr val="D5E6EE"/>
                </a:solidFill>
                <a:latin typeface="Malgun Gothic"/>
                <a:ea typeface="Malgun Gothic"/>
                <a:cs typeface="Malgun Gothic"/>
              </a:rPr>
              <a:t>거래와 판정 결과는
이미 있는 DB에 기록합니다</a:t>
            </a:r>
          </a:p>
        </p:txBody>
      </p:sp>
      <p:sp xmlns:a="http://schemas.openxmlformats.org/drawingml/2006/main">
        <p:nvSpPr>
          <p:cNvPr id="9" name="Rounded Rectangle 8"/>
          <p:cNvSpPr/>
          <p:nvPr/>
        </p:nvSpPr>
        <p:spPr>
          <a:xfrm>
            <a:off x="-27432000" y="-27432000"/>
            <a:ext cx="3520440" cy="2240280"/>
          </a:xfrm>
          <a:prstGeom prst="roundRect">
            <a:avLst>
              <a:gd name="adj" fmla="val 8000"/>
            </a:avLst>
          </a:prstGeom>
          <a:solidFill>
            <a:srgbClr val="1B3E56"/>
          </a:solidFill>
          <a:ln w="15875">
            <a:solidFill>
              <a:srgbClr val="1F8A8A"/>
            </a:solid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256032" bIns="73152"/>
          <a:lstStyle/>
          <a:p>
            <a:pPr algn="l">
              <a:spcAft>
                <a:spcPts val="200"/>
              </a:spcAft>
            </a:pPr>
            <a:r>
              <a:rPr sz="1500" b="1">
                <a:solidFill>
                  <a:srgbClr val="FFFFFF"/>
                </a:solidFill>
                <a:latin typeface="Malgun Gothic"/>
                <a:ea typeface="Malgun Gothic"/>
                <a:cs typeface="Malgun Gothic"/>
              </a:rPr>
              <a:t>02   연결과 복구를 먼저</a:t>
            </a:r>
          </a:p>
          <a:p>
            <a:pPr algn="l">
              <a:spcAft>
                <a:spcPts val="200"/>
              </a:spcAft>
            </a:pPr>
            <a:r>
              <a:rPr sz="1200" b="0">
                <a:solidFill>
                  <a:srgbClr val="D5E6EE"/>
                </a:solidFill>
                <a:latin typeface="Malgun Gothic"/>
                <a:ea typeface="Malgun Gothic"/>
                <a:cs typeface="Malgun Gothic"/>
              </a:rPr>
              <a:t>필수 업무 경로와
배포·실패·복구를 검증합니다</a:t>
            </a:r>
          </a:p>
        </p:txBody>
      </p:sp>
      <p:sp xmlns:a="http://schemas.openxmlformats.org/drawingml/2006/main">
        <p:nvSpPr>
          <p:cNvPr id="10" name="Rounded Rectangle 9"/>
          <p:cNvSpPr/>
          <p:nvPr/>
        </p:nvSpPr>
        <p:spPr>
          <a:xfrm>
            <a:off x="-27432000" y="-27432000"/>
            <a:ext cx="3520440" cy="2240280"/>
          </a:xfrm>
          <a:prstGeom prst="roundRect">
            <a:avLst>
              <a:gd name="adj" fmla="val 8000"/>
            </a:avLst>
          </a:prstGeom>
          <a:solidFill>
            <a:srgbClr val="1B3E56"/>
          </a:solidFill>
          <a:ln w="15875">
            <a:solidFill>
              <a:srgbClr val="1F8A8A"/>
            </a:solid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256032" bIns="73152"/>
          <a:lstStyle/>
          <a:p>
            <a:pPr algn="l">
              <a:spcAft>
                <a:spcPts val="200"/>
              </a:spcAft>
            </a:pPr>
            <a:r>
              <a:rPr sz="1500" b="1">
                <a:solidFill>
                  <a:srgbClr val="FFFFFF"/>
                </a:solidFill>
                <a:latin typeface="Malgun Gothic"/>
                <a:ea typeface="Malgun Gothic"/>
                <a:cs typeface="Malgun Gothic"/>
              </a:rPr>
              <a:t>03   오늘 정할 조건</a:t>
            </a:r>
          </a:p>
          <a:p>
            <a:pPr algn="l">
              <a:spcAft>
                <a:spcPts val="200"/>
              </a:spcAft>
            </a:pPr>
            <a:r>
              <a:rPr sz="1200" b="0">
                <a:solidFill>
                  <a:srgbClr val="D5E6EE"/>
                </a:solidFill>
                <a:latin typeface="Malgun Gothic"/>
                <a:ea typeface="Malgun Gothic"/>
                <a:cs typeface="Malgun Gothic"/>
              </a:rPr>
              <a:t>생성 방식, 비용, 작업 창은
구축 전에 함께 정합니다</a:t>
            </a:r>
          </a:p>
        </p:txBody>
      </p:sp>
      <p:sp xmlns:a="http://schemas.openxmlformats.org/drawingml/2006/main">
        <p:nvSpPr>
          <p:cNvPr id="11" name="Rectangle 10"/>
          <p:cNvSpPr/>
          <p:nvPr/>
        </p:nvSpPr>
        <p:spPr>
          <a:xfrm>
            <a:off x="640080" y="438912"/>
            <a:ext cx="658368" cy="73152"/>
          </a:xfrm>
          <a:prstGeom prst="rect">
            <a:avLst/>
          </a:prstGeom>
          <a:solidFill>
            <a:srgbClr val="1F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640080" y="658368"/>
            <a:ext cx="10515600" cy="7132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109728" bIns="73152"/>
          <a:lstStyle/>
          <a:p>
            <a:pPr algn="l">
              <a:spcAft>
                <a:spcPts val="300"/>
              </a:spcAft>
            </a:pPr>
            <a:r>
              <a:rPr sz="2400" b="1">
                <a:solidFill>
                  <a:srgbClr val="1C242B"/>
                </a:solidFill>
                <a:latin typeface="Malgun Gothic"/>
                <a:ea typeface="Malgun Gothic"/>
                <a:cs typeface="Malgun Gothic"/>
              </a:rPr>
              <a:t>Phase 2 설계 리뷰</a:t>
            </a:r>
          </a:p>
        </p:txBody>
      </p:sp>
      <p:sp xmlns:a="http://schemas.openxmlformats.org/drawingml/2006/main">
        <p:nvSpPr>
          <p:cNvPr id="13" name="Rectangle 12"/>
          <p:cNvSpPr/>
          <p:nvPr/>
        </p:nvSpPr>
        <p:spPr>
          <a:xfrm>
            <a:off x="640080" y="1389888"/>
            <a:ext cx="1051560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109728" bIns="73152"/>
          <a:lstStyle/>
          <a:p>
            <a:pPr algn="l">
              <a:spcAft>
                <a:spcPts val="300"/>
              </a:spcAft>
            </a:pPr>
            <a:r>
              <a:rPr sz="1400" b="0">
                <a:solidFill>
                  <a:srgbClr val="3D4C57"/>
                </a:solidFill>
                <a:latin typeface="Malgun Gothic"/>
                <a:ea typeface="Malgun Gothic"/>
                <a:cs typeface="Malgun Gothic"/>
              </a:rPr>
              <a:t>코오롱베니트 · Red Hat 파트너 검토    오늘 정할 네 가지</a:t>
            </a:r>
          </a:p>
        </p:txBody>
      </p:sp>
      <p:sp xmlns:a="http://schemas.openxmlformats.org/drawingml/2006/main">
        <p:nvSpPr>
          <p:cNvPr id="14" name="Rounded Rectangle 13"/>
          <p:cNvSpPr/>
          <p:nvPr/>
        </p:nvSpPr>
        <p:spPr>
          <a:xfrm>
            <a:off x="640080" y="2148840"/>
            <a:ext cx="2651760" cy="2880360"/>
          </a:xfrm>
          <a:prstGeom prst="roundRect">
            <a:avLst>
              <a:gd name="adj" fmla="val 8000"/>
            </a:avLst>
          </a:prstGeom>
          <a:solidFill>
            <a:srgbClr val="F7FBFB"/>
          </a:solidFill>
          <a:ln w="15875">
            <a:solidFill>
              <a:srgbClr val="D5E4E4"/>
            </a:solid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109728" bIns="73152"/>
          <a:lstStyle/>
          <a:p>
            <a:pPr algn="l">
              <a:spcAft>
                <a:spcPts val="300"/>
              </a:spcAft>
            </a:pPr>
            <a:r>
              <a:rPr sz="1300" b="1">
                <a:solidFill>
                  <a:srgbClr val="1C242B"/>
                </a:solidFill>
                <a:latin typeface="Malgun Gothic"/>
                <a:ea typeface="Malgun Gothic"/>
                <a:cs typeface="Malgun Gothic"/>
              </a:rPr>
              <a:t>DB 연결</a:t>
            </a:r>
          </a:p>
          <a:p>
            <a:pPr algn="l">
              <a:spcAft>
                <a:spcPts val="300"/>
              </a:spcAft>
            </a:pPr>
            <a:r>
              <a:rPr sz="1100" b="0">
                <a:solidFill>
                  <a:srgbClr val="3D4C57"/>
                </a:solidFill>
                <a:latin typeface="Malgun Gothic"/>
                <a:ea typeface="Malgun Gothic"/>
                <a:cs typeface="Malgun Gothic"/>
              </a:rPr>
              <a:t>앱 판정 전에
최소 DB 창</a:t>
            </a:r>
          </a:p>
        </p:txBody>
      </p:sp>
      <p:sp xmlns:a="http://schemas.openxmlformats.org/drawingml/2006/main">
        <p:nvSpPr>
          <p:cNvPr id="15" name="Rounded Rectangle 14"/>
          <p:cNvSpPr/>
          <p:nvPr/>
        </p:nvSpPr>
        <p:spPr>
          <a:xfrm>
            <a:off x="3474720" y="2148840"/>
            <a:ext cx="2651760" cy="2880360"/>
          </a:xfrm>
          <a:prstGeom prst="roundRect">
            <a:avLst>
              <a:gd name="adj" fmla="val 8000"/>
            </a:avLst>
          </a:prstGeom>
          <a:solidFill>
            <a:srgbClr val="F7FBFB"/>
          </a:solidFill>
          <a:ln w="15875">
            <a:solidFill>
              <a:srgbClr val="D5E4E4"/>
            </a:solid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109728" bIns="73152"/>
          <a:lstStyle/>
          <a:p>
            <a:pPr algn="l">
              <a:spcAft>
                <a:spcPts val="300"/>
              </a:spcAft>
            </a:pPr>
            <a:r>
              <a:rPr sz="1300" b="1">
                <a:solidFill>
                  <a:srgbClr val="1C242B"/>
                </a:solidFill>
                <a:latin typeface="Malgun Gothic"/>
                <a:ea typeface="Malgun Gothic"/>
                <a:cs typeface="Malgun Gothic"/>
              </a:rPr>
              <a:t>이미지 배포</a:t>
            </a:r>
          </a:p>
          <a:p>
            <a:pPr algn="l">
              <a:spcAft>
                <a:spcPts val="300"/>
              </a:spcAft>
            </a:pPr>
            <a:r>
              <a:rPr sz="1100" b="0">
                <a:solidFill>
                  <a:srgbClr val="3D4C57"/>
                </a:solidFill>
                <a:latin typeface="Malgun Gothic"/>
                <a:ea typeface="Malgun Gothic"/>
                <a:cs typeface="Malgun Gothic"/>
              </a:rPr>
              <a:t>Harbor는 후보
Runner 직접 배포</a:t>
            </a:r>
          </a:p>
        </p:txBody>
      </p:sp>
      <p:sp xmlns:a="http://schemas.openxmlformats.org/drawingml/2006/main">
        <p:nvSpPr>
          <p:cNvPr id="16" name="Rounded Rectangle 15"/>
          <p:cNvSpPr/>
          <p:nvPr/>
        </p:nvSpPr>
        <p:spPr>
          <a:xfrm>
            <a:off x="6309360" y="2148840"/>
            <a:ext cx="2651760" cy="2880360"/>
          </a:xfrm>
          <a:prstGeom prst="roundRect">
            <a:avLst>
              <a:gd name="adj" fmla="val 8000"/>
            </a:avLst>
          </a:prstGeom>
          <a:solidFill>
            <a:srgbClr val="F7FBFB"/>
          </a:solidFill>
          <a:ln w="15875">
            <a:solidFill>
              <a:srgbClr val="D5E4E4"/>
            </a:solid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109728" bIns="73152"/>
          <a:lstStyle/>
          <a:p>
            <a:pPr algn="l">
              <a:spcAft>
                <a:spcPts val="300"/>
              </a:spcAft>
            </a:pPr>
            <a:r>
              <a:rPr sz="1300" b="1">
                <a:solidFill>
                  <a:srgbClr val="1C242B"/>
                </a:solidFill>
                <a:latin typeface="Malgun Gothic"/>
                <a:ea typeface="Malgun Gothic"/>
                <a:cs typeface="Malgun Gothic"/>
              </a:rPr>
              <a:t>ROSA 방식</a:t>
            </a:r>
          </a:p>
          <a:p>
            <a:pPr algn="l">
              <a:spcAft>
                <a:spcPts val="300"/>
              </a:spcAft>
            </a:pPr>
            <a:r>
              <a:rPr sz="1100" b="0">
                <a:solidFill>
                  <a:srgbClr val="3D4C57"/>
                </a:solidFill>
                <a:latin typeface="Malgun Gothic"/>
                <a:ea typeface="Malgun Gothic"/>
                <a:cs typeface="Malgun Gothic"/>
              </a:rPr>
              <a:t>한 가지 생성 경로
비용은 미확정</a:t>
            </a:r>
          </a:p>
        </p:txBody>
      </p:sp>
      <p:sp xmlns:a="http://schemas.openxmlformats.org/drawingml/2006/main">
        <p:nvSpPr>
          <p:cNvPr id="17" name="Rounded Rectangle 16"/>
          <p:cNvSpPr/>
          <p:nvPr/>
        </p:nvSpPr>
        <p:spPr>
          <a:xfrm>
            <a:off x="9144000" y="2148840"/>
            <a:ext cx="2651760" cy="2880360"/>
          </a:xfrm>
          <a:prstGeom prst="roundRect">
            <a:avLst>
              <a:gd name="adj" fmla="val 8000"/>
            </a:avLst>
          </a:prstGeom>
          <a:solidFill>
            <a:srgbClr val="F7FBFB"/>
          </a:solidFill>
          <a:ln w="15875">
            <a:solidFill>
              <a:srgbClr val="D5E4E4"/>
            </a:solid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109728" bIns="73152"/>
          <a:lstStyle/>
          <a:p>
            <a:pPr algn="l">
              <a:spcAft>
                <a:spcPts val="300"/>
              </a:spcAft>
            </a:pPr>
            <a:r>
              <a:rPr sz="1300" b="1">
                <a:solidFill>
                  <a:srgbClr val="1C242B"/>
                </a:solidFill>
                <a:latin typeface="Malgun Gothic"/>
                <a:ea typeface="Malgun Gothic"/>
                <a:cs typeface="Malgun Gothic"/>
              </a:rPr>
              <a:t>작업 창</a:t>
            </a:r>
          </a:p>
          <a:p>
            <a:pPr algn="l">
              <a:spcAft>
                <a:spcPts val="300"/>
              </a:spcAft>
            </a:pPr>
            <a:r>
              <a:rPr sz="1100" b="0">
                <a:solidFill>
                  <a:srgbClr val="3D4C57"/>
                </a:solidFill>
                <a:latin typeface="Malgun Gothic"/>
                <a:ea typeface="Malgun Gothic"/>
                <a:cs typeface="Malgun Gothic"/>
              </a:rPr>
              <a:t>지원 인계만 확정
담당·기한 유지</a:t>
            </a:r>
          </a:p>
        </p:txBody>
      </p:sp>
      <p:sp xmlns:a="http://schemas.openxmlformats.org/drawingml/2006/main">
        <p:nvSpPr>
          <p:cNvPr id="18" name="Rectangle 17"/>
          <p:cNvSpPr/>
          <p:nvPr/>
        </p:nvSpPr>
        <p:spPr>
          <a:xfrm>
            <a:off x="640080" y="5897880"/>
            <a:ext cx="1051560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109728" bIns="73152"/>
          <a:lstStyle/>
          <a:p>
            <a:pPr algn="l">
              <a:spcAft>
                <a:spcPts val="300"/>
              </a:spcAft>
            </a:pPr>
            <a:r>
              <a:rPr sz="1400" b="1">
                <a:solidFill>
                  <a:srgbClr val="1F8A8A"/>
                </a:solidFill>
                <a:latin typeface="Malgun Gothic"/>
                <a:ea typeface="Malgun Gothic"/>
                <a:cs typeface="Malgun Gothic"/>
              </a:rPr>
              <a:t>저희는 Phase 1에서 DB와 기반서비스를 인수했습니다    2026.10.06</a:t>
            </a:r>
          </a:p>
        </p:txBody>
      </p:sp>
    </p:spTree>
    <p:extLst>
      <p:ext uri="{BB962C8B-B14F-4D97-AF65-F5344CB8AC3E}">
        <p14:creationId xmlns:p14="http://schemas.microsoft.com/office/powerpoint/2010/main" val="18011374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4" name=""/>
          <p:cNvPicPr>
            <a:picLocks xmlns:a="http://schemas.openxmlformats.org/drawingml/2006/main" noChangeAspect="1"/>
          </p:cNvPicPr>
          <p:nvPr/>
        </p:nvPicPr>
        <p:blipFill>
          <a:blip xmlns:r="http://schemas.openxmlformats.org/officeDocument/2006/relationships" xmlns:a="http://schemas.openxmlformats.org/drawingml/2006/main" r:embed="R5e56e7a9d7d14bce"/>
          <a:stretch xmlns:a="http://schemas.openxmlformats.org/drawingml/2006/main"/>
        </p:blipFill>
        <p:spPr>
          <a:xfrm xmlns:a="http://schemas.openxmlformats.org/drawingml/2006/main">
            <a:off x="2838450" y="2447925"/>
            <a:ext cx="400050" cy="400050"/>
          </a:xfrm>
          <a:prstGeom xmlns:a="http://schemas.openxmlformats.org/drawingml/2006/main" prst="rect">
            <a:avLst/>
          </a:prstGeom>
        </p:spPr>
      </p:pic>
      <p:pic>
        <p:nvPicPr>
          <p:cNvPr id="155" name=""/>
          <p:cNvPicPr>
            <a:picLocks xmlns:a="http://schemas.openxmlformats.org/drawingml/2006/main" noChangeAspect="1"/>
          </p:cNvPicPr>
          <p:nvPr/>
        </p:nvPicPr>
        <p:blipFill>
          <a:blip xmlns:r="http://schemas.openxmlformats.org/officeDocument/2006/relationships" xmlns:a="http://schemas.openxmlformats.org/drawingml/2006/main" r:embed="Rca120f8747bc4ec3"/>
          <a:stretch xmlns:a="http://schemas.openxmlformats.org/drawingml/2006/main"/>
        </p:blipFill>
        <p:spPr>
          <a:xfrm xmlns:a="http://schemas.openxmlformats.org/drawingml/2006/main">
            <a:off x="9077325" y="3486150"/>
            <a:ext cx="457200" cy="457200"/>
          </a:xfrm>
          <a:prstGeom xmlns:a="http://schemas.openxmlformats.org/drawingml/2006/main" prst="rect">
            <a:avLst/>
          </a:prstGeom>
        </p:spPr>
      </p:pic>
      <p:sp>
        <p:nvSpPr>
          <p:cNvPr id="106" name="업무 흐름과 데이터 책임">
            <a:extLst xmlns:a="http://schemas.openxmlformats.org/drawingml/2006/main">
              <a:ext uri="{FF2B5EF4-FFF2-40B4-BE49-F238E27FC236}">
                <a16:creationId xmlns:a16="http://schemas.microsoft.com/office/drawing/2014/main" id="{A75E4313-285C-426D-ABF3-08F57723F591}"/>
              </a:ext>
            </a:extLst>
          </p:cNvPr>
          <p:cNvSpPr>
            <a:spLocks xmlns:a="http://schemas.openxmlformats.org/drawingml/2006/main" noGrp="1"/>
          </p:cNvSpPr>
          <p:nvPr/>
        </p:nvSpPr>
        <p:spPr>
          <a:xfrm xmlns:a="http://schemas.openxmlformats.org/drawingml/2006/main">
            <a:off x="685800" y="40957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1">
                <a:solidFill>
                  <a:srgbClr val="142D40"/>
                </a:solidFill>
                <a:latin typeface="Malgun Gothic"/>
                <a:ea typeface="Malgun Gothic"/>
                <a:cs typeface="Malgun Gothic"/>
              </a:defRPr>
            </a:pPr>
            <a:r>
              <a:rPr sz="2400" b="1">
                <a:solidFill>
                  <a:srgbClr val="1C242B"/>
                </a:solidFill>
                <a:latin typeface="Malgun Gothic"/>
                <a:ea typeface="Malgun Gothic"/>
                <a:cs typeface="Malgun Gothic"/>
              </a:rPr>
              <a:t>업무 흐름과 데이터 책임</a:t>
            </a:r>
          </a:p>
        </p:txBody>
      </p:sp>
      <p:sp>
        <p:nvSpPr>
          <p:cNvPr id="107" name="거래 접수 서비스가 위험 판정을 요청하고, 거래·판정 결과를 기존 DB에 저장합니다">
            <a:extLst xmlns:a="http://schemas.openxmlformats.org/drawingml/2006/main">
              <a:ext uri="{FF2B5EF4-FFF2-40B4-BE49-F238E27FC236}">
                <a16:creationId xmlns:a16="http://schemas.microsoft.com/office/drawing/2014/main" id="{D7EC707D-F566-4E3A-85EC-979D2BB39310}"/>
              </a:ext>
            </a:extLst>
          </p:cNvPr>
          <p:cNvSpPr>
            <a:spLocks xmlns:a="http://schemas.openxmlformats.org/drawingml/2006/main" noGrp="1"/>
          </p:cNvSpPr>
          <p:nvPr/>
        </p:nvSpPr>
        <p:spPr>
          <a:xfrm xmlns:a="http://schemas.openxmlformats.org/drawingml/2006/main">
            <a:off x="685800" y="10763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26675"/>
                </a:solidFill>
                <a:latin typeface="Malgun Gothic"/>
                <a:ea typeface="Malgun Gothic"/>
                <a:cs typeface="Malgun Gothic"/>
              </a:defRPr>
            </a:pPr>
            <a:r>
              <a:rPr sz="1400" b="0">
                <a:solidFill>
                  <a:srgbClr val="3D4C57"/>
                </a:solidFill>
                <a:latin typeface="Malgun Gothic"/>
                <a:ea typeface="Malgun Gothic"/>
                <a:cs typeface="Malgun Gothic"/>
              </a:rPr>
              <a:t>거래 접수 서비스가 위험 판정을 요청하고, 거래·판정 결과를 기존 DB에 저장합니다</a:t>
            </a:r>
          </a:p>
        </p:txBody>
      </p:sp>
      <p:sp>
        <p:nvSpPr>
          <p:cNvPr id="108" name="02">
            <a:extLst xmlns:a="http://schemas.openxmlformats.org/drawingml/2006/main">
              <a:ext uri="{FF2B5EF4-FFF2-40B4-BE49-F238E27FC236}">
                <a16:creationId xmlns:a16="http://schemas.microsoft.com/office/drawing/2014/main" id="{866B54F0-5B18-458E-956D-B62F1157F83D}"/>
              </a:ext>
            </a:extLst>
          </p:cNvPr>
          <p:cNvSpPr>
            <a:spLocks xmlns:a="http://schemas.openxmlformats.org/drawingml/2006/main" noGrp="1"/>
          </p:cNvSpPr>
          <p:nvPr/>
        </p:nvSpPr>
        <p:spPr>
          <a:xfrm xmlns:a="http://schemas.openxmlformats.org/drawingml/2006/main">
            <a:off x="10620375" y="6410325"/>
            <a:ext cx="885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26675"/>
                </a:solidFill>
                <a:latin typeface="Malgun Gothic"/>
                <a:ea typeface="Malgun Gothic"/>
                <a:cs typeface="Malgun Gothic"/>
              </a:defRPr>
            </a:pPr>
            <a:r>
              <a:rPr sz="1200" b="0">
                <a:solidFill>
                  <a:srgbClr val="526675"/>
                </a:solidFill>
                <a:latin typeface="Malgun Gothic"/>
                <a:ea typeface="Malgun Gothic"/>
                <a:cs typeface="Malgun Gothic"/>
              </a:rPr>
              <a:t>02</a:t>
            </a:r>
          </a:p>
        </p:txBody>
      </p:sp>
      <p:sp>
        <p:nvSpPr>
          <p:cNvPr id="109" name="">
            <a:extLst xmlns:a="http://schemas.openxmlformats.org/drawingml/2006/main">
              <a:ext uri="{FF2B5EF4-FFF2-40B4-BE49-F238E27FC236}">
                <a16:creationId xmlns:a16="http://schemas.microsoft.com/office/drawing/2014/main" id="{A63383F8-80BF-4D4A-B619-EEF7EE4AE495}"/>
              </a:ext>
            </a:extLst>
          </p:cNvPr>
          <p:cNvSpPr>
            <a:spLocks xmlns:a="http://schemas.openxmlformats.org/drawingml/2006/main" noGrp="1"/>
          </p:cNvSpPr>
          <p:nvPr/>
        </p:nvSpPr>
        <p:spPr>
          <a:xfrm xmlns:a="http://schemas.openxmlformats.org/drawingml/2006/main">
            <a:off x="2571750" y="2247900"/>
            <a:ext cx="5276850" cy="3219450"/>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10" name="클라우드 업무 실행  ROSA">
            <a:extLst xmlns:a="http://schemas.openxmlformats.org/drawingml/2006/main">
              <a:ext uri="{FF2B5EF4-FFF2-40B4-BE49-F238E27FC236}">
                <a16:creationId xmlns:a16="http://schemas.microsoft.com/office/drawing/2014/main" id="{496E70DC-6A7B-4579-9B98-26BB9E8C5479}"/>
              </a:ext>
            </a:extLst>
          </p:cNvPr>
          <p:cNvSpPr>
            <a:spLocks xmlns:a="http://schemas.openxmlformats.org/drawingml/2006/main" noGrp="1"/>
          </p:cNvSpPr>
          <p:nvPr/>
        </p:nvSpPr>
        <p:spPr>
          <a:xfrm xmlns:a="http://schemas.openxmlformats.org/drawingml/2006/main">
            <a:off x="3400425" y="2457450"/>
            <a:ext cx="4219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D40"/>
                </a:solidFill>
                <a:latin typeface="Malgun Gothic"/>
                <a:ea typeface="Malgun Gothic"/>
                <a:cs typeface="Malgun Gothic"/>
              </a:defRPr>
            </a:pPr>
            <a:r>
              <a:rPr sz="2100" b="1">
                <a:solidFill>
                  <a:srgbClr val="142D40"/>
                </a:solidFill>
                <a:latin typeface="Malgun Gothic"/>
                <a:ea typeface="Malgun Gothic"/>
                <a:cs typeface="Malgun Gothic"/>
              </a:rPr>
              <a:t>클라우드 업무 실행  ROSA</a:t>
            </a:r>
          </a:p>
        </p:txBody>
      </p:sp>
      <p:sp>
        <p:nvSpPr>
          <p:cNvPr id="111" name="">
            <a:extLst xmlns:a="http://schemas.openxmlformats.org/drawingml/2006/main">
              <a:ext uri="{FF2B5EF4-FFF2-40B4-BE49-F238E27FC236}">
                <a16:creationId xmlns:a16="http://schemas.microsoft.com/office/drawing/2014/main" id="{637BDFF5-409F-4992-903C-486779B7A786}"/>
              </a:ext>
            </a:extLst>
          </p:cNvPr>
          <p:cNvSpPr>
            <a:spLocks xmlns:a="http://schemas.openxmlformats.org/drawingml/2006/main" noGrp="1"/>
          </p:cNvSpPr>
          <p:nvPr/>
        </p:nvSpPr>
        <p:spPr>
          <a:xfrm xmlns:a="http://schemas.openxmlformats.org/drawingml/2006/main">
            <a:off x="685800" y="3295650"/>
            <a:ext cx="1409700" cy="857250"/>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12" name="승인된">
            <a:extLst xmlns:a="http://schemas.openxmlformats.org/drawingml/2006/main">
              <a:ext uri="{FF2B5EF4-FFF2-40B4-BE49-F238E27FC236}">
                <a16:creationId xmlns:a16="http://schemas.microsoft.com/office/drawing/2014/main" id="{01498B92-3F82-4BB3-8EDF-6FF2C9D9BA0F}"/>
              </a:ext>
            </a:extLst>
          </p:cNvPr>
          <p:cNvSpPr>
            <a:spLocks xmlns:a="http://schemas.openxmlformats.org/drawingml/2006/main" noGrp="1"/>
          </p:cNvSpPr>
          <p:nvPr/>
        </p:nvSpPr>
        <p:spPr>
          <a:xfrm xmlns:a="http://schemas.openxmlformats.org/drawingml/2006/main">
            <a:off x="800100" y="3429000"/>
            <a:ext cx="1181100" cy="7383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승인된</a:t>
            </a:r>
          </a:p>
          <a:p xmlns:a="http://schemas.openxmlformats.org/drawingml/2006/main">
            <a:pPr algn="ctr">
              <a:buNone/>
              <a:defRPr sz="1800"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사용자</a:t>
            </a:r>
          </a:p>
        </p:txBody>
      </p:sp>
      <p:sp>
        <p:nvSpPr>
          <p:cNvPr id="113" name="">
            <a:extLst xmlns:a="http://schemas.openxmlformats.org/drawingml/2006/main">
              <a:ext uri="{FF2B5EF4-FFF2-40B4-BE49-F238E27FC236}">
                <a16:creationId xmlns:a16="http://schemas.microsoft.com/office/drawing/2014/main" id="{675BCF67-ABBC-445C-B9E9-556D4F21A92A}"/>
              </a:ext>
            </a:extLst>
          </p:cNvPr>
          <p:cNvSpPr>
            <a:spLocks xmlns:a="http://schemas.openxmlformats.org/drawingml/2006/main" noGrp="1"/>
          </p:cNvSpPr>
          <p:nvPr/>
        </p:nvSpPr>
        <p:spPr>
          <a:xfrm xmlns:a="http://schemas.openxmlformats.org/drawingml/2006/main">
            <a:off x="2914650" y="3305175"/>
            <a:ext cx="2314575" cy="857250"/>
          </a:xfrm>
          <a:prstGeom xmlns:a="http://schemas.openxmlformats.org/drawingml/2006/main" prst="rect">
            <a:avLst/>
          </a:prstGeom>
          <a:noFill xmlns:a="http://schemas.openxmlformats.org/drawingml/2006/main"/>
          <a:ln xmlns:a="http://schemas.openxmlformats.org/drawingml/2006/main" w="14288">
            <a:solidFill>
              <a:srgbClr val="0F6A6C"/>
            </a:solidFill>
            <a:prstDash val="solid"/>
          </a:ln>
        </p:spPr>
        <p:txBody xmlns:a="http://schemas.openxmlformats.org/drawingml/2006/main">
          <a:bodyPr/>
          <a:p/>
        </p:txBody>
      </p:sp>
      <p:sp>
        <p:nvSpPr>
          <p:cNvPr id="114" name="거래 접수·저장">
            <a:extLst xmlns:a="http://schemas.openxmlformats.org/drawingml/2006/main">
              <a:ext uri="{FF2B5EF4-FFF2-40B4-BE49-F238E27FC236}">
                <a16:creationId xmlns:a16="http://schemas.microsoft.com/office/drawing/2014/main" id="{1ADB82D7-7409-4CC4-81C4-A6C9C4A2A641}"/>
              </a:ext>
            </a:extLst>
          </p:cNvPr>
          <p:cNvSpPr>
            <a:spLocks xmlns:a="http://schemas.openxmlformats.org/drawingml/2006/main" noGrp="1"/>
          </p:cNvSpPr>
          <p:nvPr/>
        </p:nvSpPr>
        <p:spPr>
          <a:xfrm xmlns:a="http://schemas.openxmlformats.org/drawingml/2006/main">
            <a:off x="3038475" y="3438525"/>
            <a:ext cx="2057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025"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거래 접수·저장</a:t>
            </a:r>
          </a:p>
        </p:txBody>
      </p:sp>
      <p:sp>
        <p:nvSpPr>
          <p:cNvPr id="115" name="transaction-api">
            <a:extLst xmlns:a="http://schemas.openxmlformats.org/drawingml/2006/main">
              <a:ext uri="{FF2B5EF4-FFF2-40B4-BE49-F238E27FC236}">
                <a16:creationId xmlns:a16="http://schemas.microsoft.com/office/drawing/2014/main" id="{2DA289AB-4386-432F-B981-8046AB4ED225}"/>
              </a:ext>
            </a:extLst>
          </p:cNvPr>
          <p:cNvSpPr>
            <a:spLocks xmlns:a="http://schemas.openxmlformats.org/drawingml/2006/main" noGrp="1"/>
          </p:cNvSpPr>
          <p:nvPr/>
        </p:nvSpPr>
        <p:spPr>
          <a:xfrm xmlns:a="http://schemas.openxmlformats.org/drawingml/2006/main">
            <a:off x="3038475" y="38290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transaction-api</a:t>
            </a:r>
          </a:p>
        </p:txBody>
      </p:sp>
      <p:sp>
        <p:nvSpPr>
          <p:cNvPr id="116" name="">
            <a:extLst xmlns:a="http://schemas.openxmlformats.org/drawingml/2006/main">
              <a:ext uri="{FF2B5EF4-FFF2-40B4-BE49-F238E27FC236}">
                <a16:creationId xmlns:a16="http://schemas.microsoft.com/office/drawing/2014/main" id="{40034E76-1C8C-420A-AC2F-0BA41A183BA9}"/>
              </a:ext>
            </a:extLst>
          </p:cNvPr>
          <p:cNvSpPr>
            <a:spLocks xmlns:a="http://schemas.openxmlformats.org/drawingml/2006/main" noGrp="1"/>
          </p:cNvSpPr>
          <p:nvPr/>
        </p:nvSpPr>
        <p:spPr>
          <a:xfrm xmlns:a="http://schemas.openxmlformats.org/drawingml/2006/main">
            <a:off x="2914650" y="4629150"/>
            <a:ext cx="2314575" cy="657225"/>
          </a:xfrm>
          <a:prstGeom xmlns:a="http://schemas.openxmlformats.org/drawingml/2006/main" prst="rect">
            <a:avLst/>
          </a:prstGeom>
          <a:noFill xmlns:a="http://schemas.openxmlformats.org/drawingml/2006/main"/>
          <a:ln xmlns:a="http://schemas.openxmlformats.org/drawingml/2006/main" w="14288">
            <a:solidFill>
              <a:srgbClr val="0F6A6C"/>
            </a:solidFill>
            <a:prstDash val="solid"/>
          </a:ln>
        </p:spPr>
        <p:txBody xmlns:a="http://schemas.openxmlformats.org/drawingml/2006/main">
          <a:bodyPr/>
          <a:p/>
        </p:txBody>
      </p:sp>
      <p:sp>
        <p:nvSpPr>
          <p:cNvPr id="117" name="위험 판정">
            <a:extLst xmlns:a="http://schemas.openxmlformats.org/drawingml/2006/main">
              <a:ext uri="{FF2B5EF4-FFF2-40B4-BE49-F238E27FC236}">
                <a16:creationId xmlns:a16="http://schemas.microsoft.com/office/drawing/2014/main" id="{9A4E8ACB-4D91-45F5-8CC5-69F8643888BD}"/>
              </a:ext>
            </a:extLst>
          </p:cNvPr>
          <p:cNvSpPr>
            <a:spLocks xmlns:a="http://schemas.openxmlformats.org/drawingml/2006/main" noGrp="1"/>
          </p:cNvSpPr>
          <p:nvPr/>
        </p:nvSpPr>
        <p:spPr>
          <a:xfrm xmlns:a="http://schemas.openxmlformats.org/drawingml/2006/main">
            <a:off x="3038475" y="4705350"/>
            <a:ext cx="2057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위험 판정</a:t>
            </a:r>
          </a:p>
        </p:txBody>
      </p:sp>
      <p:sp>
        <p:nvSpPr>
          <p:cNvPr id="118" name="fds-engine">
            <a:extLst xmlns:a="http://schemas.openxmlformats.org/drawingml/2006/main">
              <a:ext uri="{FF2B5EF4-FFF2-40B4-BE49-F238E27FC236}">
                <a16:creationId xmlns:a16="http://schemas.microsoft.com/office/drawing/2014/main" id="{D4484233-87F8-4EF8-9EF4-98755D05A7B3}"/>
              </a:ext>
            </a:extLst>
          </p:cNvPr>
          <p:cNvSpPr>
            <a:spLocks xmlns:a="http://schemas.openxmlformats.org/drawingml/2006/main" noGrp="1"/>
          </p:cNvSpPr>
          <p:nvPr/>
        </p:nvSpPr>
        <p:spPr>
          <a:xfrm xmlns:a="http://schemas.openxmlformats.org/drawingml/2006/main">
            <a:off x="3038475" y="5010150"/>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fds-engine</a:t>
            </a:r>
          </a:p>
        </p:txBody>
      </p:sp>
      <p:sp>
        <p:nvSpPr>
          <p:cNvPr id="119" name="">
            <a:extLst xmlns:a="http://schemas.openxmlformats.org/drawingml/2006/main">
              <a:ext uri="{FF2B5EF4-FFF2-40B4-BE49-F238E27FC236}">
                <a16:creationId xmlns:a16="http://schemas.microsoft.com/office/drawing/2014/main" id="{1F0BCC9E-86CD-430E-AF1F-D6611B4D36AF}"/>
              </a:ext>
            </a:extLst>
          </p:cNvPr>
          <p:cNvSpPr>
            <a:spLocks xmlns:a="http://schemas.openxmlformats.org/drawingml/2006/main" noGrp="1"/>
          </p:cNvSpPr>
          <p:nvPr/>
        </p:nvSpPr>
        <p:spPr>
          <a:xfrm xmlns:a="http://schemas.openxmlformats.org/drawingml/2006/main">
            <a:off x="8915400" y="3305175"/>
            <a:ext cx="2590800" cy="857250"/>
          </a:xfrm>
          <a:prstGeom xmlns:a="http://schemas.openxmlformats.org/drawingml/2006/main" prst="rect">
            <a:avLst/>
          </a:prstGeom>
          <a:noFill xmlns:a="http://schemas.openxmlformats.org/drawingml/2006/main"/>
          <a:ln xmlns:a="http://schemas.openxmlformats.org/drawingml/2006/main" w="14288">
            <a:solidFill>
              <a:srgbClr val="0F6A6C"/>
            </a:solidFill>
            <a:prstDash val="solid"/>
          </a:ln>
        </p:spPr>
        <p:txBody xmlns:a="http://schemas.openxmlformats.org/drawingml/2006/main">
          <a:bodyPr/>
          <a:p/>
        </p:txBody>
      </p:sp>
      <p:sp>
        <p:nvSpPr>
          <p:cNvPr id="120" name="기존 데이터베이스">
            <a:extLst xmlns:a="http://schemas.openxmlformats.org/drawingml/2006/main">
              <a:ext uri="{FF2B5EF4-FFF2-40B4-BE49-F238E27FC236}">
                <a16:creationId xmlns:a16="http://schemas.microsoft.com/office/drawing/2014/main" id="{1A91B3EE-8B05-4904-AF26-D14CB7254562}"/>
              </a:ext>
            </a:extLst>
          </p:cNvPr>
          <p:cNvSpPr>
            <a:spLocks xmlns:a="http://schemas.openxmlformats.org/drawingml/2006/main" noGrp="1"/>
          </p:cNvSpPr>
          <p:nvPr/>
        </p:nvSpPr>
        <p:spPr>
          <a:xfrm xmlns:a="http://schemas.openxmlformats.org/drawingml/2006/main">
            <a:off x="9658350" y="3409950"/>
            <a:ext cx="1743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42D40"/>
                </a:solidFill>
                <a:latin typeface="Malgun Gothic"/>
                <a:ea typeface="Malgun Gothic"/>
                <a:cs typeface="Malgun Gothic"/>
              </a:defRPr>
            </a:pPr>
            <a:r>
              <a:rPr sz="1100" b="1">
                <a:solidFill>
                  <a:srgbClr val="3D4C57"/>
                </a:solidFill>
                <a:latin typeface="Malgun Gothic"/>
                <a:ea typeface="Malgun Gothic"/>
                <a:cs typeface="Malgun Gothic"/>
              </a:rPr>
              <a:t>기존 데이터베이스</a:t>
            </a:r>
          </a:p>
        </p:txBody>
      </p:sp>
      <p:sp>
        <p:nvSpPr>
          <p:cNvPr id="121" name="PostgreSQL">
            <a:extLst xmlns:a="http://schemas.openxmlformats.org/drawingml/2006/main">
              <a:ext uri="{FF2B5EF4-FFF2-40B4-BE49-F238E27FC236}">
                <a16:creationId xmlns:a16="http://schemas.microsoft.com/office/drawing/2014/main" id="{55C5945D-2734-4565-B7E9-F93C5934576E}"/>
              </a:ext>
            </a:extLst>
          </p:cNvPr>
          <p:cNvSpPr>
            <a:spLocks xmlns:a="http://schemas.openxmlformats.org/drawingml/2006/main" noGrp="1"/>
          </p:cNvSpPr>
          <p:nvPr/>
        </p:nvSpPr>
        <p:spPr>
          <a:xfrm xmlns:a="http://schemas.openxmlformats.org/drawingml/2006/main">
            <a:off x="9658350" y="3857625"/>
            <a:ext cx="1743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PostgreSQL</a:t>
            </a:r>
          </a:p>
        </p:txBody>
      </p:sp>
      <p:cxnSp>
        <p:nvCxnSpPr>
          <p:cNvPr id="172" name=""/>
          <p:cNvCxnSpPr>
            <a:stCxn xmlns:a="http://schemas.openxmlformats.org/drawingml/2006/main" id="111" idx="3"/>
            <a:endCxn xmlns:a="http://schemas.openxmlformats.org/drawingml/2006/main" id="113" idx="1"/>
          </p:cNvCxnSpPr>
          <p:nvPr/>
        </p:nvCxnSpPr>
        <p:spPr>
          <a:xfrm xmlns:a="http://schemas.openxmlformats.org/drawingml/2006/main">
            <a:off x="2095500" y="3724275"/>
            <a:ext cx="819150" cy="9525"/>
          </a:xfrm>
          <a:prstGeom xmlns:a="http://schemas.openxmlformats.org/drawingml/2006/main" prst="straightConnector1">
            <a:avLst/>
          </a:prstGeom>
          <a:ln xmlns:a="http://schemas.openxmlformats.org/drawingml/2006/main" w="23813">
            <a:solidFill>
              <a:srgbClr val="0F6A6C"/>
            </a:solidFill>
            <a:prstDash val="solid"/>
            <a:tailEnd type="triangle" w="sm" len="sm"/>
          </a:ln>
        </p:spPr>
      </p:cxnSp>
      <p:cxnSp>
        <p:nvCxnSpPr>
          <p:cNvPr id="173" name=""/>
          <p:cNvCxnSpPr>
            <a:stCxn xmlns:a="http://schemas.openxmlformats.org/drawingml/2006/main" id="113" idx="3"/>
            <a:endCxn xmlns:a="http://schemas.openxmlformats.org/drawingml/2006/main" id="119" idx="1"/>
          </p:cNvCxnSpPr>
          <p:nvPr/>
        </p:nvCxnSpPr>
        <p:spPr>
          <a:xfrm xmlns:a="http://schemas.openxmlformats.org/drawingml/2006/main">
            <a:off x="5229225" y="3733800"/>
            <a:ext cx="3686175" cy="0"/>
          </a:xfrm>
          <a:prstGeom xmlns:a="http://schemas.openxmlformats.org/drawingml/2006/main" prst="straightConnector1">
            <a:avLst/>
          </a:prstGeom>
          <a:ln xmlns:a="http://schemas.openxmlformats.org/drawingml/2006/main" w="23813">
            <a:solidFill>
              <a:srgbClr val="0F6A6C"/>
            </a:solidFill>
            <a:prstDash val="solid"/>
            <a:tailEnd type="triangle" w="sm" len="sm"/>
          </a:ln>
        </p:spPr>
      </p:cxnSp>
      <p:cxnSp>
        <p:nvCxnSpPr>
          <p:cNvPr id="174" name=""/>
          <p:cNvCxnSpPr>
            <a:stCxn xmlns:a="http://schemas.openxmlformats.org/drawingml/2006/main" id="113" idx="2"/>
            <a:endCxn xmlns:a="http://schemas.openxmlformats.org/drawingml/2006/main" id="116" idx="0"/>
          </p:cNvCxnSpPr>
          <p:nvPr/>
        </p:nvCxnSpPr>
        <p:spPr>
          <a:xfrm xmlns:a="http://schemas.openxmlformats.org/drawingml/2006/main">
            <a:off x="4071938" y="4162425"/>
            <a:ext cx="0" cy="466725"/>
          </a:xfrm>
          <a:prstGeom xmlns:a="http://schemas.openxmlformats.org/drawingml/2006/main" prst="straightConnector1">
            <a:avLst/>
          </a:prstGeom>
          <a:ln xmlns:a="http://schemas.openxmlformats.org/drawingml/2006/main" w="23813">
            <a:solidFill>
              <a:srgbClr val="0F6A6C"/>
            </a:solidFill>
            <a:prstDash val="solid"/>
            <a:headEnd type="triangle" w="sm" len="sm"/>
            <a:tailEnd type="triangle" w="sm" len="sm"/>
          </a:ln>
        </p:spPr>
      </p:cxnSp>
      <p:sp>
        <p:nvSpPr>
          <p:cNvPr id="125" name="거래 요청">
            <a:extLst xmlns:a="http://schemas.openxmlformats.org/drawingml/2006/main">
              <a:ext uri="{FF2B5EF4-FFF2-40B4-BE49-F238E27FC236}">
                <a16:creationId xmlns:a16="http://schemas.microsoft.com/office/drawing/2014/main" id="{F61E33A1-89D0-4824-BB00-7C86F08777C4}"/>
              </a:ext>
            </a:extLst>
          </p:cNvPr>
          <p:cNvSpPr>
            <a:spLocks xmlns:a="http://schemas.openxmlformats.org/drawingml/2006/main" noGrp="1"/>
          </p:cNvSpPr>
          <p:nvPr/>
        </p:nvSpPr>
        <p:spPr>
          <a:xfrm xmlns:a="http://schemas.openxmlformats.org/drawingml/2006/main">
            <a:off x="695325" y="2943225"/>
            <a:ext cx="14001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0F6A6C"/>
                </a:solidFill>
                <a:latin typeface="Malgun Gothic"/>
                <a:ea typeface="Malgun Gothic"/>
                <a:cs typeface="Malgun Gothic"/>
              </a:defRPr>
            </a:pPr>
            <a:r>
              <a:rPr sz="1100" b="0">
                <a:solidFill>
                  <a:srgbClr val="3D4C57"/>
                </a:solidFill>
                <a:latin typeface="Malgun Gothic"/>
                <a:ea typeface="Malgun Gothic"/>
                <a:cs typeface="Malgun Gothic"/>
              </a:rPr>
              <a:t>거래 요청</a:t>
            </a:r>
          </a:p>
        </p:txBody>
      </p:sp>
      <p:sp>
        <p:nvSpPr>
          <p:cNvPr id="126" name="거래·판정 결과 저장">
            <a:extLst xmlns:a="http://schemas.openxmlformats.org/drawingml/2006/main">
              <a:ext uri="{FF2B5EF4-FFF2-40B4-BE49-F238E27FC236}">
                <a16:creationId xmlns:a16="http://schemas.microsoft.com/office/drawing/2014/main" id="{05D33036-C24D-438E-B3DF-3918C8CB3670}"/>
              </a:ext>
            </a:extLst>
          </p:cNvPr>
          <p:cNvSpPr>
            <a:spLocks xmlns:a="http://schemas.openxmlformats.org/drawingml/2006/main" noGrp="1"/>
          </p:cNvSpPr>
          <p:nvPr/>
        </p:nvSpPr>
        <p:spPr>
          <a:xfrm xmlns:a="http://schemas.openxmlformats.org/drawingml/2006/main">
            <a:off x="5524500" y="3371850"/>
            <a:ext cx="30384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0F6A6C"/>
                </a:solidFill>
                <a:latin typeface="Malgun Gothic"/>
                <a:ea typeface="Malgun Gothic"/>
                <a:cs typeface="Malgun Gothic"/>
              </a:defRPr>
            </a:pPr>
            <a:r>
              <a:rPr sz="1200" b="0">
                <a:solidFill>
                  <a:srgbClr val="1C242B"/>
                </a:solidFill>
                <a:latin typeface="Malgun Gothic"/>
                <a:ea typeface="Malgun Gothic"/>
                <a:cs typeface="Malgun Gothic"/>
              </a:rPr>
              <a:t>거래·판정 결과 저장</a:t>
            </a:r>
          </a:p>
        </p:txBody>
      </p:sp>
      <p:sp>
        <p:nvSpPr>
          <p:cNvPr id="127" name="판정 요청·결과">
            <a:extLst xmlns:a="http://schemas.openxmlformats.org/drawingml/2006/main">
              <a:ext uri="{FF2B5EF4-FFF2-40B4-BE49-F238E27FC236}">
                <a16:creationId xmlns:a16="http://schemas.microsoft.com/office/drawing/2014/main" id="{7C137172-2AA5-4CF6-93F8-B9FB8E1D6189}"/>
              </a:ext>
            </a:extLst>
          </p:cNvPr>
          <p:cNvSpPr>
            <a:spLocks xmlns:a="http://schemas.openxmlformats.org/drawingml/2006/main" noGrp="1"/>
          </p:cNvSpPr>
          <p:nvPr/>
        </p:nvSpPr>
        <p:spPr>
          <a:xfrm xmlns:a="http://schemas.openxmlformats.org/drawingml/2006/main">
            <a:off x="5400675" y="4514850"/>
            <a:ext cx="2219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0F6A6C"/>
                </a:solidFill>
                <a:latin typeface="Malgun Gothic"/>
                <a:ea typeface="Malgun Gothic"/>
                <a:cs typeface="Malgun Gothic"/>
              </a:defRPr>
            </a:pPr>
            <a:r>
              <a:rPr sz="1200" b="0">
                <a:solidFill>
                  <a:srgbClr val="1C242B"/>
                </a:solidFill>
                <a:latin typeface="Malgun Gothic"/>
                <a:ea typeface="Malgun Gothic"/>
                <a:cs typeface="Malgun Gothic"/>
              </a:rPr>
              <a:t>판정 요청·결과</a:t>
            </a:r>
          </a:p>
        </p:txBody>
      </p:sp>
      <p:sp>
        <p:nvSpPr>
          <p:cNvPr id="128" name="이재환">
            <a:extLst xmlns:a="http://schemas.openxmlformats.org/drawingml/2006/main">
              <a:ext uri="{FF2B5EF4-FFF2-40B4-BE49-F238E27FC236}">
                <a16:creationId xmlns:a16="http://schemas.microsoft.com/office/drawing/2014/main" id="{D5D79FB7-BA42-49B8-80F8-F6671E5AFEA0}"/>
              </a:ext>
            </a:extLst>
          </p:cNvPr>
          <p:cNvSpPr>
            <a:spLocks xmlns:a="http://schemas.openxmlformats.org/drawingml/2006/main" noGrp="1"/>
          </p:cNvSpPr>
          <p:nvPr/>
        </p:nvSpPr>
        <p:spPr>
          <a:xfrm xmlns:a="http://schemas.openxmlformats.org/drawingml/2006/main">
            <a:off x="5400675" y="4933950"/>
            <a:ext cx="2238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142D40"/>
                </a:solidFill>
                <a:latin typeface="Malgun Gothic"/>
                <a:ea typeface="Malgun Gothic"/>
                <a:cs typeface="Malgun Gothic"/>
              </a:defRPr>
            </a:pPr>
            <a:r>
              <a:rPr sz="1200" b="1">
                <a:solidFill>
                  <a:srgbClr val="1C242B"/>
                </a:solidFill>
                <a:latin typeface="Malgun Gothic"/>
                <a:ea typeface="Malgun Gothic"/>
                <a:cs typeface="Malgun Gothic"/>
              </a:rPr>
              <a:t>이재환</a:t>
            </a:r>
          </a:p>
          <a:p xmlns:a="http://schemas.openxmlformats.org/drawingml/2006/main">
            <a:pPr algn="l">
              <a:buNone/>
              <a:defRPr sz="1650" b="1">
                <a:solidFill>
                  <a:srgbClr val="142D40"/>
                </a:solidFill>
                <a:latin typeface="Malgun Gothic"/>
                <a:ea typeface="Malgun Gothic"/>
                <a:cs typeface="Malgun Gothic"/>
              </a:defRPr>
            </a:pPr>
            <a:r>
              <a:rPr sz="1200" b="1">
                <a:solidFill>
                  <a:srgbClr val="1C242B"/>
                </a:solidFill>
                <a:latin typeface="Malgun Gothic"/>
                <a:ea typeface="Malgun Gothic"/>
                <a:cs typeface="Malgun Gothic"/>
              </a:rPr>
              <a:t>앱 구현·DB 통합</a:t>
            </a:r>
          </a:p>
        </p:txBody>
      </p:sp>
      <p:sp>
        <p:nvSpPr>
          <p:cNvPr id="129" name="인계받은 DB 재사용">
            <a:extLst xmlns:a="http://schemas.openxmlformats.org/drawingml/2006/main">
              <a:ext uri="{FF2B5EF4-FFF2-40B4-BE49-F238E27FC236}">
                <a16:creationId xmlns:a16="http://schemas.microsoft.com/office/drawing/2014/main" id="{EC53547D-CED5-4F88-8AC1-643C3B81EABB}"/>
              </a:ext>
            </a:extLst>
          </p:cNvPr>
          <p:cNvSpPr>
            <a:spLocks xmlns:a="http://schemas.openxmlformats.org/drawingml/2006/main" noGrp="1"/>
          </p:cNvSpPr>
          <p:nvPr/>
        </p:nvSpPr>
        <p:spPr>
          <a:xfrm xmlns:a="http://schemas.openxmlformats.org/drawingml/2006/main">
            <a:off x="8629650" y="4552950"/>
            <a:ext cx="28670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26675"/>
                </a:solidFill>
                <a:latin typeface="Malgun Gothic"/>
                <a:ea typeface="Malgun Gothic"/>
                <a:cs typeface="Malgun Gothic"/>
              </a:defRPr>
            </a:pPr>
            <a:r>
              <a:rPr sz="1200" b="0">
                <a:solidFill>
                  <a:srgbClr val="1C242B"/>
                </a:solidFill>
                <a:latin typeface="Malgun Gothic"/>
                <a:ea typeface="Malgun Gothic"/>
                <a:cs typeface="Malgun Gothic"/>
              </a:rPr>
              <a:t>기존 DB 재사용</a:t>
            </a:r>
          </a:p>
          <a:p xmlns:a="http://schemas.openxmlformats.org/drawingml/2006/main">
            <a:pPr algn="l">
              <a:buNone/>
              <a:defRPr sz="1650" b="0">
                <a:solidFill>
                  <a:srgbClr val="526675"/>
                </a:solidFill>
                <a:latin typeface="Malgun Gothic"/>
                <a:ea typeface="Malgun Gothic"/>
                <a:cs typeface="Malgun Gothic"/>
              </a:defRPr>
            </a:pPr>
            <a:r>
              <a:rPr sz="1200" b="0">
                <a:solidFill>
                  <a:srgbClr val="1C242B"/>
                </a:solidFill>
                <a:latin typeface="Malgun Gothic"/>
                <a:ea typeface="Malgun Gothic"/>
                <a:cs typeface="Malgun Gothic"/>
              </a:rPr>
              <a:t>분석 서비스의 DB 통신 차단</a:t>
            </a:r>
          </a:p>
          <a:p xmlns:a="http://schemas.openxmlformats.org/drawingml/2006/main">
            <a:pPr algn="l">
              <a:buNone/>
              <a:defRPr sz="1650" b="0">
                <a:solidFill>
                  <a:srgbClr val="526675"/>
                </a:solidFill>
                <a:latin typeface="Malgun Gothic"/>
                <a:ea typeface="Malgun Gothic"/>
                <a:cs typeface="Malgun Gothic"/>
              </a:defRPr>
            </a:pPr>
            <a:r>
              <a:rPr sz="1200" b="0">
                <a:solidFill>
                  <a:srgbClr val="1C242B"/>
                </a:solidFill>
                <a:latin typeface="Malgun Gothic"/>
                <a:ea typeface="Malgun Gothic"/>
                <a:cs typeface="Malgun Gothic"/>
              </a:rPr>
              <a:t>DB 접속정보 미부여</a:t>
            </a:r>
          </a:p>
        </p:txBody>
      </p:sp>
      <p:sp>
        <p:nvSpPr>
          <p:cNvPr id="130" name="설계 의도: 데이터 기반을 유지하고 서비스별 접근 범위를 제한합니다">
            <a:extLst xmlns:a="http://schemas.openxmlformats.org/drawingml/2006/main">
              <a:ext uri="{FF2B5EF4-FFF2-40B4-BE49-F238E27FC236}">
                <a16:creationId xmlns:a16="http://schemas.microsoft.com/office/drawing/2014/main" id="{4E41688C-310D-4764-AE24-C7C6D6BFDCB9}"/>
              </a:ext>
            </a:extLst>
          </p:cNvPr>
          <p:cNvSpPr>
            <a:spLocks xmlns:a="http://schemas.openxmlformats.org/drawingml/2006/main" noGrp="1"/>
          </p:cNvSpPr>
          <p:nvPr/>
        </p:nvSpPr>
        <p:spPr>
          <a:xfrm xmlns:a="http://schemas.openxmlformats.org/drawingml/2006/main">
            <a:off x="685800" y="59626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F6A6C"/>
                </a:solidFill>
                <a:latin typeface="Malgun Gothic"/>
                <a:ea typeface="Malgun Gothic"/>
                <a:cs typeface="Malgun Gothic"/>
              </a:defRPr>
            </a:pPr>
            <a:r>
              <a:rPr sz="1200" b="1">
                <a:solidFill>
                  <a:srgbClr val="3D4C57"/>
                </a:solidFill>
                <a:latin typeface="Malgun Gothic"/>
                <a:ea typeface="Malgun Gothic"/>
                <a:cs typeface="Malgun Gothic"/>
              </a:rPr>
              <a:t>설계 의도: 데이터 기반을 유지하고 서비스별 접근 범위를 제한합니다</a:t>
            </a:r>
          </a:p>
        </p:txBody>
      </p:sp>
      <p:sp xmlns:a="http://schemas.openxmlformats.org/drawingml/2006/main">
        <p:nvSpPr>
          <p:cNvPr id="175" name="Rectangle 174"/>
          <p:cNvSpPr/>
          <p:nvPr/>
        </p:nvSpPr>
        <p:spPr>
          <a:xfrm>
            <a:off x="0" y="0"/>
            <a:ext cx="12191695" cy="73152"/>
          </a:xfrm>
          <a:prstGeom prst="rect">
            <a:avLst/>
          </a:prstGeom>
          <a:solidFill>
            <a:srgbClr val="14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6" name="Rectangle 175"/>
          <p:cNvSpPr/>
          <p:nvPr/>
        </p:nvSpPr>
        <p:spPr>
          <a:xfrm>
            <a:off x="0" y="73152"/>
            <a:ext cx="73152" cy="6784848"/>
          </a:xfrm>
          <a:prstGeom prst="rect">
            <a:avLst/>
          </a:prstGeom>
          <a:solidFill>
            <a:srgbClr val="1F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7" name="Rounded Rectangle 176"/>
          <p:cNvSpPr/>
          <p:nvPr/>
        </p:nvSpPr>
        <p:spPr>
          <a:xfrm>
            <a:off x="9646920" y="146304"/>
            <a:ext cx="2240280" cy="237744"/>
          </a:xfrm>
          <a:prstGeom prst="roundRect">
            <a:avLst>
              <a:gd name="adj" fmla="val 50000"/>
            </a:avLst>
          </a:prstGeom>
          <a:solidFill>
            <a:srgbClr val="FFFFFF"/>
          </a:solidFill>
          <a:ln w="12700">
            <a:solidFill>
              <a:srgbClr val="1F8A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8A8A"/>
                </a:solidFill>
                <a:latin typeface="Malgun Gothic"/>
                <a:ea typeface="Malgun Gothic"/>
                <a:cs typeface="Malgun Gothic"/>
              </a:rPr>
              <a:t>02  업무 흐름</a:t>
            </a:r>
          </a:p>
        </p:txBody>
      </p:sp>
    </p:spTree>
    <p:extLst>
      <p:ext uri="{BB962C8B-B14F-4D97-AF65-F5344CB8AC3E}">
        <p14:creationId xmlns:p14="http://schemas.microsoft.com/office/powerpoint/2010/main" val="15576689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8" name=""/>
          <p:cNvPicPr>
            <a:picLocks xmlns:a="http://schemas.openxmlformats.org/drawingml/2006/main" noChangeAspect="1"/>
          </p:cNvPicPr>
          <p:nvPr/>
        </p:nvPicPr>
        <p:blipFill>
          <a:blip xmlns:r="http://schemas.openxmlformats.org/officeDocument/2006/relationships" xmlns:a="http://schemas.openxmlformats.org/drawingml/2006/main" r:embed="Reeb3a6afa4924291"/>
          <a:stretch xmlns:a="http://schemas.openxmlformats.org/drawingml/2006/main"/>
        </p:blipFill>
        <p:spPr>
          <a:xfrm xmlns:a="http://schemas.openxmlformats.org/drawingml/2006/main">
            <a:off x="714375" y="1685925"/>
            <a:ext cx="342900" cy="342900"/>
          </a:xfrm>
          <a:prstGeom xmlns:a="http://schemas.openxmlformats.org/drawingml/2006/main" prst="rect">
            <a:avLst/>
          </a:prstGeom>
        </p:spPr>
      </p:pic>
      <p:pic>
        <p:nvPicPr>
          <p:cNvPr id="239" name=""/>
          <p:cNvPicPr>
            <a:picLocks xmlns:a="http://schemas.openxmlformats.org/drawingml/2006/main" noChangeAspect="1"/>
          </p:cNvPicPr>
          <p:nvPr/>
        </p:nvPicPr>
        <p:blipFill>
          <a:blip xmlns:r="http://schemas.openxmlformats.org/officeDocument/2006/relationships" xmlns:a="http://schemas.openxmlformats.org/drawingml/2006/main" r:embed="R83c8a46a6bc0445d"/>
          <a:stretch xmlns:a="http://schemas.openxmlformats.org/drawingml/2006/main"/>
        </p:blipFill>
        <p:spPr>
          <a:xfrm xmlns:a="http://schemas.openxmlformats.org/drawingml/2006/main">
            <a:off x="6457950" y="3114675"/>
            <a:ext cx="409575" cy="409575"/>
          </a:xfrm>
          <a:prstGeom xmlns:a="http://schemas.openxmlformats.org/drawingml/2006/main" prst="rect">
            <a:avLst/>
          </a:prstGeom>
        </p:spPr>
      </p:pic>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25ce4585c27f4ad0"/>
          <a:stretch xmlns:a="http://schemas.openxmlformats.org/drawingml/2006/main"/>
        </p:blipFill>
        <p:spPr>
          <a:xfrm xmlns:a="http://schemas.openxmlformats.org/drawingml/2006/main">
            <a:off x="847725" y="4791075"/>
            <a:ext cx="381000" cy="381000"/>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6acc451c469643bc"/>
          <a:stretch xmlns:a="http://schemas.openxmlformats.org/drawingml/2006/main"/>
        </p:blipFill>
        <p:spPr>
          <a:xfrm xmlns:a="http://schemas.openxmlformats.org/drawingml/2006/main">
            <a:off x="4981575" y="4791075"/>
            <a:ext cx="409575" cy="409575"/>
          </a:xfrm>
          <a:prstGeom xmlns:a="http://schemas.openxmlformats.org/drawingml/2006/main" prst="rect">
            <a:avLst/>
          </a:prstGeom>
        </p:spPr>
      </p:pic>
      <p:sp>
        <p:nvSpPr>
          <p:cNvPr id="156" name="실행 환경과 배포 책임">
            <a:extLst xmlns:a="http://schemas.openxmlformats.org/drawingml/2006/main">
              <a:ext uri="{FF2B5EF4-FFF2-40B4-BE49-F238E27FC236}">
                <a16:creationId xmlns:a16="http://schemas.microsoft.com/office/drawing/2014/main" id="{438043C5-24A0-4B4C-97FF-B67A8D00E2C1}"/>
              </a:ext>
            </a:extLst>
          </p:cNvPr>
          <p:cNvSpPr>
            <a:spLocks xmlns:a="http://schemas.openxmlformats.org/drawingml/2006/main" noGrp="1"/>
          </p:cNvSpPr>
          <p:nvPr/>
        </p:nvSpPr>
        <p:spPr>
          <a:xfrm xmlns:a="http://schemas.openxmlformats.org/drawingml/2006/main">
            <a:off x="685800" y="40957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1">
                <a:solidFill>
                  <a:srgbClr val="142D40"/>
                </a:solidFill>
                <a:latin typeface="Malgun Gothic"/>
                <a:ea typeface="Malgun Gothic"/>
                <a:cs typeface="Malgun Gothic"/>
              </a:defRPr>
            </a:pPr>
            <a:r>
              <a:rPr sz="2400" b="1">
                <a:solidFill>
                  <a:srgbClr val="1C242B"/>
                </a:solidFill>
                <a:latin typeface="Malgun Gothic"/>
                <a:ea typeface="Malgun Gothic"/>
                <a:cs typeface="Malgun Gothic"/>
              </a:rPr>
              <a:t>실행 환경과 배포 책임</a:t>
            </a:r>
          </a:p>
        </p:txBody>
      </p:sp>
      <p:sp>
        <p:nvSpPr>
          <p:cNvPr id="157" name="업무 연결은 암호화 VPN으로, 배포는 이미지 공급과 Runner 명령으로 이어집니다">
            <a:extLst xmlns:a="http://schemas.openxmlformats.org/drawingml/2006/main">
              <a:ext uri="{FF2B5EF4-FFF2-40B4-BE49-F238E27FC236}">
                <a16:creationId xmlns:a16="http://schemas.microsoft.com/office/drawing/2014/main" id="{2100B5EE-8CE6-4D40-A074-023CFE4E8ABC}"/>
              </a:ext>
            </a:extLst>
          </p:cNvPr>
          <p:cNvSpPr>
            <a:spLocks xmlns:a="http://schemas.openxmlformats.org/drawingml/2006/main" noGrp="1"/>
          </p:cNvSpPr>
          <p:nvPr/>
        </p:nvSpPr>
        <p:spPr>
          <a:xfrm xmlns:a="http://schemas.openxmlformats.org/drawingml/2006/main">
            <a:off x="685800" y="10763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26675"/>
                </a:solidFill>
                <a:latin typeface="Malgun Gothic"/>
                <a:ea typeface="Malgun Gothic"/>
                <a:cs typeface="Malgun Gothic"/>
              </a:defRPr>
            </a:pPr>
            <a:r>
              <a:rPr sz="1400" b="0">
                <a:solidFill>
                  <a:srgbClr val="3D4C57"/>
                </a:solidFill>
                <a:latin typeface="Malgun Gothic"/>
                <a:ea typeface="Malgun Gothic"/>
                <a:cs typeface="Malgun Gothic"/>
              </a:rPr>
              <a:t>업무 연결은 암호화 VPN으로, 배포는 이미지 공급과 Runner 명령으로 이어집니다</a:t>
            </a:r>
          </a:p>
        </p:txBody>
      </p:sp>
      <p:sp>
        <p:nvSpPr>
          <p:cNvPr id="158" name="03">
            <a:extLst xmlns:a="http://schemas.openxmlformats.org/drawingml/2006/main">
              <a:ext uri="{FF2B5EF4-FFF2-40B4-BE49-F238E27FC236}">
                <a16:creationId xmlns:a16="http://schemas.microsoft.com/office/drawing/2014/main" id="{B8EF1C92-F54D-40D3-94C3-01762E99A452}"/>
              </a:ext>
            </a:extLst>
          </p:cNvPr>
          <p:cNvSpPr>
            <a:spLocks xmlns:a="http://schemas.openxmlformats.org/drawingml/2006/main" noGrp="1"/>
          </p:cNvSpPr>
          <p:nvPr/>
        </p:nvSpPr>
        <p:spPr>
          <a:xfrm xmlns:a="http://schemas.openxmlformats.org/drawingml/2006/main">
            <a:off x="10620375" y="6410325"/>
            <a:ext cx="885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26675"/>
                </a:solidFill>
                <a:latin typeface="Malgun Gothic"/>
                <a:ea typeface="Malgun Gothic"/>
                <a:cs typeface="Malgun Gothic"/>
              </a:defRPr>
            </a:pPr>
            <a:r>
              <a:rPr sz="1200" b="0">
                <a:solidFill>
                  <a:srgbClr val="526675"/>
                </a:solidFill>
                <a:latin typeface="Malgun Gothic"/>
                <a:ea typeface="Malgun Gothic"/>
                <a:cs typeface="Malgun Gothic"/>
              </a:rPr>
              <a:t>03</a:t>
            </a:r>
          </a:p>
        </p:txBody>
      </p:sp>
      <p:sp>
        <p:nvSpPr>
          <p:cNvPr id="159" name="인프라를 코드로 구축  Terraform · 이하영">
            <a:extLst xmlns:a="http://schemas.openxmlformats.org/drawingml/2006/main">
              <a:ext uri="{FF2B5EF4-FFF2-40B4-BE49-F238E27FC236}">
                <a16:creationId xmlns:a16="http://schemas.microsoft.com/office/drawing/2014/main" id="{9571651F-BD69-4D32-B35D-AE07DDF19CB1}"/>
              </a:ext>
            </a:extLst>
          </p:cNvPr>
          <p:cNvSpPr>
            <a:spLocks xmlns:a="http://schemas.openxmlformats.org/drawingml/2006/main" noGrp="1"/>
          </p:cNvSpPr>
          <p:nvPr/>
        </p:nvSpPr>
        <p:spPr>
          <a:xfrm xmlns:a="http://schemas.openxmlformats.org/drawingml/2006/main">
            <a:off x="1200150" y="1695450"/>
            <a:ext cx="1019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D40"/>
                </a:solidFill>
                <a:latin typeface="Malgun Gothic"/>
                <a:ea typeface="Malgun Gothic"/>
                <a:cs typeface="Malgun Gothic"/>
              </a:defRPr>
            </a:pPr>
            <a:r>
              <a:rPr sz="1725" b="1">
                <a:solidFill>
                  <a:srgbClr val="142D40"/>
                </a:solidFill>
                <a:latin typeface="Malgun Gothic"/>
                <a:ea typeface="Malgun Gothic"/>
                <a:cs typeface="Malgun Gothic"/>
              </a:rPr>
              <a:t>구축 계획: AWS 네트워크·중계 서버  Terraform · 이하영</a:t>
            </a:r>
          </a:p>
        </p:txBody>
      </p:sp>
      <p:sp>
        <p:nvSpPr>
          <p:cNvPr id="160" name="">
            <a:extLst xmlns:a="http://schemas.openxmlformats.org/drawingml/2006/main">
              <a:ext uri="{FF2B5EF4-FFF2-40B4-BE49-F238E27FC236}">
                <a16:creationId xmlns:a16="http://schemas.microsoft.com/office/drawing/2014/main" id="{45015B25-E3ED-47F9-AB83-E6185FC8B100}"/>
              </a:ext>
            </a:extLst>
          </p:cNvPr>
          <p:cNvSpPr>
            <a:spLocks xmlns:a="http://schemas.openxmlformats.org/drawingml/2006/main" noGrp="1"/>
          </p:cNvSpPr>
          <p:nvPr/>
        </p:nvSpPr>
        <p:spPr>
          <a:xfrm xmlns:a="http://schemas.openxmlformats.org/drawingml/2006/main">
            <a:off x="685800" y="2276475"/>
            <a:ext cx="3105150" cy="1724025"/>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61" name="">
            <a:extLst xmlns:a="http://schemas.openxmlformats.org/drawingml/2006/main">
              <a:ext uri="{FF2B5EF4-FFF2-40B4-BE49-F238E27FC236}">
                <a16:creationId xmlns:a16="http://schemas.microsoft.com/office/drawing/2014/main" id="{A87F0B8C-383A-4776-925A-461F3C5B0594}"/>
              </a:ext>
            </a:extLst>
          </p:cNvPr>
          <p:cNvSpPr>
            <a:spLocks xmlns:a="http://schemas.openxmlformats.org/drawingml/2006/main" noGrp="1"/>
          </p:cNvSpPr>
          <p:nvPr/>
        </p:nvSpPr>
        <p:spPr>
          <a:xfrm xmlns:a="http://schemas.openxmlformats.org/drawingml/2006/main">
            <a:off x="6086475" y="2276475"/>
            <a:ext cx="5419725" cy="1724025"/>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62" name="기존 서버 환경">
            <a:extLst xmlns:a="http://schemas.openxmlformats.org/drawingml/2006/main">
              <a:ext uri="{FF2B5EF4-FFF2-40B4-BE49-F238E27FC236}">
                <a16:creationId xmlns:a16="http://schemas.microsoft.com/office/drawing/2014/main" id="{FC778161-F072-41E7-9570-D6138E758DFA}"/>
              </a:ext>
            </a:extLst>
          </p:cNvPr>
          <p:cNvSpPr>
            <a:spLocks xmlns:a="http://schemas.openxmlformats.org/drawingml/2006/main" noGrp="1"/>
          </p:cNvSpPr>
          <p:nvPr/>
        </p:nvSpPr>
        <p:spPr>
          <a:xfrm xmlns:a="http://schemas.openxmlformats.org/drawingml/2006/main">
            <a:off x="876300" y="2371725"/>
            <a:ext cx="2705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기존 서버 환경</a:t>
            </a:r>
          </a:p>
        </p:txBody>
      </p:sp>
      <p:sp>
        <p:nvSpPr>
          <p:cNvPr id="163" name="AWS 서울">
            <a:extLst xmlns:a="http://schemas.openxmlformats.org/drawingml/2006/main">
              <a:ext uri="{FF2B5EF4-FFF2-40B4-BE49-F238E27FC236}">
                <a16:creationId xmlns:a16="http://schemas.microsoft.com/office/drawing/2014/main" id="{EF8747DD-81B1-4001-A48E-9922E861A9D1}"/>
              </a:ext>
            </a:extLst>
          </p:cNvPr>
          <p:cNvSpPr>
            <a:spLocks xmlns:a="http://schemas.openxmlformats.org/drawingml/2006/main" noGrp="1"/>
          </p:cNvSpPr>
          <p:nvPr/>
        </p:nvSpPr>
        <p:spPr>
          <a:xfrm xmlns:a="http://schemas.openxmlformats.org/drawingml/2006/main">
            <a:off x="6286500" y="2371725"/>
            <a:ext cx="4981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42D40"/>
                </a:solidFill>
                <a:latin typeface="Malgun Gothic"/>
                <a:ea typeface="Malgun Gothic"/>
                <a:cs typeface="Malgun Gothic"/>
              </a:defRPr>
            </a:pPr>
            <a:r>
              <a:rPr sz="1950" b="1">
                <a:solidFill>
                  <a:srgbClr val="142D40"/>
                </a:solidFill>
                <a:latin typeface="Malgun Gothic"/>
                <a:ea typeface="Malgun Gothic"/>
                <a:cs typeface="Malgun Gothic"/>
              </a:rPr>
              <a:t>AWS 서울</a:t>
            </a:r>
          </a:p>
        </p:txBody>
      </p:sp>
      <p:sp>
        <p:nvSpPr>
          <p:cNvPr id="164" name="">
            <a:extLst xmlns:a="http://schemas.openxmlformats.org/drawingml/2006/main">
              <a:ext uri="{FF2B5EF4-FFF2-40B4-BE49-F238E27FC236}">
                <a16:creationId xmlns:a16="http://schemas.microsoft.com/office/drawing/2014/main" id="{2A78012B-A73D-4B02-B230-B638D84528B8}"/>
              </a:ext>
            </a:extLst>
          </p:cNvPr>
          <p:cNvSpPr>
            <a:spLocks xmlns:a="http://schemas.openxmlformats.org/drawingml/2006/main" noGrp="1"/>
          </p:cNvSpPr>
          <p:nvPr/>
        </p:nvSpPr>
        <p:spPr>
          <a:xfrm xmlns:a="http://schemas.openxmlformats.org/drawingml/2006/main">
            <a:off x="885825" y="2990850"/>
            <a:ext cx="1152525" cy="685800"/>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65" name="기존 DB">
            <a:extLst xmlns:a="http://schemas.openxmlformats.org/drawingml/2006/main">
              <a:ext uri="{FF2B5EF4-FFF2-40B4-BE49-F238E27FC236}">
                <a16:creationId xmlns:a16="http://schemas.microsoft.com/office/drawing/2014/main" id="{433AA538-7119-46F8-BEB0-B93857563395}"/>
              </a:ext>
            </a:extLst>
          </p:cNvPr>
          <p:cNvSpPr>
            <a:spLocks xmlns:a="http://schemas.openxmlformats.org/drawingml/2006/main" noGrp="1"/>
          </p:cNvSpPr>
          <p:nvPr/>
        </p:nvSpPr>
        <p:spPr>
          <a:xfrm xmlns:a="http://schemas.openxmlformats.org/drawingml/2006/main">
            <a:off x="981075" y="3200400"/>
            <a:ext cx="962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25"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기존 DB</a:t>
            </a:r>
          </a:p>
        </p:txBody>
      </p:sp>
      <p:sp>
        <p:nvSpPr>
          <p:cNvPr id="166" name="">
            <a:extLst xmlns:a="http://schemas.openxmlformats.org/drawingml/2006/main">
              <a:ext uri="{FF2B5EF4-FFF2-40B4-BE49-F238E27FC236}">
                <a16:creationId xmlns:a16="http://schemas.microsoft.com/office/drawing/2014/main" id="{FF3B8D64-9AD5-4DF0-862A-2E0D4EB34C28}"/>
              </a:ext>
            </a:extLst>
          </p:cNvPr>
          <p:cNvSpPr>
            <a:spLocks xmlns:a="http://schemas.openxmlformats.org/drawingml/2006/main" noGrp="1"/>
          </p:cNvSpPr>
          <p:nvPr/>
        </p:nvSpPr>
        <p:spPr>
          <a:xfrm xmlns:a="http://schemas.openxmlformats.org/drawingml/2006/main">
            <a:off x="2390775" y="2990850"/>
            <a:ext cx="1162050" cy="685800"/>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67" name="VPN 연결">
            <a:extLst xmlns:a="http://schemas.openxmlformats.org/drawingml/2006/main">
              <a:ext uri="{FF2B5EF4-FFF2-40B4-BE49-F238E27FC236}">
                <a16:creationId xmlns:a16="http://schemas.microsoft.com/office/drawing/2014/main" id="{AA098576-8F1A-423C-948B-9E5A059537DD}"/>
              </a:ext>
            </a:extLst>
          </p:cNvPr>
          <p:cNvSpPr>
            <a:spLocks xmlns:a="http://schemas.openxmlformats.org/drawingml/2006/main" noGrp="1"/>
          </p:cNvSpPr>
          <p:nvPr/>
        </p:nvSpPr>
        <p:spPr>
          <a:xfrm xmlns:a="http://schemas.openxmlformats.org/drawingml/2006/main">
            <a:off x="2495550" y="3067050"/>
            <a:ext cx="952500" cy="6717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142D40"/>
                </a:solidFill>
                <a:latin typeface="Malgun Gothic"/>
                <a:ea typeface="Malgun Gothic"/>
                <a:cs typeface="Malgun Gothic"/>
              </a:defRPr>
            </a:pPr>
            <a:r>
              <a:rPr sz="1200" b="1">
                <a:solidFill>
                  <a:srgbClr val="1C242B"/>
                </a:solidFill>
                <a:latin typeface="Malgun Gothic"/>
                <a:ea typeface="Malgun Gothic"/>
                <a:cs typeface="Malgun Gothic"/>
              </a:rPr>
              <a:t>VPN 연결</a:t>
            </a:r>
          </a:p>
          <a:p xmlns:a="http://schemas.openxmlformats.org/drawingml/2006/main">
            <a:pPr algn="ctr">
              <a:buNone/>
              <a:defRPr sz="1650" b="1">
                <a:solidFill>
                  <a:srgbClr val="142D40"/>
                </a:solidFill>
                <a:latin typeface="Malgun Gothic"/>
                <a:ea typeface="Malgun Gothic"/>
                <a:cs typeface="Malgun Gothic"/>
              </a:defRPr>
            </a:pPr>
            <a:r>
              <a:rPr sz="1200" b="1">
                <a:solidFill>
                  <a:srgbClr val="1C242B"/>
                </a:solidFill>
                <a:latin typeface="Malgun Gothic"/>
                <a:ea typeface="Malgun Gothic"/>
                <a:cs typeface="Malgun Gothic"/>
              </a:rPr>
              <a:t>서버</a:t>
            </a:r>
          </a:p>
        </p:txBody>
      </p:sp>
      <p:sp>
        <p:nvSpPr>
          <p:cNvPr id="168" name="">
            <a:extLst xmlns:a="http://schemas.openxmlformats.org/drawingml/2006/main">
              <a:ext uri="{FF2B5EF4-FFF2-40B4-BE49-F238E27FC236}">
                <a16:creationId xmlns:a16="http://schemas.microsoft.com/office/drawing/2014/main" id="{4068B5EF-4965-4269-93D3-4C529B03490C}"/>
              </a:ext>
            </a:extLst>
          </p:cNvPr>
          <p:cNvSpPr>
            <a:spLocks xmlns:a="http://schemas.openxmlformats.org/drawingml/2006/main" noGrp="1"/>
          </p:cNvSpPr>
          <p:nvPr/>
        </p:nvSpPr>
        <p:spPr>
          <a:xfrm xmlns:a="http://schemas.openxmlformats.org/drawingml/2006/main">
            <a:off x="6334125" y="2990850"/>
            <a:ext cx="1943100" cy="685800"/>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69" name="EC2 중계">
            <a:extLst xmlns:a="http://schemas.openxmlformats.org/drawingml/2006/main">
              <a:ext uri="{FF2B5EF4-FFF2-40B4-BE49-F238E27FC236}">
                <a16:creationId xmlns:a16="http://schemas.microsoft.com/office/drawing/2014/main" id="{8EA5DC8A-83E7-416F-8373-AD4A2758061C}"/>
              </a:ext>
            </a:extLst>
          </p:cNvPr>
          <p:cNvSpPr>
            <a:spLocks xmlns:a="http://schemas.openxmlformats.org/drawingml/2006/main" noGrp="1"/>
          </p:cNvSpPr>
          <p:nvPr/>
        </p:nvSpPr>
        <p:spPr>
          <a:xfrm xmlns:a="http://schemas.openxmlformats.org/drawingml/2006/main">
            <a:off x="6972300" y="3057525"/>
            <a:ext cx="1200150" cy="6717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142D40"/>
                </a:solidFill>
                <a:latin typeface="Malgun Gothic"/>
                <a:ea typeface="Malgun Gothic"/>
                <a:cs typeface="Malgun Gothic"/>
              </a:defRPr>
            </a:pPr>
            <a:r>
              <a:rPr sz="1200" b="1">
                <a:solidFill>
                  <a:srgbClr val="1C242B"/>
                </a:solidFill>
                <a:latin typeface="Malgun Gothic"/>
                <a:ea typeface="Malgun Gothic"/>
                <a:cs typeface="Malgun Gothic"/>
              </a:rPr>
              <a:t>EC2 중계</a:t>
            </a:r>
          </a:p>
          <a:p xmlns:a="http://schemas.openxmlformats.org/drawingml/2006/main">
            <a:pPr algn="l">
              <a:buNone/>
              <a:defRPr sz="1650" b="1">
                <a:solidFill>
                  <a:srgbClr val="142D40"/>
                </a:solidFill>
                <a:latin typeface="Malgun Gothic"/>
                <a:ea typeface="Malgun Gothic"/>
                <a:cs typeface="Malgun Gothic"/>
              </a:defRPr>
            </a:pPr>
            <a:r>
              <a:rPr sz="1200" b="1">
                <a:solidFill>
                  <a:srgbClr val="1C242B"/>
                </a:solidFill>
                <a:latin typeface="Malgun Gothic"/>
                <a:ea typeface="Malgun Gothic"/>
                <a:cs typeface="Malgun Gothic"/>
              </a:rPr>
              <a:t>Libreswan</a:t>
            </a:r>
          </a:p>
        </p:txBody>
      </p:sp>
      <p:sp>
        <p:nvSpPr>
          <p:cNvPr id="170" name="">
            <a:extLst xmlns:a="http://schemas.openxmlformats.org/drawingml/2006/main">
              <a:ext uri="{FF2B5EF4-FFF2-40B4-BE49-F238E27FC236}">
                <a16:creationId xmlns:a16="http://schemas.microsoft.com/office/drawing/2014/main" id="{5B52BEB9-4F9C-4886-86DD-9F57A58F5EA2}"/>
              </a:ext>
            </a:extLst>
          </p:cNvPr>
          <p:cNvSpPr>
            <a:spLocks xmlns:a="http://schemas.openxmlformats.org/drawingml/2006/main" noGrp="1"/>
          </p:cNvSpPr>
          <p:nvPr/>
        </p:nvSpPr>
        <p:spPr>
          <a:xfrm xmlns:a="http://schemas.openxmlformats.org/drawingml/2006/main">
            <a:off x="9239250" y="2990850"/>
            <a:ext cx="2009775" cy="685800"/>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71" name="ROSA 업무 실행">
            <a:extLst xmlns:a="http://schemas.openxmlformats.org/drawingml/2006/main">
              <a:ext uri="{FF2B5EF4-FFF2-40B4-BE49-F238E27FC236}">
                <a16:creationId xmlns:a16="http://schemas.microsoft.com/office/drawing/2014/main" id="{4A810F37-2BB1-461A-B014-A589682B690F}"/>
              </a:ext>
            </a:extLst>
          </p:cNvPr>
          <p:cNvSpPr>
            <a:spLocks xmlns:a="http://schemas.openxmlformats.org/drawingml/2006/main" noGrp="1"/>
          </p:cNvSpPr>
          <p:nvPr/>
        </p:nvSpPr>
        <p:spPr>
          <a:xfrm xmlns:a="http://schemas.openxmlformats.org/drawingml/2006/main">
            <a:off x="9344025" y="3181350"/>
            <a:ext cx="1800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25"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ROSA 업무 실행</a:t>
            </a:r>
          </a:p>
        </p:txBody>
      </p:sp>
      <p:cxnSp>
        <p:nvCxnSpPr>
          <p:cNvPr id="258" name=""/>
          <p:cNvCxnSpPr>
            <a:stCxn xmlns:a="http://schemas.openxmlformats.org/drawingml/2006/main" id="164" idx="3"/>
            <a:endCxn xmlns:a="http://schemas.openxmlformats.org/drawingml/2006/main" id="166" idx="1"/>
          </p:cNvCxnSpPr>
          <p:nvPr/>
        </p:nvCxnSpPr>
        <p:spPr>
          <a:xfrm xmlns:a="http://schemas.openxmlformats.org/drawingml/2006/main">
            <a:off x="2038350" y="3333750"/>
            <a:ext cx="352425" cy="0"/>
          </a:xfrm>
          <a:prstGeom xmlns:a="http://schemas.openxmlformats.org/drawingml/2006/main" prst="straightConnector1">
            <a:avLst/>
          </a:prstGeom>
          <a:ln xmlns:a="http://schemas.openxmlformats.org/drawingml/2006/main" w="23813">
            <a:solidFill>
              <a:srgbClr val="0F6A6C"/>
            </a:solidFill>
            <a:prstDash val="solid"/>
            <a:headEnd type="triangle" w="sm" len="sm"/>
            <a:tailEnd type="triangle" w="sm" len="sm"/>
          </a:ln>
        </p:spPr>
      </p:cxnSp>
      <p:cxnSp>
        <p:nvCxnSpPr>
          <p:cNvPr id="259" name=""/>
          <p:cNvCxnSpPr>
            <a:stCxn xmlns:a="http://schemas.openxmlformats.org/drawingml/2006/main" id="166" idx="3"/>
            <a:endCxn xmlns:a="http://schemas.openxmlformats.org/drawingml/2006/main" id="168" idx="1"/>
          </p:cNvCxnSpPr>
          <p:nvPr/>
        </p:nvCxnSpPr>
        <p:spPr>
          <a:xfrm xmlns:a="http://schemas.openxmlformats.org/drawingml/2006/main">
            <a:off x="3552825" y="3333750"/>
            <a:ext cx="2781300" cy="0"/>
          </a:xfrm>
          <a:prstGeom xmlns:a="http://schemas.openxmlformats.org/drawingml/2006/main" prst="straightConnector1">
            <a:avLst/>
          </a:prstGeom>
          <a:ln xmlns:a="http://schemas.openxmlformats.org/drawingml/2006/main" w="23813">
            <a:solidFill>
              <a:srgbClr val="0F6A6C"/>
            </a:solidFill>
            <a:prstDash val="solid"/>
            <a:headEnd type="triangle" w="sm" len="sm"/>
            <a:tailEnd type="triangle" w="sm" len="sm"/>
          </a:ln>
        </p:spPr>
      </p:cxnSp>
      <p:cxnSp>
        <p:nvCxnSpPr>
          <p:cNvPr id="260" name=""/>
          <p:cNvCxnSpPr>
            <a:stCxn xmlns:a="http://schemas.openxmlformats.org/drawingml/2006/main" id="168" idx="3"/>
            <a:endCxn xmlns:a="http://schemas.openxmlformats.org/drawingml/2006/main" id="170" idx="1"/>
          </p:cNvCxnSpPr>
          <p:nvPr/>
        </p:nvCxnSpPr>
        <p:spPr>
          <a:xfrm xmlns:a="http://schemas.openxmlformats.org/drawingml/2006/main">
            <a:off x="8277225" y="3333750"/>
            <a:ext cx="962025" cy="0"/>
          </a:xfrm>
          <a:prstGeom xmlns:a="http://schemas.openxmlformats.org/drawingml/2006/main" prst="straightConnector1">
            <a:avLst/>
          </a:prstGeom>
          <a:ln xmlns:a="http://schemas.openxmlformats.org/drawingml/2006/main" w="23813">
            <a:solidFill>
              <a:srgbClr val="0F6A6C"/>
            </a:solidFill>
            <a:prstDash val="solid"/>
            <a:headEnd type="triangle" w="sm" len="sm"/>
            <a:tailEnd type="triangle" w="sm" len="sm"/>
          </a:ln>
        </p:spPr>
      </p:cxnSp>
      <p:sp>
        <p:nvSpPr>
          <p:cNvPr id="175" name="암호화 업무 연결">
            <a:extLst xmlns:a="http://schemas.openxmlformats.org/drawingml/2006/main">
              <a:ext uri="{FF2B5EF4-FFF2-40B4-BE49-F238E27FC236}">
                <a16:creationId xmlns:a16="http://schemas.microsoft.com/office/drawing/2014/main" id="{9E41967C-E549-4D43-8E6B-A97F5A60AFE8}"/>
              </a:ext>
            </a:extLst>
          </p:cNvPr>
          <p:cNvSpPr>
            <a:spLocks xmlns:a="http://schemas.openxmlformats.org/drawingml/2006/main" noGrp="1"/>
          </p:cNvSpPr>
          <p:nvPr/>
        </p:nvSpPr>
        <p:spPr>
          <a:xfrm xmlns:a="http://schemas.openxmlformats.org/drawingml/2006/main">
            <a:off x="3943350" y="2609850"/>
            <a:ext cx="1971675" cy="709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0F6A6C"/>
                </a:solidFill>
                <a:latin typeface="Malgun Gothic"/>
                <a:ea typeface="Malgun Gothic"/>
                <a:cs typeface="Malgun Gothic"/>
              </a:defRPr>
            </a:pPr>
            <a:r>
              <a:rPr sz="1200" b="0">
                <a:solidFill>
                  <a:srgbClr val="1C242B"/>
                </a:solidFill>
                <a:latin typeface="Malgun Gothic"/>
                <a:ea typeface="Malgun Gothic"/>
                <a:cs typeface="Malgun Gothic"/>
              </a:rPr>
              <a:t>암호화 업무 연결</a:t>
            </a:r>
          </a:p>
          <a:p xmlns:a="http://schemas.openxmlformats.org/drawingml/2006/main">
            <a:pPr algn="ctr">
              <a:buNone/>
              <a:defRPr sz="1650" b="0">
                <a:solidFill>
                  <a:srgbClr val="0F6A6C"/>
                </a:solidFill>
                <a:latin typeface="Malgun Gothic"/>
                <a:ea typeface="Malgun Gothic"/>
                <a:cs typeface="Malgun Gothic"/>
              </a:defRPr>
            </a:pPr>
            <a:r>
              <a:rPr sz="1200" b="0">
                <a:solidFill>
                  <a:srgbClr val="1C242B"/>
                </a:solidFill>
                <a:latin typeface="Malgun Gothic"/>
                <a:ea typeface="Malgun Gothic"/>
                <a:cs typeface="Malgun Gothic"/>
              </a:rPr>
              <a:t>IPsec</a:t>
            </a:r>
          </a:p>
        </p:txBody>
      </p:sp>
      <p:sp>
        <p:nvSpPr>
          <p:cNvPr id="176" name="VPN 구성·검증  이재환">
            <a:extLst xmlns:a="http://schemas.openxmlformats.org/drawingml/2006/main">
              <a:ext uri="{FF2B5EF4-FFF2-40B4-BE49-F238E27FC236}">
                <a16:creationId xmlns:a16="http://schemas.microsoft.com/office/drawing/2014/main" id="{2C416393-A4ED-4DEC-BC85-BC7602365568}"/>
              </a:ext>
            </a:extLst>
          </p:cNvPr>
          <p:cNvSpPr>
            <a:spLocks xmlns:a="http://schemas.openxmlformats.org/drawingml/2006/main" noGrp="1"/>
          </p:cNvSpPr>
          <p:nvPr/>
        </p:nvSpPr>
        <p:spPr>
          <a:xfrm xmlns:a="http://schemas.openxmlformats.org/drawingml/2006/main">
            <a:off x="866775" y="3743325"/>
            <a:ext cx="2838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VPN 구성·검증  이재환</a:t>
            </a:r>
          </a:p>
        </p:txBody>
      </p:sp>
      <p:sp>
        <p:nvSpPr>
          <p:cNvPr id="177" name="중계 생성  이하영">
            <a:extLst xmlns:a="http://schemas.openxmlformats.org/drawingml/2006/main">
              <a:ext uri="{FF2B5EF4-FFF2-40B4-BE49-F238E27FC236}">
                <a16:creationId xmlns:a16="http://schemas.microsoft.com/office/drawing/2014/main" id="{85155062-D98C-4AAF-A2CB-F2353EDACA2C}"/>
              </a:ext>
            </a:extLst>
          </p:cNvPr>
          <p:cNvSpPr>
            <a:spLocks xmlns:a="http://schemas.openxmlformats.org/drawingml/2006/main" noGrp="1"/>
          </p:cNvSpPr>
          <p:nvPr/>
        </p:nvSpPr>
        <p:spPr>
          <a:xfrm xmlns:a="http://schemas.openxmlformats.org/drawingml/2006/main">
            <a:off x="6372225" y="3743325"/>
            <a:ext cx="2457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중계 생성  이하영</a:t>
            </a:r>
          </a:p>
        </p:txBody>
      </p:sp>
      <p:sp>
        <p:nvSpPr>
          <p:cNvPr id="178" name="플랫폼  이하영">
            <a:extLst xmlns:a="http://schemas.openxmlformats.org/drawingml/2006/main">
              <a:ext uri="{FF2B5EF4-FFF2-40B4-BE49-F238E27FC236}">
                <a16:creationId xmlns:a16="http://schemas.microsoft.com/office/drawing/2014/main" id="{9A932573-171A-46CA-A9CC-939A4B751402}"/>
              </a:ext>
            </a:extLst>
          </p:cNvPr>
          <p:cNvSpPr>
            <a:spLocks xmlns:a="http://schemas.openxmlformats.org/drawingml/2006/main" noGrp="1"/>
          </p:cNvSpPr>
          <p:nvPr/>
        </p:nvSpPr>
        <p:spPr>
          <a:xfrm xmlns:a="http://schemas.openxmlformats.org/drawingml/2006/main">
            <a:off x="9267825" y="3743325"/>
            <a:ext cx="2114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플랫폼  이하영</a:t>
            </a:r>
          </a:p>
        </p:txBody>
      </p:sp>
      <p:sp>
        <p:nvSpPr>
          <p:cNvPr id="179" name="">
            <a:extLst xmlns:a="http://schemas.openxmlformats.org/drawingml/2006/main">
              <a:ext uri="{FF2B5EF4-FFF2-40B4-BE49-F238E27FC236}">
                <a16:creationId xmlns:a16="http://schemas.microsoft.com/office/drawing/2014/main" id="{F79D7DE9-FAA4-4710-9FCB-FC06F075729B}"/>
              </a:ext>
            </a:extLst>
          </p:cNvPr>
          <p:cNvSpPr>
            <a:spLocks xmlns:a="http://schemas.openxmlformats.org/drawingml/2006/main" noGrp="1"/>
          </p:cNvSpPr>
          <p:nvPr/>
        </p:nvSpPr>
        <p:spPr>
          <a:xfrm xmlns:a="http://schemas.openxmlformats.org/drawingml/2006/main">
            <a:off x="685800" y="4610100"/>
            <a:ext cx="2724150" cy="828675"/>
          </a:xfrm>
          <a:prstGeom xmlns:a="http://schemas.openxmlformats.org/drawingml/2006/main" prst="rect">
            <a:avLst/>
          </a:prstGeom>
          <a:noFill xmlns:a="http://schemas.openxmlformats.org/drawingml/2006/main"/>
          <a:ln xmlns:a="http://schemas.openxmlformats.org/drawingml/2006/main" w="14288">
            <a:solidFill>
              <a:srgbClr val="0F6A6C"/>
            </a:solidFill>
            <a:prstDash val="solid"/>
          </a:ln>
        </p:spPr>
        <p:txBody xmlns:a="http://schemas.openxmlformats.org/drawingml/2006/main">
          <a:bodyPr/>
          <a:p/>
        </p:txBody>
      </p:sp>
      <p:sp>
        <p:nvSpPr>
          <p:cNvPr id="180" name="자동 검사·배포">
            <a:extLst xmlns:a="http://schemas.openxmlformats.org/drawingml/2006/main">
              <a:ext uri="{FF2B5EF4-FFF2-40B4-BE49-F238E27FC236}">
                <a16:creationId xmlns:a16="http://schemas.microsoft.com/office/drawing/2014/main" id="{D47D5FA5-0A78-4A94-935D-5DBED3BC84F2}"/>
              </a:ext>
            </a:extLst>
          </p:cNvPr>
          <p:cNvSpPr>
            <a:spLocks xmlns:a="http://schemas.openxmlformats.org/drawingml/2006/main" noGrp="1"/>
          </p:cNvSpPr>
          <p:nvPr/>
        </p:nvSpPr>
        <p:spPr>
          <a:xfrm xmlns:a="http://schemas.openxmlformats.org/drawingml/2006/main">
            <a:off x="1371600" y="4714875"/>
            <a:ext cx="18954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자동 검사·배포</a:t>
            </a:r>
          </a:p>
        </p:txBody>
      </p:sp>
      <p:sp>
        <p:nvSpPr>
          <p:cNvPr id="181" name="Actions + Runner">
            <a:extLst xmlns:a="http://schemas.openxmlformats.org/drawingml/2006/main">
              <a:ext uri="{FF2B5EF4-FFF2-40B4-BE49-F238E27FC236}">
                <a16:creationId xmlns:a16="http://schemas.microsoft.com/office/drawing/2014/main" id="{BAD105B5-14AC-4748-ACA4-D043D4799ACC}"/>
              </a:ext>
            </a:extLst>
          </p:cNvPr>
          <p:cNvSpPr>
            <a:spLocks xmlns:a="http://schemas.openxmlformats.org/drawingml/2006/main" noGrp="1"/>
          </p:cNvSpPr>
          <p:nvPr/>
        </p:nvSpPr>
        <p:spPr>
          <a:xfrm xmlns:a="http://schemas.openxmlformats.org/drawingml/2006/main">
            <a:off x="1371600" y="5095875"/>
            <a:ext cx="1895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Actions + Runner</a:t>
            </a:r>
          </a:p>
        </p:txBody>
      </p:sp>
      <p:sp>
        <p:nvSpPr>
          <p:cNvPr id="182" name="">
            <a:extLst xmlns:a="http://schemas.openxmlformats.org/drawingml/2006/main">
              <a:ext uri="{FF2B5EF4-FFF2-40B4-BE49-F238E27FC236}">
                <a16:creationId xmlns:a16="http://schemas.microsoft.com/office/drawing/2014/main" id="{6A6526E8-4135-42F0-8F5C-C1E29668890B}"/>
              </a:ext>
            </a:extLst>
          </p:cNvPr>
          <p:cNvSpPr>
            <a:spLocks xmlns:a="http://schemas.openxmlformats.org/drawingml/2006/main" noGrp="1"/>
          </p:cNvSpPr>
          <p:nvPr/>
        </p:nvSpPr>
        <p:spPr>
          <a:xfrm xmlns:a="http://schemas.openxmlformats.org/drawingml/2006/main">
            <a:off x="4819650" y="4610100"/>
            <a:ext cx="2266950" cy="828675"/>
          </a:xfrm>
          <a:prstGeom xmlns:a="http://schemas.openxmlformats.org/drawingml/2006/main" prst="rect">
            <a:avLst/>
          </a:prstGeom>
          <a:noFill xmlns:a="http://schemas.openxmlformats.org/drawingml/2006/main"/>
          <a:ln xmlns:a="http://schemas.openxmlformats.org/drawingml/2006/main" w="14288">
            <a:solidFill>
              <a:srgbClr val="0F6A6C"/>
            </a:solidFill>
            <a:prstDash val="solid"/>
          </a:ln>
        </p:spPr>
        <p:txBody xmlns:a="http://schemas.openxmlformats.org/drawingml/2006/main">
          <a:bodyPr/>
          <a:p/>
        </p:txBody>
      </p:sp>
      <p:sp>
        <p:nvSpPr>
          <p:cNvPr id="183" name="이미지 저장소">
            <a:extLst xmlns:a="http://schemas.openxmlformats.org/drawingml/2006/main">
              <a:ext uri="{FF2B5EF4-FFF2-40B4-BE49-F238E27FC236}">
                <a16:creationId xmlns:a16="http://schemas.microsoft.com/office/drawing/2014/main" id="{283D87E8-7060-4A96-99C8-820B4BBB64A9}"/>
              </a:ext>
            </a:extLst>
          </p:cNvPr>
          <p:cNvSpPr>
            <a:spLocks xmlns:a="http://schemas.openxmlformats.org/drawingml/2006/main" noGrp="1"/>
          </p:cNvSpPr>
          <p:nvPr/>
        </p:nvSpPr>
        <p:spPr>
          <a:xfrm xmlns:a="http://schemas.openxmlformats.org/drawingml/2006/main">
            <a:off x="5495925" y="4695825"/>
            <a:ext cx="14859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이미지 저장소</a:t>
            </a:r>
          </a:p>
        </p:txBody>
      </p:sp>
      <p:sp>
        <p:nvSpPr>
          <p:cNvPr id="184" name="Harbor 후보">
            <a:extLst xmlns:a="http://schemas.openxmlformats.org/drawingml/2006/main">
              <a:ext uri="{FF2B5EF4-FFF2-40B4-BE49-F238E27FC236}">
                <a16:creationId xmlns:a16="http://schemas.microsoft.com/office/drawing/2014/main" id="{3F424E8C-59E4-4010-80DA-1F3D32CD47B1}"/>
              </a:ext>
            </a:extLst>
          </p:cNvPr>
          <p:cNvSpPr>
            <a:spLocks xmlns:a="http://schemas.openxmlformats.org/drawingml/2006/main" noGrp="1"/>
          </p:cNvSpPr>
          <p:nvPr/>
        </p:nvSpPr>
        <p:spPr>
          <a:xfrm xmlns:a="http://schemas.openxmlformats.org/drawingml/2006/main">
            <a:off x="5495925" y="5086350"/>
            <a:ext cx="1485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9A651A"/>
                </a:solidFill>
                <a:latin typeface="Malgun Gothic"/>
                <a:ea typeface="Malgun Gothic"/>
                <a:cs typeface="Malgun Gothic"/>
              </a:defRPr>
            </a:pPr>
            <a:r>
              <a:rPr sz="1100" b="0">
                <a:solidFill>
                  <a:srgbClr val="3D4C57"/>
                </a:solidFill>
                <a:latin typeface="Malgun Gothic"/>
                <a:ea typeface="Malgun Gothic"/>
                <a:cs typeface="Malgun Gothic"/>
              </a:rPr>
              <a:t>Harbor 후보</a:t>
            </a:r>
          </a:p>
        </p:txBody>
      </p:sp>
      <p:sp>
        <p:nvSpPr>
          <p:cNvPr id="185" name="">
            <a:extLst xmlns:a="http://schemas.openxmlformats.org/drawingml/2006/main">
              <a:ext uri="{FF2B5EF4-FFF2-40B4-BE49-F238E27FC236}">
                <a16:creationId xmlns:a16="http://schemas.microsoft.com/office/drawing/2014/main" id="{5375FB75-B62B-4C41-9EC9-6EEC8FCF0407}"/>
              </a:ext>
            </a:extLst>
          </p:cNvPr>
          <p:cNvSpPr>
            <a:spLocks xmlns:a="http://schemas.openxmlformats.org/drawingml/2006/main" noGrp="1"/>
          </p:cNvSpPr>
          <p:nvPr/>
        </p:nvSpPr>
        <p:spPr>
          <a:xfrm xmlns:a="http://schemas.openxmlformats.org/drawingml/2006/main">
            <a:off x="9096375" y="4610100"/>
            <a:ext cx="2409825" cy="828675"/>
          </a:xfrm>
          <a:prstGeom xmlns:a="http://schemas.openxmlformats.org/drawingml/2006/main" prst="rect">
            <a:avLst/>
          </a:prstGeom>
          <a:noFill xmlns:a="http://schemas.openxmlformats.org/drawingml/2006/main"/>
          <a:ln xmlns:a="http://schemas.openxmlformats.org/drawingml/2006/main" w="14288">
            <a:solidFill>
              <a:srgbClr val="0F6A6C"/>
            </a:solidFill>
            <a:prstDash val="solid"/>
          </a:ln>
        </p:spPr>
        <p:txBody xmlns:a="http://schemas.openxmlformats.org/drawingml/2006/main">
          <a:bodyPr/>
          <a:p/>
        </p:txBody>
      </p:sp>
      <p:sp>
        <p:nvSpPr>
          <p:cNvPr id="186" name="ROSA 배포·복구">
            <a:extLst xmlns:a="http://schemas.openxmlformats.org/drawingml/2006/main">
              <a:ext uri="{FF2B5EF4-FFF2-40B4-BE49-F238E27FC236}">
                <a16:creationId xmlns:a16="http://schemas.microsoft.com/office/drawing/2014/main" id="{812A6555-E224-4B9E-BC55-8300BAC83283}"/>
              </a:ext>
            </a:extLst>
          </p:cNvPr>
          <p:cNvSpPr>
            <a:spLocks xmlns:a="http://schemas.openxmlformats.org/drawingml/2006/main" noGrp="1"/>
          </p:cNvSpPr>
          <p:nvPr/>
        </p:nvSpPr>
        <p:spPr>
          <a:xfrm xmlns:a="http://schemas.openxmlformats.org/drawingml/2006/main">
            <a:off x="9220200" y="4752975"/>
            <a:ext cx="2162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ROSA 배포·복구</a:t>
            </a:r>
          </a:p>
        </p:txBody>
      </p:sp>
      <p:sp>
        <p:nvSpPr>
          <p:cNvPr id="187" name="이권욱 · 담당자 협업">
            <a:extLst xmlns:a="http://schemas.openxmlformats.org/drawingml/2006/main">
              <a:ext uri="{FF2B5EF4-FFF2-40B4-BE49-F238E27FC236}">
                <a16:creationId xmlns:a16="http://schemas.microsoft.com/office/drawing/2014/main" id="{33EA5CB6-F854-4340-BC2E-14E430426B93}"/>
              </a:ext>
            </a:extLst>
          </p:cNvPr>
          <p:cNvSpPr>
            <a:spLocks xmlns:a="http://schemas.openxmlformats.org/drawingml/2006/main" noGrp="1"/>
          </p:cNvSpPr>
          <p:nvPr/>
        </p:nvSpPr>
        <p:spPr>
          <a:xfrm xmlns:a="http://schemas.openxmlformats.org/drawingml/2006/main">
            <a:off x="9220200" y="5143500"/>
            <a:ext cx="2162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이권욱 · 담당자 협업</a:t>
            </a:r>
          </a:p>
        </p:txBody>
      </p:sp>
      <p:cxnSp>
        <p:nvCxnSpPr>
          <p:cNvPr id="274" name=""/>
          <p:cNvCxnSpPr>
            <a:stCxn xmlns:a="http://schemas.openxmlformats.org/drawingml/2006/main" id="179" idx="3"/>
            <a:endCxn xmlns:a="http://schemas.openxmlformats.org/drawingml/2006/main" id="182" idx="1"/>
          </p:cNvCxnSpPr>
          <p:nvPr/>
        </p:nvCxnSpPr>
        <p:spPr>
          <a:xfrm xmlns:a="http://schemas.openxmlformats.org/drawingml/2006/main">
            <a:off x="3409950" y="5024438"/>
            <a:ext cx="1409700" cy="0"/>
          </a:xfrm>
          <a:prstGeom xmlns:a="http://schemas.openxmlformats.org/drawingml/2006/main" prst="straightConnector1">
            <a:avLst/>
          </a:prstGeom>
          <a:ln xmlns:a="http://schemas.openxmlformats.org/drawingml/2006/main" w="23813">
            <a:solidFill>
              <a:srgbClr val="2674B8"/>
            </a:solidFill>
            <a:prstDash val="solid"/>
            <a:tailEnd type="triangle" w="sm" len="sm"/>
          </a:ln>
        </p:spPr>
      </p:cxnSp>
      <p:cxnSp>
        <p:nvCxnSpPr>
          <p:cNvPr id="275" name=""/>
          <p:cNvCxnSpPr>
            <a:stCxn xmlns:a="http://schemas.openxmlformats.org/drawingml/2006/main" id="182" idx="3"/>
            <a:endCxn xmlns:a="http://schemas.openxmlformats.org/drawingml/2006/main" id="185" idx="1"/>
          </p:cNvCxnSpPr>
          <p:nvPr/>
        </p:nvCxnSpPr>
        <p:spPr>
          <a:xfrm xmlns:a="http://schemas.openxmlformats.org/drawingml/2006/main">
            <a:off x="7086600" y="5024438"/>
            <a:ext cx="2009775" cy="0"/>
          </a:xfrm>
          <a:prstGeom xmlns:a="http://schemas.openxmlformats.org/drawingml/2006/main" prst="straightConnector1">
            <a:avLst/>
          </a:prstGeom>
          <a:ln xmlns:a="http://schemas.openxmlformats.org/drawingml/2006/main" w="23813">
            <a:solidFill>
              <a:srgbClr val="2674B8"/>
            </a:solidFill>
            <a:prstDash val="solid"/>
            <a:tailEnd type="triangle" w="sm" len="sm"/>
          </a:ln>
        </p:spPr>
      </p:cxnSp>
      <p:cxnSp>
        <p:nvCxnSpPr>
          <p:cNvPr id="276" name=""/>
          <p:cNvCxnSpPr>
            <a:stCxn xmlns:a="http://schemas.openxmlformats.org/drawingml/2006/main" id="179" idx="2"/>
            <a:endCxn xmlns:a="http://schemas.openxmlformats.org/drawingml/2006/main" id="185" idx="2"/>
          </p:cNvCxnSpPr>
          <p:nvPr/>
        </p:nvCxnSpPr>
        <p:spPr>
          <a:xfrm xmlns:a="http://schemas.openxmlformats.org/drawingml/2006/main">
            <a:off x="2047875" y="5438775"/>
            <a:ext cx="8253413" cy="228600"/>
          </a:xfrm>
          <a:prstGeom xmlns:a="http://schemas.openxmlformats.org/drawingml/2006/main" prst="bentConnector4">
            <a:avLst/>
          </a:prstGeom>
          <a:ln xmlns:a="http://schemas.openxmlformats.org/drawingml/2006/main" w="23813">
            <a:solidFill>
              <a:srgbClr val="0F6A6C"/>
            </a:solidFill>
            <a:prstDash val="solid"/>
            <a:tailEnd type="triangle" w="sm" len="sm"/>
          </a:ln>
        </p:spPr>
      </p:cxnSp>
      <p:sp>
        <p:nvSpPr>
          <p:cNvPr id="191" name="검사 후 등록">
            <a:extLst xmlns:a="http://schemas.openxmlformats.org/drawingml/2006/main">
              <a:ext uri="{FF2B5EF4-FFF2-40B4-BE49-F238E27FC236}">
                <a16:creationId xmlns:a16="http://schemas.microsoft.com/office/drawing/2014/main" id="{15F4B018-85E3-4CD1-9D02-A0A6347609F6}"/>
              </a:ext>
            </a:extLst>
          </p:cNvPr>
          <p:cNvSpPr>
            <a:spLocks xmlns:a="http://schemas.openxmlformats.org/drawingml/2006/main" noGrp="1"/>
          </p:cNvSpPr>
          <p:nvPr/>
        </p:nvSpPr>
        <p:spPr>
          <a:xfrm xmlns:a="http://schemas.openxmlformats.org/drawingml/2006/main">
            <a:off x="3562350" y="4648200"/>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0">
                <a:solidFill>
                  <a:srgbClr val="2674B8"/>
                </a:solidFill>
                <a:latin typeface="Malgun Gothic"/>
                <a:ea typeface="Malgun Gothic"/>
                <a:cs typeface="Malgun Gothic"/>
              </a:defRPr>
            </a:pPr>
            <a:r>
              <a:rPr sz="1100" b="0">
                <a:solidFill>
                  <a:srgbClr val="3D4C57"/>
                </a:solidFill>
                <a:latin typeface="Malgun Gothic"/>
                <a:ea typeface="Malgun Gothic"/>
                <a:cs typeface="Malgun Gothic"/>
              </a:rPr>
              <a:t>검사 후 등록</a:t>
            </a:r>
          </a:p>
        </p:txBody>
      </p:sp>
      <p:sp>
        <p:nvSpPr>
          <p:cNvPr id="192" name="이미지 공급">
            <a:extLst xmlns:a="http://schemas.openxmlformats.org/drawingml/2006/main">
              <a:ext uri="{FF2B5EF4-FFF2-40B4-BE49-F238E27FC236}">
                <a16:creationId xmlns:a16="http://schemas.microsoft.com/office/drawing/2014/main" id="{FBF19BB9-2209-4B9E-B901-B8EC6EDB9256}"/>
              </a:ext>
            </a:extLst>
          </p:cNvPr>
          <p:cNvSpPr>
            <a:spLocks xmlns:a="http://schemas.openxmlformats.org/drawingml/2006/main" noGrp="1"/>
          </p:cNvSpPr>
          <p:nvPr/>
        </p:nvSpPr>
        <p:spPr>
          <a:xfrm xmlns:a="http://schemas.openxmlformats.org/drawingml/2006/main">
            <a:off x="7296150" y="46482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0">
                <a:solidFill>
                  <a:srgbClr val="2674B8"/>
                </a:solidFill>
                <a:latin typeface="Malgun Gothic"/>
                <a:ea typeface="Malgun Gothic"/>
                <a:cs typeface="Malgun Gothic"/>
              </a:defRPr>
            </a:pPr>
            <a:r>
              <a:rPr sz="1100" b="0">
                <a:solidFill>
                  <a:srgbClr val="3D4C57"/>
                </a:solidFill>
                <a:latin typeface="Malgun Gothic"/>
                <a:ea typeface="Malgun Gothic"/>
                <a:cs typeface="Malgun Gothic"/>
              </a:rPr>
              <a:t>이미지 공급</a:t>
            </a:r>
          </a:p>
        </p:txBody>
      </p:sp>
      <p:sp>
        <p:nvSpPr>
          <p:cNvPr id="193" name="Runner가 배포·복구 명령을 전달">
            <a:extLst xmlns:a="http://schemas.openxmlformats.org/drawingml/2006/main">
              <a:ext uri="{FF2B5EF4-FFF2-40B4-BE49-F238E27FC236}">
                <a16:creationId xmlns:a16="http://schemas.microsoft.com/office/drawing/2014/main" id="{C308B568-0102-4B29-924E-639CD3B84EEE}"/>
              </a:ext>
            </a:extLst>
          </p:cNvPr>
          <p:cNvSpPr>
            <a:spLocks xmlns:a="http://schemas.openxmlformats.org/drawingml/2006/main" noGrp="1"/>
          </p:cNvSpPr>
          <p:nvPr/>
        </p:nvSpPr>
        <p:spPr>
          <a:xfrm xmlns:a="http://schemas.openxmlformats.org/drawingml/2006/main">
            <a:off x="3609975" y="5772150"/>
            <a:ext cx="5267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25" b="1">
                <a:solidFill>
                  <a:srgbClr val="0F6A6C"/>
                </a:solidFill>
                <a:latin typeface="Malgun Gothic"/>
                <a:ea typeface="Malgun Gothic"/>
                <a:cs typeface="Malgun Gothic"/>
              </a:defRPr>
            </a:pPr>
            <a:r>
              <a:rPr sz="1200" b="1">
                <a:solidFill>
                  <a:srgbClr val="3D4C57"/>
                </a:solidFill>
                <a:latin typeface="Malgun Gothic"/>
                <a:ea typeface="Malgun Gothic"/>
                <a:cs typeface="Malgun Gothic"/>
              </a:rPr>
              <a:t>Runner가 배포·복구 명령을 전달</a:t>
            </a:r>
          </a:p>
        </p:txBody>
      </p:sp>
      <p:sp>
        <p:nvSpPr>
          <p:cNvPr id="194" name="저장소 선택·인증·관리 접속 경로는 구축 전 확정 대상입니다">
            <a:extLst xmlns:a="http://schemas.openxmlformats.org/drawingml/2006/main">
              <a:ext uri="{FF2B5EF4-FFF2-40B4-BE49-F238E27FC236}">
                <a16:creationId xmlns:a16="http://schemas.microsoft.com/office/drawing/2014/main" id="{B82F4698-AEDC-4550-BC0A-A018B4A113FF}"/>
              </a:ext>
            </a:extLst>
          </p:cNvPr>
          <p:cNvSpPr>
            <a:spLocks xmlns:a="http://schemas.openxmlformats.org/drawingml/2006/main" noGrp="1"/>
          </p:cNvSpPr>
          <p:nvPr/>
        </p:nvSpPr>
        <p:spPr>
          <a:xfrm xmlns:a="http://schemas.openxmlformats.org/drawingml/2006/main">
            <a:off x="685800" y="6286500"/>
            <a:ext cx="10325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26675"/>
                </a:solidFill>
                <a:latin typeface="Malgun Gothic"/>
                <a:ea typeface="Malgun Gothic"/>
                <a:cs typeface="Malgun Gothic"/>
              </a:defRPr>
            </a:pPr>
            <a:r>
              <a:rPr sz="1425" b="0">
                <a:solidFill>
                  <a:srgbClr val="526675"/>
                </a:solidFill>
                <a:latin typeface="Malgun Gothic"/>
                <a:ea typeface="Malgun Gothic"/>
                <a:cs typeface="Malgun Gothic"/>
              </a:rPr>
              <a:t>ROSA 생성 방식과 필요한 권한은 별도 확정. 저장소·관리 접속 조건도 확인합니다</a:t>
            </a:r>
          </a:p>
        </p:txBody>
      </p:sp>
      <p:sp xmlns:a="http://schemas.openxmlformats.org/drawingml/2006/main">
        <p:nvSpPr>
          <p:cNvPr id="277" name="Rectangle 276"/>
          <p:cNvSpPr/>
          <p:nvPr/>
        </p:nvSpPr>
        <p:spPr>
          <a:xfrm>
            <a:off x="0" y="0"/>
            <a:ext cx="12191695" cy="73152"/>
          </a:xfrm>
          <a:prstGeom prst="rect">
            <a:avLst/>
          </a:prstGeom>
          <a:solidFill>
            <a:srgbClr val="14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8" name="Rectangle 277"/>
          <p:cNvSpPr/>
          <p:nvPr/>
        </p:nvSpPr>
        <p:spPr>
          <a:xfrm>
            <a:off x="0" y="73152"/>
            <a:ext cx="73152" cy="6784848"/>
          </a:xfrm>
          <a:prstGeom prst="rect">
            <a:avLst/>
          </a:prstGeom>
          <a:solidFill>
            <a:srgbClr val="1F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9" name="Rounded Rectangle 278"/>
          <p:cNvSpPr/>
          <p:nvPr/>
        </p:nvSpPr>
        <p:spPr>
          <a:xfrm>
            <a:off x="9646920" y="146304"/>
            <a:ext cx="2240280" cy="237744"/>
          </a:xfrm>
          <a:prstGeom prst="roundRect">
            <a:avLst>
              <a:gd name="adj" fmla="val 50000"/>
            </a:avLst>
          </a:prstGeom>
          <a:solidFill>
            <a:srgbClr val="FFFFFF"/>
          </a:solidFill>
          <a:ln w="12700">
            <a:solidFill>
              <a:srgbClr val="1F8A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8A8A"/>
                </a:solidFill>
                <a:latin typeface="Malgun Gothic"/>
                <a:ea typeface="Malgun Gothic"/>
                <a:cs typeface="Malgun Gothic"/>
              </a:rPr>
              <a:t>03  실행 환경</a:t>
            </a:r>
          </a:p>
        </p:txBody>
      </p:sp>
    </p:spTree>
    <p:extLst>
      <p:ext uri="{BB962C8B-B14F-4D97-AF65-F5344CB8AC3E}">
        <p14:creationId xmlns:p14="http://schemas.microsoft.com/office/powerpoint/2010/main" val="10002795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25" name=""/>
          <p:cNvGraphicFramePr/>
          <p:nvPr/>
        </p:nvGraphicFramePr>
        <p:xfrm>
          <a:off xmlns:a="http://schemas.openxmlformats.org/drawingml/2006/main" x="685800" y="1800225"/>
          <a:ext xmlns:a="http://schemas.openxmlformats.org/drawingml/2006/main" cx="10820400" cy="3162300"/>
        </p:xfrm>
        <a:graphic xmlns:a="http://schemas.openxmlformats.org/drawingml/2006/main">
          <a:graphicData uri="http://schemas.openxmlformats.org/drawingml/2006/table">
            <a:tbl>
              <a:tblPr firstRow="1" bandRow="0"/>
              <a:tblGrid>
                <a:gridCol w="2705100"/>
                <a:gridCol w="2705100"/>
                <a:gridCol w="2705100"/>
                <a:gridCol w="2705100"/>
              </a:tblGrid>
              <a:tr h="762000">
                <a:tc>
                  <a:txBody>
                    <a:bodyPr wrap="square">
                      <a:noAutofit/>
                    </a:bodyPr>
                    <a:lstStyle/>
                    <a:p>
                      <a:pPr algn="l">
                        <a:buNone/>
                      </a:pPr>
                      <a:r>
                        <a:rPr sz="1725" b="1">
                          <a:solidFill>
                            <a:srgbClr val="FFFFFF"/>
                          </a:solidFill>
                          <a:latin typeface="Malgun Gothic"/>
                          <a:ea typeface="Malgun Gothic"/>
                          <a:cs typeface="Malgun Gothic"/>
                        </a:rPr>
                        <a:t>사전 준비</a:t>
                      </a:r>
                    </a:p>
                    <a:p>
                      <a:pPr algn="l">
                        <a:buNone/>
                      </a:pPr>
                      <a:r>
                        <a:rPr sz="1725" b="1">
                          <a:solidFill>
                            <a:srgbClr val="FFFFFF"/>
                          </a:solidFill>
                          <a:latin typeface="Malgun Gothic"/>
                          <a:ea typeface="Malgun Gothic"/>
                          <a:cs typeface="Malgun Gothic"/>
                        </a:rPr>
                        <a:t>10/8 목표</a:t>
                      </a:r>
                    </a:p>
                  </a:txBody>
                  <a:tcPr marL="114300" marR="114300" marT="28575" marB="28575" anchor="ctr">
                    <a:solidFill>
                      <a:srgbClr val="142D40"/>
                    </a:solidFill>
                  </a:tcPr>
                </a:tc>
                <a:tc>
                  <a:txBody>
                    <a:bodyPr wrap="square">
                      <a:noAutofit/>
                    </a:bodyPr>
                    <a:lstStyle/>
                    <a:p>
                      <a:pPr algn="l">
                        <a:buNone/>
                      </a:pPr>
                      <a:r>
                        <a:rPr sz="1725" b="1">
                          <a:solidFill>
                            <a:srgbClr val="FFFFFF"/>
                          </a:solidFill>
                          <a:latin typeface="Malgun Gothic"/>
                          <a:ea typeface="Malgun Gothic"/>
                          <a:cs typeface="Malgun Gothic"/>
                        </a:rPr>
                        <a:t>연결 구축</a:t>
                      </a:r>
                    </a:p>
                    <a:p>
                      <a:pPr algn="l">
                        <a:buNone/>
                      </a:pPr>
                      <a:r>
                        <a:rPr sz="1725" b="1">
                          <a:solidFill>
                            <a:srgbClr val="FFFFFF"/>
                          </a:solidFill>
                          <a:latin typeface="Malgun Gothic"/>
                          <a:ea typeface="Malgun Gothic"/>
                          <a:cs typeface="Malgun Gothic"/>
                        </a:rPr>
                        <a:t>10/14 목표</a:t>
                      </a:r>
                    </a:p>
                  </a:txBody>
                  <a:tcPr marL="114300" marR="114300" marT="28575" marB="28575" anchor="ctr">
                    <a:solidFill>
                      <a:srgbClr val="142D40"/>
                    </a:solidFill>
                  </a:tcPr>
                </a:tc>
                <a:tc>
                  <a:txBody>
                    <a:bodyPr wrap="square">
                      <a:noAutofit/>
                    </a:bodyPr>
                    <a:lstStyle/>
                    <a:p>
                      <a:pPr algn="l">
                        <a:buNone/>
                      </a:pPr>
                      <a:r>
                        <a:rPr sz="1725" b="1">
                          <a:solidFill>
                            <a:srgbClr val="FFFFFF"/>
                          </a:solidFill>
                          <a:latin typeface="Malgun Gothic"/>
                          <a:ea typeface="Malgun Gothic"/>
                          <a:cs typeface="Malgun Gothic"/>
                        </a:rPr>
                        <a:t>업무 배포</a:t>
                      </a:r>
                    </a:p>
                    <a:p>
                      <a:pPr algn="l">
                        <a:buNone/>
                      </a:pPr>
                      <a:r>
                        <a:rPr sz="1725" b="1">
                          <a:solidFill>
                            <a:srgbClr val="FFFFFF"/>
                          </a:solidFill>
                          <a:latin typeface="Malgun Gothic"/>
                          <a:ea typeface="Malgun Gothic"/>
                          <a:cs typeface="Malgun Gothic"/>
                        </a:rPr>
                        <a:t>10/20 목표</a:t>
                      </a:r>
                    </a:p>
                  </a:txBody>
                  <a:tcPr marL="114300" marR="114300" marT="28575" marB="28575" anchor="ctr">
                    <a:solidFill>
                      <a:srgbClr val="142D40"/>
                    </a:solidFill>
                  </a:tcPr>
                </a:tc>
                <a:tc>
                  <a:txBody>
                    <a:bodyPr wrap="square">
                      <a:noAutofit/>
                    </a:bodyPr>
                    <a:lstStyle/>
                    <a:p>
                      <a:pPr algn="l">
                        <a:buNone/>
                      </a:pPr>
                      <a:r>
                        <a:rPr sz="1725" b="1">
                          <a:solidFill>
                            <a:srgbClr val="FFFFFF"/>
                          </a:solidFill>
                          <a:latin typeface="Malgun Gothic"/>
                          <a:ea typeface="Malgun Gothic"/>
                          <a:cs typeface="Malgun Gothic"/>
                        </a:rPr>
                        <a:t>통합 검증</a:t>
                      </a:r>
                    </a:p>
                    <a:p>
                      <a:pPr algn="l">
                        <a:buNone/>
                      </a:pPr>
                      <a:r>
                        <a:rPr sz="1725" b="1">
                          <a:solidFill>
                            <a:srgbClr val="FFFFFF"/>
                          </a:solidFill>
                          <a:latin typeface="Malgun Gothic"/>
                          <a:ea typeface="Malgun Gothic"/>
                          <a:cs typeface="Malgun Gothic"/>
                        </a:rPr>
                        <a:t>10/22 목표</a:t>
                      </a:r>
                    </a:p>
                  </a:txBody>
                  <a:tcPr marL="114300" marR="114300" marT="28575" marB="28575" anchor="ctr">
                    <a:solidFill>
                      <a:srgbClr val="142D40"/>
                    </a:solidFill>
                  </a:tcPr>
                </a:tc>
              </a:tr>
              <a:tr h="476250">
                <a:tc>
                  <a:txBody>
                    <a:bodyPr wrap="square">
                      <a:noAutofit/>
                    </a:bodyPr>
                    <a:lstStyle/>
                    <a:p>
                      <a:pPr algn="l">
                        <a:buNone/>
                      </a:pPr>
                      <a:r>
                        <a:rPr sz="1650" b="0">
                          <a:solidFill>
                            <a:srgbClr val="142D40"/>
                          </a:solidFill>
                          <a:latin typeface="Malgun Gothic"/>
                          <a:ea typeface="Malgun Gothic"/>
                          <a:cs typeface="Malgun Gothic"/>
                        </a:rPr>
                        <a:t>로컬·공용 OpenShift</a:t>
                      </a:r>
                    </a:p>
                  </a:txBody>
                  <a:tcPr marL="114300" marR="114300" marT="28575" marB="28575" anchor="ctr">
                    <a:solidFill>
                      <a:srgbClr val="FFFFFF"/>
                    </a:solidFill>
                  </a:tcPr>
                </a:tc>
                <a:tc>
                  <a:txBody>
                    <a:bodyPr wrap="square">
                      <a:noAutofit/>
                    </a:bodyPr>
                    <a:lstStyle/>
                    <a:p>
                      <a:pPr algn="l">
                        <a:buNone/>
                      </a:pPr>
                      <a:r>
                        <a:rPr sz="1650" b="0">
                          <a:solidFill>
                            <a:srgbClr val="142D40"/>
                          </a:solidFill>
                          <a:latin typeface="Malgun Gothic"/>
                          <a:ea typeface="Malgun Gothic"/>
                          <a:cs typeface="Malgun Gothic"/>
                        </a:rPr>
                        <a:t>실제 AWS·기존 서버</a:t>
                      </a:r>
                    </a:p>
                  </a:txBody>
                  <a:tcPr marL="114300" marR="114300" marT="28575" marB="28575" anchor="ctr">
                    <a:solidFill>
                      <a:srgbClr val="FFFFFF"/>
                    </a:solidFill>
                  </a:tcPr>
                </a:tc>
                <a:tc>
                  <a:txBody>
                    <a:bodyPr wrap="square">
                      <a:noAutofit/>
                    </a:bodyPr>
                    <a:lstStyle/>
                    <a:p>
                      <a:pPr algn="l">
                        <a:buNone/>
                      </a:pPr>
                      <a:r>
                        <a:rPr sz="1650" b="0">
                          <a:solidFill>
                            <a:srgbClr val="142D40"/>
                          </a:solidFill>
                          <a:latin typeface="Malgun Gothic"/>
                          <a:ea typeface="Malgun Gothic"/>
                          <a:cs typeface="Malgun Gothic"/>
                        </a:rPr>
                        <a:t>실제 ROSA</a:t>
                      </a:r>
                    </a:p>
                  </a:txBody>
                  <a:tcPr marL="114300" marR="114300" marT="28575" marB="28575" anchor="ctr">
                    <a:solidFill>
                      <a:srgbClr val="FFFFFF"/>
                    </a:solidFill>
                  </a:tcPr>
                </a:tc>
                <a:tc>
                  <a:txBody>
                    <a:bodyPr wrap="square">
                      <a:noAutofit/>
                    </a:bodyPr>
                    <a:lstStyle/>
                    <a:p>
                      <a:pPr algn="l">
                        <a:buNone/>
                      </a:pPr>
                      <a:r>
                        <a:rPr sz="1650" b="0">
                          <a:solidFill>
                            <a:srgbClr val="142D40"/>
                          </a:solidFill>
                          <a:latin typeface="Malgun Gothic"/>
                          <a:ea typeface="Malgun Gothic"/>
                          <a:cs typeface="Malgun Gothic"/>
                        </a:rPr>
                        <a:t>동일 ROSA·기존 DB</a:t>
                      </a:r>
                    </a:p>
                  </a:txBody>
                  <a:tcPr marL="114300" marR="114300" marT="28575" marB="28575" anchor="ctr">
                    <a:solidFill>
                      <a:srgbClr val="FFFFFF"/>
                    </a:solidFill>
                  </a:tcPr>
                </a:tc>
              </a:tr>
              <a:tr h="1219200">
                <a:tc>
                  <a:txBody>
                    <a:bodyPr wrap="square">
                      <a:noAutofit/>
                    </a:bodyPr>
                    <a:lstStyle/>
                    <a:p>
                      <a:pPr algn="l">
                        <a:buNone/>
                      </a:pPr>
                      <a:r>
                        <a:rPr sz="1650" b="0">
                          <a:solidFill>
                            <a:srgbClr val="142D40"/>
                          </a:solidFill>
                          <a:latin typeface="Malgun Gothic"/>
                          <a:ea typeface="Malgun Gothic"/>
                          <a:cs typeface="Malgun Gothic"/>
                        </a:rPr>
                        <a:t>입력·권한·비용 정리</a:t>
                      </a:r>
                    </a:p>
                    <a:p>
                      <a:pPr algn="l">
                        <a:buNone/>
                      </a:pPr>
                      <a:r>
                        <a:rPr sz="1650" b="0">
                          <a:solidFill>
                            <a:srgbClr val="142D40"/>
                          </a:solidFill>
                          <a:latin typeface="Malgun Gothic"/>
                          <a:ea typeface="Malgun Gothic"/>
                          <a:cs typeface="Malgun Gothic"/>
                        </a:rPr>
                        <a:t>이권욱 취합, 전원</a:t>
                      </a:r>
                    </a:p>
                  </a:txBody>
                  <a:tcPr marL="114300" marR="114300" marT="28575" marB="28575" anchor="ctr">
                    <a:solidFill>
                      <a:srgbClr val="F4F8FA"/>
                    </a:solidFill>
                  </a:tcPr>
                </a:tc>
                <a:tc>
                  <a:txBody>
                    <a:bodyPr wrap="square">
                      <a:noAutofit/>
                    </a:bodyPr>
                    <a:lstStyle/>
                    <a:p>
                      <a:pPr algn="l">
                        <a:buNone/>
                      </a:pPr>
                      <a:r>
                        <a:rPr sz="1650" b="0">
                          <a:solidFill>
                            <a:srgbClr val="142D40"/>
                          </a:solidFill>
                          <a:latin typeface="Malgun Gothic"/>
                          <a:ea typeface="Malgun Gothic"/>
                          <a:cs typeface="Malgun Gothic"/>
                        </a:rPr>
                        <a:t>인프라  이하영</a:t>
                      </a:r>
                    </a:p>
                    <a:p>
                      <a:pPr algn="l">
                        <a:buNone/>
                      </a:pPr>
                      <a:r>
                        <a:rPr sz="1650" b="0">
                          <a:solidFill>
                            <a:srgbClr val="142D40"/>
                          </a:solidFill>
                          <a:latin typeface="Malgun Gothic"/>
                          <a:ea typeface="Malgun Gothic"/>
                          <a:cs typeface="Malgun Gothic"/>
                        </a:rPr>
                        <a:t>VPN  이재환</a:t>
                      </a:r>
                    </a:p>
                  </a:txBody>
                  <a:tcPr marL="114300" marR="114300" marT="28575" marB="28575" anchor="ctr">
                    <a:solidFill>
                      <a:srgbClr val="F4F8FA"/>
                    </a:solidFill>
                  </a:tcPr>
                </a:tc>
                <a:tc>
                  <a:txBody>
                    <a:bodyPr wrap="square">
                      <a:noAutofit/>
                    </a:bodyPr>
                    <a:lstStyle/>
                    <a:p>
                      <a:pPr algn="l">
                        <a:buNone/>
                      </a:pPr>
                      <a:r>
                        <a:rPr sz="1650" b="0">
                          <a:solidFill>
                            <a:srgbClr val="142D40"/>
                          </a:solidFill>
                          <a:latin typeface="Malgun Gothic"/>
                          <a:ea typeface="Malgun Gothic"/>
                          <a:cs typeface="Malgun Gothic"/>
                        </a:rPr>
                        <a:t>플랫폼  이하영</a:t>
                      </a:r>
                    </a:p>
                    <a:p>
                      <a:pPr algn="l">
                        <a:buNone/>
                      </a:pPr>
                      <a:r>
                        <a:rPr sz="1650" b="0">
                          <a:solidFill>
                            <a:srgbClr val="142D40"/>
                          </a:solidFill>
                          <a:latin typeface="Malgun Gothic"/>
                          <a:ea typeface="Malgun Gothic"/>
                          <a:cs typeface="Malgun Gothic"/>
                        </a:rPr>
                        <a:t>앱  이재환(16·19일)</a:t>
                      </a:r>
                    </a:p>
                    <a:p>
                      <a:pPr algn="l">
                        <a:buNone/>
                      </a:pPr>
                      <a:r>
                        <a:rPr sz="1650" b="0">
                          <a:solidFill>
                            <a:srgbClr val="142D40"/>
                          </a:solidFill>
                          <a:latin typeface="Malgun Gothic"/>
                          <a:ea typeface="Malgun Gothic"/>
                          <a:cs typeface="Malgun Gothic"/>
                        </a:rPr>
                        <a:t>자동 배포  이권욱</a:t>
                      </a:r>
                    </a:p>
                  </a:txBody>
                  <a:tcPr marL="114300" marR="114300" marT="28575" marB="28575" anchor="ctr">
                    <a:solidFill>
                      <a:srgbClr val="F4F8FA"/>
                    </a:solidFill>
                  </a:tcPr>
                </a:tc>
                <a:tc>
                  <a:txBody>
                    <a:bodyPr wrap="square">
                      <a:noAutofit/>
                    </a:bodyPr>
                    <a:lstStyle/>
                    <a:p>
                      <a:pPr algn="l">
                        <a:buNone/>
                      </a:pPr>
                      <a:r>
                        <a:rPr sz="1650" b="0">
                          <a:solidFill>
                            <a:srgbClr val="142D40"/>
                          </a:solidFill>
                          <a:latin typeface="Malgun Gothic"/>
                          <a:ea typeface="Malgun Gothic"/>
                          <a:cs typeface="Malgun Gothic"/>
                        </a:rPr>
                        <a:t>DB·업무·복구 시험</a:t>
                      </a:r>
                    </a:p>
                    <a:p>
                      <a:pPr algn="l">
                        <a:buNone/>
                      </a:pPr>
                      <a:r>
                        <a:rPr sz="1650" b="0">
                          <a:solidFill>
                            <a:srgbClr val="142D40"/>
                          </a:solidFill>
                          <a:latin typeface="Malgun Gothic"/>
                          <a:ea typeface="Malgun Gothic"/>
                          <a:cs typeface="Malgun Gothic"/>
                        </a:rPr>
                        <a:t>이재환, 전원 협업</a:t>
                      </a:r>
                    </a:p>
                  </a:txBody>
                  <a:tcPr marL="114300" marR="114300" marT="28575" marB="28575" anchor="ctr">
                    <a:solidFill>
                      <a:srgbClr val="F4F8FA"/>
                    </a:solidFill>
                  </a:tcPr>
                </a:tc>
              </a:tr>
              <a:tr h="704850">
                <a:tc>
                  <a:txBody>
                    <a:bodyPr wrap="square">
                      <a:noAutofit/>
                    </a:bodyPr>
                    <a:lstStyle/>
                    <a:p>
                      <a:pPr algn="l">
                        <a:buNone/>
                      </a:pPr>
                      <a:r>
                        <a:rPr sz="1650" b="0">
                          <a:solidFill>
                            <a:srgbClr val="142D40"/>
                          </a:solidFill>
                          <a:latin typeface="Malgun Gothic"/>
                          <a:ea typeface="Malgun Gothic"/>
                          <a:cs typeface="Malgun Gothic"/>
                        </a:rPr>
                        <a:t>생성 전 조건 확인</a:t>
                      </a:r>
                    </a:p>
                  </a:txBody>
                  <a:tcPr marL="114300" marR="114300" marT="28575" marB="28575" anchor="ctr">
                    <a:solidFill>
                      <a:srgbClr val="FFFFFF"/>
                    </a:solidFill>
                  </a:tcPr>
                </a:tc>
                <a:tc>
                  <a:txBody>
                    <a:bodyPr wrap="square">
                      <a:noAutofit/>
                    </a:bodyPr>
                    <a:lstStyle/>
                    <a:p>
                      <a:pPr algn="l">
                        <a:buNone/>
                      </a:pPr>
                      <a:r>
                        <a:rPr sz="1650" b="0">
                          <a:solidFill>
                            <a:srgbClr val="142D40"/>
                          </a:solidFill>
                          <a:latin typeface="Malgun Gothic"/>
                          <a:ea typeface="Malgun Gothic"/>
                          <a:cs typeface="Malgun Gothic"/>
                        </a:rPr>
                        <a:t>전체 인프라·VPN</a:t>
                      </a:r>
                    </a:p>
                    <a:p>
                      <a:pPr algn="l">
                        <a:buNone/>
                      </a:pPr>
                      <a:r>
                        <a:rPr sz="1650" b="0">
                          <a:solidFill>
                            <a:srgbClr val="142D40"/>
                          </a:solidFill>
                          <a:latin typeface="Malgun Gothic"/>
                          <a:ea typeface="Malgun Gothic"/>
                          <a:cs typeface="Malgun Gothic"/>
                        </a:rPr>
                        <a:t>허용/차단/복구</a:t>
                      </a:r>
                    </a:p>
                  </a:txBody>
                  <a:tcPr marL="114300" marR="114300" marT="28575" marB="28575" anchor="ctr">
                    <a:solidFill>
                      <a:srgbClr val="FFFFFF"/>
                    </a:solidFill>
                  </a:tcPr>
                </a:tc>
                <a:tc>
                  <a:txBody>
                    <a:bodyPr wrap="square">
                      <a:noAutofit/>
                    </a:bodyPr>
                    <a:lstStyle/>
                    <a:p>
                      <a:pPr algn="l">
                        <a:buNone/>
                      </a:pPr>
                      <a:r>
                        <a:rPr sz="1650" b="0">
                          <a:solidFill>
                            <a:srgbClr val="142D40"/>
                          </a:solidFill>
                          <a:latin typeface="Malgun Gothic"/>
                          <a:ea typeface="Malgun Gothic"/>
                          <a:cs typeface="Malgun Gothic"/>
                        </a:rPr>
                        <a:t>배포 성공·실패 차단·복구</a:t>
                      </a:r>
                    </a:p>
                  </a:txBody>
                  <a:tcPr marL="114300" marR="114300" marT="28575" marB="28575" anchor="ctr">
                    <a:solidFill>
                      <a:srgbClr val="FFFFFF"/>
                    </a:solidFill>
                  </a:tcPr>
                </a:tc>
                <a:tc>
                  <a:txBody>
                    <a:bodyPr wrap="square">
                      <a:noAutofit/>
                    </a:bodyPr>
                    <a:lstStyle/>
                    <a:p>
                      <a:pPr algn="l">
                        <a:buNone/>
                      </a:pPr>
                      <a:r>
                        <a:rPr sz="1650" b="0">
                          <a:solidFill>
                            <a:srgbClr val="142D40"/>
                          </a:solidFill>
                          <a:latin typeface="Malgun Gothic"/>
                          <a:ea typeface="Malgun Gothic"/>
                          <a:cs typeface="Malgun Gothic"/>
                        </a:rPr>
                        <a:t>정상·장애·최종 회귀</a:t>
                      </a:r>
                    </a:p>
                  </a:txBody>
                  <a:tcPr marL="114300" marR="114300" marT="28575" marB="28575" anchor="ctr">
                    <a:solidFill>
                      <a:srgbClr val="FFFFFF"/>
                    </a:solidFill>
                  </a:tcPr>
                </a:tc>
              </a:tr>
            </a:tbl>
          </a:graphicData>
        </a:graphic>
      </p:graphicFrame>
      <p:sp>
        <p:nvSpPr>
          <p:cNvPr id="18" name="환경별 구현 순서와 P0/P1 경계">
            <a:extLst xmlns:a="http://schemas.openxmlformats.org/drawingml/2006/main">
              <a:ext uri="{FF2B5EF4-FFF2-40B4-BE49-F238E27FC236}">
                <a16:creationId xmlns:a16="http://schemas.microsoft.com/office/drawing/2014/main" id="{FD8074F3-2FB6-472C-AF67-0538AE9C91DD}"/>
              </a:ext>
            </a:extLst>
          </p:cNvPr>
          <p:cNvSpPr>
            <a:spLocks xmlns:a="http://schemas.openxmlformats.org/drawingml/2006/main" noGrp="1"/>
          </p:cNvSpPr>
          <p:nvPr/>
        </p:nvSpPr>
        <p:spPr>
          <a:xfrm xmlns:a="http://schemas.openxmlformats.org/drawingml/2006/main">
            <a:off x="685800" y="40957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D40"/>
                </a:solidFill>
                <a:latin typeface="Malgun Gothic"/>
                <a:ea typeface="Malgun Gothic"/>
                <a:cs typeface="Malgun Gothic"/>
              </a:defRPr>
            </a:pPr>
            <a:r>
              <a:rPr sz="2400" b="1">
                <a:solidFill>
                  <a:srgbClr val="1C242B"/>
                </a:solidFill>
                <a:latin typeface="Malgun Gothic"/>
                <a:ea typeface="Malgun Gothic"/>
                <a:cs typeface="Malgun Gothic"/>
              </a:rPr>
              <a:t>환경별 구현 순서와 P0/P1 경계</a:t>
            </a:r>
          </a:p>
        </p:txBody>
      </p:sp>
      <p:sp>
        <p:nvSpPr>
          <p:cNvPr id="19" name="P0는 필수 업무 연결과 인수 검증입니다. P1은 배포 검증 후 도입 여건을 판단합니다">
            <a:extLst xmlns:a="http://schemas.openxmlformats.org/drawingml/2006/main">
              <a:ext uri="{FF2B5EF4-FFF2-40B4-BE49-F238E27FC236}">
                <a16:creationId xmlns:a16="http://schemas.microsoft.com/office/drawing/2014/main" id="{3AEFFA48-89FA-4597-AA1B-B2CFB57BFD76}"/>
              </a:ext>
            </a:extLst>
          </p:cNvPr>
          <p:cNvSpPr>
            <a:spLocks xmlns:a="http://schemas.openxmlformats.org/drawingml/2006/main" noGrp="1"/>
          </p:cNvSpPr>
          <p:nvPr/>
        </p:nvSpPr>
        <p:spPr>
          <a:xfrm xmlns:a="http://schemas.openxmlformats.org/drawingml/2006/main">
            <a:off x="685800" y="10763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675"/>
                </a:solidFill>
                <a:latin typeface="Malgun Gothic"/>
                <a:ea typeface="Malgun Gothic"/>
                <a:cs typeface="Malgun Gothic"/>
              </a:defRPr>
            </a:pPr>
            <a:r>
              <a:rPr sz="1400" b="0">
                <a:solidFill>
                  <a:srgbClr val="3D4C57"/>
                </a:solidFill>
                <a:latin typeface="Malgun Gothic"/>
                <a:ea typeface="Malgun Gothic"/>
                <a:cs typeface="Malgun Gothic"/>
              </a:rPr>
              <a:t>P0는 필수 업무 연결과 인수 검증입니다. P1은 배포 검증 후 도입 여건을 판단합니다</a:t>
            </a:r>
          </a:p>
        </p:txBody>
      </p:sp>
      <p:sp>
        <p:nvSpPr>
          <p:cNvPr id="20" name="04">
            <a:extLst xmlns:a="http://schemas.openxmlformats.org/drawingml/2006/main">
              <a:ext uri="{FF2B5EF4-FFF2-40B4-BE49-F238E27FC236}">
                <a16:creationId xmlns:a16="http://schemas.microsoft.com/office/drawing/2014/main" id="{AD3B0126-9F8F-4687-ADAC-E96EC3098A1C}"/>
              </a:ext>
            </a:extLst>
          </p:cNvPr>
          <p:cNvSpPr>
            <a:spLocks xmlns:a="http://schemas.openxmlformats.org/drawingml/2006/main" noGrp="1"/>
          </p:cNvSpPr>
          <p:nvPr/>
        </p:nvSpPr>
        <p:spPr>
          <a:xfrm xmlns:a="http://schemas.openxmlformats.org/drawingml/2006/main">
            <a:off x="10620375" y="6410325"/>
            <a:ext cx="885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675"/>
                </a:solidFill>
                <a:latin typeface="Malgun Gothic"/>
                <a:ea typeface="Malgun Gothic"/>
                <a:cs typeface="Malgun Gothic"/>
              </a:defRPr>
            </a:pPr>
            <a:r>
              <a:rPr sz="1200" b="0">
                <a:solidFill>
                  <a:srgbClr val="526675"/>
                </a:solidFill>
                <a:latin typeface="Malgun Gothic"/>
                <a:ea typeface="Malgun Gothic"/>
                <a:cs typeface="Malgun Gothic"/>
              </a:rPr>
              <a:t>04</a:t>
            </a:r>
          </a:p>
        </p:txBody>
      </p:sp>
      <p:sp>
        <p:nvSpPr>
          <p:cNvPr id="21" name="앱 정상 판정 전 최소 DB 연결 확보 필요. 앱 작업은 10/16·10/19, 두 근무일">
            <a:extLst xmlns:a="http://schemas.openxmlformats.org/drawingml/2006/main">
              <a:ext uri="{FF2B5EF4-FFF2-40B4-BE49-F238E27FC236}">
                <a16:creationId xmlns:a16="http://schemas.microsoft.com/office/drawing/2014/main" id="{60721D68-EA96-4E12-A1BE-D934210B0451}"/>
              </a:ext>
            </a:extLst>
          </p:cNvPr>
          <p:cNvSpPr>
            <a:spLocks xmlns:a="http://schemas.openxmlformats.org/drawingml/2006/main" noGrp="1"/>
          </p:cNvSpPr>
          <p:nvPr/>
        </p:nvSpPr>
        <p:spPr>
          <a:xfrm xmlns:a="http://schemas.openxmlformats.org/drawingml/2006/main">
            <a:off x="685800" y="510540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9A651A"/>
                </a:solidFill>
                <a:latin typeface="Malgun Gothic"/>
                <a:ea typeface="Malgun Gothic"/>
                <a:cs typeface="Malgun Gothic"/>
              </a:defRPr>
            </a:pPr>
            <a:r>
              <a:rPr sz="1725" b="1">
                <a:solidFill>
                  <a:srgbClr val="9A651A"/>
                </a:solidFill>
                <a:latin typeface="Malgun Gothic"/>
                <a:ea typeface="Malgun Gothic"/>
                <a:cs typeface="Malgun Gothic"/>
              </a:rPr>
              <a:t>앱 정상 판정 전 최소 DB 연결 확보 필요. 앱 작업은 10/16·10/19, 두 근무일</a:t>
            </a:r>
          </a:p>
        </p:txBody>
      </p:sp>
      <p:sp>
        <p:nvSpPr>
          <p:cNvPr id="22" name="P1  조건부 운영 확장">
            <a:extLst xmlns:a="http://schemas.openxmlformats.org/drawingml/2006/main">
              <a:ext uri="{FF2B5EF4-FFF2-40B4-BE49-F238E27FC236}">
                <a16:creationId xmlns:a16="http://schemas.microsoft.com/office/drawing/2014/main" id="{9FF97697-35AA-42CA-8217-DF46E5A1A685}"/>
              </a:ext>
            </a:extLst>
          </p:cNvPr>
          <p:cNvSpPr>
            <a:spLocks xmlns:a="http://schemas.openxmlformats.org/drawingml/2006/main" noGrp="1"/>
          </p:cNvSpPr>
          <p:nvPr/>
        </p:nvSpPr>
        <p:spPr>
          <a:xfrm xmlns:a="http://schemas.openxmlformats.org/drawingml/2006/main">
            <a:off x="685800" y="55721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81929D"/>
                </a:solidFill>
                <a:latin typeface="Malgun Gothic"/>
                <a:ea typeface="Malgun Gothic"/>
                <a:cs typeface="Malgun Gothic"/>
              </a:defRPr>
            </a:pPr>
            <a:r>
              <a:rPr sz="2025" b="1">
                <a:solidFill>
                  <a:srgbClr val="81929D"/>
                </a:solidFill>
                <a:latin typeface="Malgun Gothic"/>
                <a:ea typeface="Malgun Gothic"/>
                <a:cs typeface="Malgun Gothic"/>
              </a:rPr>
              <a:t>P1  조건부 운영 확장</a:t>
            </a:r>
          </a:p>
        </p:txBody>
      </p:sp>
      <p:sp>
        <p:nvSpPr>
          <p:cNvPr id="23" name="백업·전체 DNS·설정 기반 배포 등. 10/20 검증 후 지원·비용·작업 여력으로 판단">
            <a:extLst xmlns:a="http://schemas.openxmlformats.org/drawingml/2006/main">
              <a:ext uri="{FF2B5EF4-FFF2-40B4-BE49-F238E27FC236}">
                <a16:creationId xmlns:a16="http://schemas.microsoft.com/office/drawing/2014/main" id="{D2B93850-D303-4826-BE95-1F4C55EC24F2}"/>
              </a:ext>
            </a:extLst>
          </p:cNvPr>
          <p:cNvSpPr>
            <a:spLocks xmlns:a="http://schemas.openxmlformats.org/drawingml/2006/main" noGrp="1"/>
          </p:cNvSpPr>
          <p:nvPr/>
        </p:nvSpPr>
        <p:spPr>
          <a:xfrm xmlns:a="http://schemas.openxmlformats.org/drawingml/2006/main">
            <a:off x="685800" y="59721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675"/>
                </a:solidFill>
                <a:latin typeface="Malgun Gothic"/>
                <a:ea typeface="Malgun Gothic"/>
                <a:cs typeface="Malgun Gothic"/>
              </a:defRPr>
            </a:pPr>
            <a:r>
              <a:rPr sz="1200" b="0">
                <a:solidFill>
                  <a:srgbClr val="3D4C57"/>
                </a:solidFill>
                <a:latin typeface="Malgun Gothic"/>
                <a:ea typeface="Malgun Gothic"/>
                <a:cs typeface="Malgun Gothic"/>
              </a:rPr>
              <a:t>백업·전체 DNS·설정 기반 배포 등. 10/20 검증 후 지원·비용·작업 여력으로 판단</a:t>
            </a:r>
          </a:p>
        </p:txBody>
      </p:sp>
      <p:sp>
        <p:nvSpPr>
          <p:cNvPr id="24" name="10/23 산출물 검토·자원 정리, 10/26 종료 목표. 기존 경로 전환·DB 후속의 변경 창은 리뷰에서 ">
            <a:extLst xmlns:a="http://schemas.openxmlformats.org/drawingml/2006/main">
              <a:ext uri="{FF2B5EF4-FFF2-40B4-BE49-F238E27FC236}">
                <a16:creationId xmlns:a16="http://schemas.microsoft.com/office/drawing/2014/main" id="{95FB5A8D-A550-42B8-84D5-9C10B80EA787}"/>
              </a:ext>
            </a:extLst>
          </p:cNvPr>
          <p:cNvSpPr>
            <a:spLocks xmlns:a="http://schemas.openxmlformats.org/drawingml/2006/main" noGrp="1"/>
          </p:cNvSpPr>
          <p:nvPr/>
        </p:nvSpPr>
        <p:spPr>
          <a:xfrm xmlns:a="http://schemas.openxmlformats.org/drawingml/2006/main">
            <a:off x="685800" y="639127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6675"/>
                </a:solidFill>
                <a:latin typeface="Malgun Gothic"/>
                <a:ea typeface="Malgun Gothic"/>
                <a:cs typeface="Malgun Gothic"/>
              </a:defRPr>
            </a:pPr>
            <a:r>
              <a:rPr sz="1275" b="0">
                <a:solidFill>
                  <a:srgbClr val="526675"/>
                </a:solidFill>
                <a:latin typeface="Malgun Gothic"/>
                <a:ea typeface="Malgun Gothic"/>
                <a:cs typeface="Malgun Gothic"/>
              </a:rPr>
              <a:t>10/23 산출물 검토·자원 정리, 10/26 종료 목표. 기존 경로 전환·DB 후속의 변경 창은 리뷰에서 정리</a:t>
            </a:r>
          </a:p>
        </p:txBody>
      </p:sp>
      <p:sp xmlns:a="http://schemas.openxmlformats.org/drawingml/2006/main">
        <p:nvSpPr>
          <p:cNvPr id="26" name="Rectangle 25"/>
          <p:cNvSpPr/>
          <p:nvPr/>
        </p:nvSpPr>
        <p:spPr>
          <a:xfrm>
            <a:off x="0" y="0"/>
            <a:ext cx="12191695" cy="73152"/>
          </a:xfrm>
          <a:prstGeom prst="rect">
            <a:avLst/>
          </a:prstGeom>
          <a:solidFill>
            <a:srgbClr val="14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73152"/>
            <a:ext cx="73152" cy="6784848"/>
          </a:xfrm>
          <a:prstGeom prst="rect">
            <a:avLst/>
          </a:prstGeom>
          <a:solidFill>
            <a:srgbClr val="1F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ounded Rectangle 27"/>
          <p:cNvSpPr/>
          <p:nvPr/>
        </p:nvSpPr>
        <p:spPr>
          <a:xfrm>
            <a:off x="9646920" y="146304"/>
            <a:ext cx="2240280" cy="237744"/>
          </a:xfrm>
          <a:prstGeom prst="roundRect">
            <a:avLst>
              <a:gd name="adj" fmla="val 50000"/>
            </a:avLst>
          </a:prstGeom>
          <a:solidFill>
            <a:srgbClr val="FFFFFF"/>
          </a:solidFill>
          <a:ln w="12700">
            <a:solidFill>
              <a:srgbClr val="1F8A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8A8A"/>
                </a:solidFill>
                <a:latin typeface="Malgun Gothic"/>
                <a:ea typeface="Malgun Gothic"/>
                <a:cs typeface="Malgun Gothic"/>
              </a:rPr>
              <a:t>04  구현 순서</a:t>
            </a:r>
          </a:p>
        </p:txBody>
      </p:sp>
      <p:sp xmlns:a="http://schemas.openxmlformats.org/drawingml/2006/main">
        <p:nvSpPr>
          <p:cNvPr id="29" name="Rounded Rectangle 28"/>
          <p:cNvSpPr/>
          <p:nvPr/>
        </p:nvSpPr>
        <p:spPr>
          <a:xfrm>
            <a:off x="-27432000" y="-27432000"/>
            <a:ext cx="11155680" cy="713232"/>
          </a:xfrm>
          <a:prstGeom prst="roundRect">
            <a:avLst>
              <a:gd name="adj" fmla="val 15000"/>
            </a:avLst>
          </a:prstGeom>
          <a:solidFill>
            <a:srgbClr val="F7FBFB"/>
          </a:solidFill>
          <a:ln w="15875">
            <a:solidFill>
              <a:srgbClr val="1F8A8A"/>
            </a:solid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109728" bIns="73152"/>
          <a:lstStyle/>
          <a:p>
            <a:pPr algn="l">
              <a:spcAft>
                <a:spcPts val="300"/>
              </a:spcAft>
            </a:pPr>
            <a:r>
              <a:rPr sz="1400" b="1">
                <a:solidFill>
                  <a:srgbClr val="1C242B"/>
                </a:solidFill>
                <a:latin typeface="Malgun Gothic"/>
                <a:ea typeface="Malgun Gothic"/>
                <a:cs typeface="Malgun Gothic"/>
              </a:rPr>
              <a:t>오늘 경계  앱이 준비됐다고 보려면 최소 DB 연결이 먼저입니다. 날짜는 완료가 아닙니다.</a:t>
            </a:r>
          </a:p>
        </p:txBody>
      </p:sp>
    </p:spTree>
    <p:extLst>
      <p:ext uri="{BB962C8B-B14F-4D97-AF65-F5344CB8AC3E}">
        <p14:creationId xmlns:p14="http://schemas.microsoft.com/office/powerpoint/2010/main" val="12585710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17" name=""/>
          <p:cNvGraphicFramePr/>
          <p:nvPr/>
        </p:nvGraphicFramePr>
        <p:xfrm>
          <a:off xmlns:a="http://schemas.openxmlformats.org/drawingml/2006/main" x="685800" y="1790700"/>
          <a:ext xmlns:a="http://schemas.openxmlformats.org/drawingml/2006/main" cx="10820400" cy="4038600"/>
        </p:xfrm>
        <a:graphic xmlns:a="http://schemas.openxmlformats.org/drawingml/2006/main">
          <a:graphicData uri="http://schemas.openxmlformats.org/drawingml/2006/table">
            <a:tbl>
              <a:tblPr firstRow="1" bandRow="0"/>
              <a:tblGrid>
                <a:gridCol w="1762125"/>
                <a:gridCol w="5029200"/>
                <a:gridCol w="4029075"/>
              </a:tblGrid>
              <a:tr h="514350">
                <a:tc>
                  <a:txBody>
                    <a:bodyPr wrap="square">
                      <a:noAutofit/>
                    </a:bodyPr>
                    <a:lstStyle/>
                    <a:p>
                      <a:pPr algn="l">
                        <a:buNone/>
                      </a:pPr>
                      <a:r>
                        <a:rPr sz="1688" b="1">
                          <a:solidFill>
                            <a:srgbClr val="FFFFFF"/>
                          </a:solidFill>
                          <a:latin typeface="Malgun Gothic"/>
                          <a:ea typeface="Malgun Gothic"/>
                          <a:cs typeface="Malgun Gothic"/>
                        </a:rPr>
                        <a:t>준비 항목</a:t>
                      </a:r>
                    </a:p>
                  </a:txBody>
                  <a:tcPr marL="114300" marR="114300" marT="28575" marB="28575" anchor="ctr">
                    <a:solidFill>
                      <a:srgbClr val="142D40"/>
                    </a:solidFill>
                  </a:tcPr>
                </a:tc>
                <a:tc>
                  <a:txBody>
                    <a:bodyPr wrap="square">
                      <a:noAutofit/>
                    </a:bodyPr>
                    <a:lstStyle/>
                    <a:p>
                      <a:pPr algn="l">
                        <a:buNone/>
                      </a:pPr>
                      <a:r>
                        <a:rPr sz="1688" b="1">
                          <a:solidFill>
                            <a:srgbClr val="FFFFFF"/>
                          </a:solidFill>
                          <a:latin typeface="Malgun Gothic"/>
                          <a:ea typeface="Malgun Gothic"/>
                          <a:cs typeface="Malgun Gothic"/>
                        </a:rPr>
                        <a:t>확인된 진전</a:t>
                      </a:r>
                    </a:p>
                  </a:txBody>
                  <a:tcPr marL="114300" marR="114300" marT="28575" marB="28575" anchor="ctr">
                    <a:solidFill>
                      <a:srgbClr val="142D40"/>
                    </a:solidFill>
                  </a:tcPr>
                </a:tc>
                <a:tc>
                  <a:txBody>
                    <a:bodyPr wrap="square">
                      <a:noAutofit/>
                    </a:bodyPr>
                    <a:lstStyle/>
                    <a:p>
                      <a:pPr algn="l">
                        <a:buNone/>
                      </a:pPr>
                      <a:r>
                        <a:rPr sz="1688" b="1">
                          <a:solidFill>
                            <a:srgbClr val="FFFFFF"/>
                          </a:solidFill>
                          <a:latin typeface="Malgun Gothic"/>
                          <a:ea typeface="Malgun Gothic"/>
                          <a:cs typeface="Malgun Gothic"/>
                        </a:rPr>
                        <a:t>다음 작업</a:t>
                      </a:r>
                    </a:p>
                  </a:txBody>
                  <a:tcPr marL="114300" marR="114300" marT="28575" marB="28575" anchor="ctr">
                    <a:solidFill>
                      <a:srgbClr val="142D40"/>
                    </a:solidFill>
                  </a:tcPr>
                </a:tc>
              </a:tr>
              <a:tr h="704850">
                <a:tc>
                  <a:txBody>
                    <a:bodyPr wrap="square">
                      <a:noAutofit/>
                    </a:bodyPr>
                    <a:lstStyle/>
                    <a:p>
                      <a:pPr algn="l">
                        <a:buNone/>
                      </a:pPr>
                      <a:r>
                        <a:rPr sz="1613" b="0">
                          <a:solidFill>
                            <a:srgbClr val="142D40"/>
                          </a:solidFill>
                          <a:latin typeface="Malgun Gothic"/>
                          <a:ea typeface="Malgun Gothic"/>
                          <a:cs typeface="Malgun Gothic"/>
                        </a:rPr>
                        <a:t>설계·권한</a:t>
                      </a:r>
                    </a:p>
                  </a:txBody>
                  <a:tcPr marL="114300" marR="114300" marT="28575" marB="28575" anchor="ctr">
                    <a:solidFill>
                      <a:srgbClr val="FFFFFF"/>
                    </a:solidFill>
                  </a:tcPr>
                </a:tc>
                <a:tc>
                  <a:txBody>
                    <a:bodyPr wrap="square">
                      <a:noAutofit/>
                    </a:bodyPr>
                    <a:lstStyle/>
                    <a:p>
                      <a:pPr algn="l">
                        <a:buNone/>
                      </a:pPr>
                      <a:r>
                        <a:rPr sz="1613" b="0">
                          <a:solidFill>
                            <a:srgbClr val="142D40"/>
                          </a:solidFill>
                          <a:latin typeface="Malgun Gothic"/>
                          <a:ea typeface="Malgun Gothic"/>
                          <a:cs typeface="Malgun Gothic"/>
                        </a:rPr>
                        <a:t>역할·네트워크 정책 후보 병합</a:t>
                      </a:r>
                    </a:p>
                    <a:p>
                      <a:pPr algn="l">
                        <a:buNone/>
                      </a:pPr>
                      <a:r>
                        <a:rPr sz="1613" b="0">
                          <a:solidFill>
                            <a:srgbClr val="142D40"/>
                          </a:solidFill>
                          <a:latin typeface="Malgun Gothic"/>
                          <a:ea typeface="Malgun Gothic"/>
                          <a:cs typeface="Malgun Gothic"/>
                        </a:rPr>
                        <a:t>비교·대상 확인 도구 병합</a:t>
                      </a:r>
                    </a:p>
                  </a:txBody>
                  <a:tcPr marL="114300" marR="114300" marT="28575" marB="28575" anchor="ctr">
                    <a:solidFill>
                      <a:srgbClr val="FFFFFF"/>
                    </a:solidFill>
                  </a:tcPr>
                </a:tc>
                <a:tc>
                  <a:txBody>
                    <a:bodyPr wrap="square">
                      <a:noAutofit/>
                    </a:bodyPr>
                    <a:lstStyle/>
                    <a:p>
                      <a:pPr algn="l">
                        <a:buNone/>
                      </a:pPr>
                      <a:r>
                        <a:rPr sz="1613" b="0">
                          <a:solidFill>
                            <a:srgbClr val="142D40"/>
                          </a:solidFill>
                          <a:latin typeface="Malgun Gothic"/>
                          <a:ea typeface="Malgun Gothic"/>
                          <a:cs typeface="Malgun Gothic"/>
                        </a:rPr>
                        <a:t>최종 업무 정책·대상 검증</a:t>
                      </a:r>
                    </a:p>
                    <a:p>
                      <a:pPr algn="l">
                        <a:buNone/>
                      </a:pPr>
                      <a:r>
                        <a:rPr sz="1613" b="0">
                          <a:solidFill>
                            <a:srgbClr val="142D40"/>
                          </a:solidFill>
                          <a:latin typeface="Malgun Gothic"/>
                          <a:ea typeface="Malgun Gothic"/>
                          <a:cs typeface="Malgun Gothic"/>
                        </a:rPr>
                        <a:t>중앙 적용 후 각 본인 확인</a:t>
                      </a:r>
                    </a:p>
                  </a:txBody>
                  <a:tcPr marL="114300" marR="114300" marT="28575" marB="28575" anchor="ctr">
                    <a:solidFill>
                      <a:srgbClr val="FFFFFF"/>
                    </a:solidFill>
                  </a:tcPr>
                </a:tc>
              </a:tr>
              <a:tr h="704850">
                <a:tc>
                  <a:txBody>
                    <a:bodyPr wrap="square">
                      <a:noAutofit/>
                    </a:bodyPr>
                    <a:lstStyle/>
                    <a:p>
                      <a:pPr algn="l">
                        <a:buNone/>
                      </a:pPr>
                      <a:r>
                        <a:rPr sz="1613" b="0">
                          <a:solidFill>
                            <a:srgbClr val="142D40"/>
                          </a:solidFill>
                          <a:latin typeface="Malgun Gothic"/>
                          <a:ea typeface="Malgun Gothic"/>
                          <a:cs typeface="Malgun Gothic"/>
                        </a:rPr>
                        <a:t>인프라·플랫폼</a:t>
                      </a:r>
                    </a:p>
                  </a:txBody>
                  <a:tcPr marL="114300" marR="114300" marT="28575" marB="28575" anchor="ctr">
                    <a:solidFill>
                      <a:srgbClr val="F4F8FA"/>
                    </a:solidFill>
                  </a:tcPr>
                </a:tc>
                <a:tc>
                  <a:txBody>
                    <a:bodyPr wrap="square">
                      <a:noAutofit/>
                    </a:bodyPr>
                    <a:lstStyle/>
                    <a:p>
                      <a:pPr algn="l">
                        <a:buNone/>
                      </a:pPr>
                      <a:r>
                        <a:rPr sz="1613" b="0">
                          <a:solidFill>
                            <a:srgbClr val="142D40"/>
                          </a:solidFill>
                          <a:latin typeface="Malgun Gothic"/>
                          <a:ea typeface="Malgun Gothic"/>
                          <a:cs typeface="Malgun Gothic"/>
                        </a:rPr>
                        <a:t>AWS 인프라 골격 병합(생성 코드 0)</a:t>
                      </a:r>
                    </a:p>
                    <a:p>
                      <a:pPr algn="l">
                        <a:buNone/>
                      </a:pPr>
                      <a:r>
                        <a:rPr sz="1613" b="0">
                          <a:solidFill>
                            <a:srgbClr val="142D40"/>
                          </a:solidFill>
                          <a:latin typeface="Malgun Gothic"/>
                          <a:ea typeface="Malgun Gothic"/>
                          <a:cs typeface="Malgun Gothic"/>
                        </a:rPr>
                        <a:t>앱 허용 조건 검사 도구 병합</a:t>
                      </a:r>
                    </a:p>
                  </a:txBody>
                  <a:tcPr marL="114300" marR="114300" marT="28575" marB="28575" anchor="ctr">
                    <a:solidFill>
                      <a:srgbClr val="F4F8FA"/>
                    </a:solidFill>
                  </a:tcPr>
                </a:tc>
                <a:tc>
                  <a:txBody>
                    <a:bodyPr wrap="square">
                      <a:noAutofit/>
                    </a:bodyPr>
                    <a:lstStyle/>
                    <a:p>
                      <a:pPr algn="l">
                        <a:buNone/>
                      </a:pPr>
                      <a:r>
                        <a:rPr sz="1613" b="0">
                          <a:solidFill>
                            <a:srgbClr val="142D40"/>
                          </a:solidFill>
                          <a:latin typeface="Malgun Gothic"/>
                          <a:ea typeface="Malgun Gothic"/>
                          <a:cs typeface="Malgun Gothic"/>
                        </a:rPr>
                        <a:t>실제 자원 코드·상태 저장소</a:t>
                      </a:r>
                    </a:p>
                    <a:p>
                      <a:pPr algn="l">
                        <a:buNone/>
                      </a:pPr>
                      <a:r>
                        <a:rPr sz="1613" b="0">
                          <a:solidFill>
                            <a:srgbClr val="142D40"/>
                          </a:solidFill>
                          <a:latin typeface="Malgun Gothic"/>
                          <a:ea typeface="Malgun Gothic"/>
                          <a:cs typeface="Malgun Gothic"/>
                        </a:rPr>
                        <a:t>계획 검토·적용·실제 앱 검증</a:t>
                      </a:r>
                    </a:p>
                  </a:txBody>
                  <a:tcPr marL="114300" marR="114300" marT="28575" marB="28575" anchor="ctr">
                    <a:solidFill>
                      <a:srgbClr val="F4F8FA"/>
                    </a:solidFill>
                  </a:tcPr>
                </a:tc>
              </a:tr>
              <a:tr h="704850">
                <a:tc>
                  <a:txBody>
                    <a:bodyPr wrap="square">
                      <a:noAutofit/>
                    </a:bodyPr>
                    <a:lstStyle/>
                    <a:p>
                      <a:pPr algn="l">
                        <a:buNone/>
                      </a:pPr>
                      <a:r>
                        <a:rPr sz="1613" b="0">
                          <a:solidFill>
                            <a:srgbClr val="142D40"/>
                          </a:solidFill>
                          <a:latin typeface="Malgun Gothic"/>
                          <a:ea typeface="Malgun Gothic"/>
                          <a:cs typeface="Malgun Gothic"/>
                        </a:rPr>
                        <a:t>업무·자동 배포</a:t>
                      </a:r>
                    </a:p>
                  </a:txBody>
                  <a:tcPr marL="114300" marR="114300" marT="28575" marB="28575" anchor="ctr">
                    <a:solidFill>
                      <a:srgbClr val="FFFFFF"/>
                    </a:solidFill>
                  </a:tcPr>
                </a:tc>
                <a:tc>
                  <a:txBody>
                    <a:bodyPr wrap="square">
                      <a:noAutofit/>
                    </a:bodyPr>
                    <a:lstStyle/>
                    <a:p>
                      <a:pPr algn="l">
                        <a:buNone/>
                      </a:pPr>
                      <a:r>
                        <a:rPr sz="1613" b="0">
                          <a:solidFill>
                            <a:srgbClr val="142D40"/>
                          </a:solidFill>
                          <a:latin typeface="Malgun Gothic"/>
                          <a:ea typeface="Malgun Gothic"/>
                          <a:cs typeface="Malgun Gothic"/>
                        </a:rPr>
                        <a:t>앱 사양 입력 확보</a:t>
                      </a:r>
                    </a:p>
                    <a:p>
                      <a:pPr algn="l">
                        <a:buNone/>
                      </a:pPr>
                      <a:r>
                        <a:rPr sz="1613" b="0">
                          <a:solidFill>
                            <a:srgbClr val="142D40"/>
                          </a:solidFill>
                          <a:latin typeface="Malgun Gothic"/>
                          <a:ea typeface="Malgun Gothic"/>
                          <a:cs typeface="Malgun Gothic"/>
                        </a:rPr>
                        <a:t>배포·복구·승인·중복방지 코드 병합</a:t>
                      </a:r>
                    </a:p>
                  </a:txBody>
                  <a:tcPr marL="114300" marR="114300" marT="28575" marB="28575" anchor="ctr">
                    <a:solidFill>
                      <a:srgbClr val="FFFFFF"/>
                    </a:solidFill>
                  </a:tcPr>
                </a:tc>
                <a:tc>
                  <a:txBody>
                    <a:bodyPr wrap="square">
                      <a:noAutofit/>
                    </a:bodyPr>
                    <a:lstStyle/>
                    <a:p>
                      <a:pPr algn="l">
                        <a:buNone/>
                      </a:pPr>
                      <a:r>
                        <a:rPr sz="1613" b="0">
                          <a:solidFill>
                            <a:srgbClr val="142D40"/>
                          </a:solidFill>
                          <a:latin typeface="Malgun Gothic"/>
                          <a:ea typeface="Malgun Gothic"/>
                          <a:cs typeface="Malgun Gothic"/>
                        </a:rPr>
                        <a:t>공통 배포 파일·실행 계정 호환</a:t>
                      </a:r>
                    </a:p>
                    <a:p>
                      <a:pPr algn="l">
                        <a:buNone/>
                      </a:pPr>
                      <a:r>
                        <a:rPr sz="1613" b="0">
                          <a:solidFill>
                            <a:srgbClr val="142D40"/>
                          </a:solidFill>
                          <a:latin typeface="Malgun Gothic"/>
                          <a:ea typeface="Malgun Gothic"/>
                          <a:cs typeface="Malgun Gothic"/>
                        </a:rPr>
                        <a:t>실제 인증·배포·차단·복구</a:t>
                      </a:r>
                    </a:p>
                  </a:txBody>
                  <a:tcPr marL="114300" marR="114300" marT="28575" marB="28575" anchor="ctr">
                    <a:solidFill>
                      <a:srgbClr val="FFFFFF"/>
                    </a:solidFill>
                  </a:tcPr>
                </a:tc>
              </a:tr>
              <a:tr h="704850">
                <a:tc>
                  <a:txBody>
                    <a:bodyPr wrap="square">
                      <a:noAutofit/>
                    </a:bodyPr>
                    <a:lstStyle/>
                    <a:p>
                      <a:pPr algn="l">
                        <a:buNone/>
                      </a:pPr>
                      <a:r>
                        <a:rPr sz="1613" b="0">
                          <a:solidFill>
                            <a:srgbClr val="142D40"/>
                          </a:solidFill>
                          <a:latin typeface="Malgun Gothic"/>
                          <a:ea typeface="Malgun Gothic"/>
                          <a:cs typeface="Malgun Gothic"/>
                        </a:rPr>
                        <a:t>연결·이미지 공급</a:t>
                      </a:r>
                    </a:p>
                  </a:txBody>
                  <a:tcPr marL="114300" marR="114300" marT="28575" marB="28575" anchor="ctr">
                    <a:solidFill>
                      <a:srgbClr val="F4F8FA"/>
                    </a:solidFill>
                  </a:tcPr>
                </a:tc>
                <a:tc>
                  <a:txBody>
                    <a:bodyPr wrap="square">
                      <a:noAutofit/>
                    </a:bodyPr>
                    <a:lstStyle/>
                    <a:p>
                      <a:pPr algn="l">
                        <a:buNone/>
                      </a:pPr>
                      <a:r>
                        <a:rPr sz="1613" b="0">
                          <a:solidFill>
                            <a:srgbClr val="142D40"/>
                          </a:solidFill>
                          <a:latin typeface="Malgun Gothic"/>
                          <a:ea typeface="Malgun Gothic"/>
                          <a:cs typeface="Malgun Gothic"/>
                        </a:rPr>
                        <a:t>VPN 관문 재부팅·외부 통신 관측</a:t>
                      </a:r>
                    </a:p>
                    <a:p>
                      <a:pPr algn="l">
                        <a:buNone/>
                      </a:pPr>
                      <a:r>
                        <a:rPr sz="1613" b="0">
                          <a:solidFill>
                            <a:srgbClr val="142D40"/>
                          </a:solidFill>
                          <a:latin typeface="Malgun Gothic"/>
                          <a:ea typeface="Malgun Gothic"/>
                          <a:cs typeface="Malgun Gothic"/>
                        </a:rPr>
                        <a:t>인증서 기초 확인 보고</a:t>
                      </a:r>
                    </a:p>
                  </a:txBody>
                  <a:tcPr marL="114300" marR="114300" marT="28575" marB="28575" anchor="ctr">
                    <a:solidFill>
                      <a:srgbClr val="F4F8FA"/>
                    </a:solidFill>
                  </a:tcPr>
                </a:tc>
                <a:tc>
                  <a:txBody>
                    <a:bodyPr wrap="square">
                      <a:noAutofit/>
                    </a:bodyPr>
                    <a:lstStyle/>
                    <a:p>
                      <a:pPr algn="l">
                        <a:buNone/>
                      </a:pPr>
                      <a:r>
                        <a:rPr sz="1613" b="0">
                          <a:solidFill>
                            <a:srgbClr val="142D40"/>
                          </a:solidFill>
                          <a:latin typeface="Malgun Gothic"/>
                          <a:ea typeface="Malgun Gothic"/>
                          <a:cs typeface="Malgun Gothic"/>
                        </a:rPr>
                        <a:t>AWS 실제 터널·지속·복구</a:t>
                      </a:r>
                    </a:p>
                    <a:p>
                      <a:pPr algn="l">
                        <a:buNone/>
                      </a:pPr>
                      <a:r>
                        <a:rPr sz="1613" b="0">
                          <a:solidFill>
                            <a:srgbClr val="142D40"/>
                          </a:solidFill>
                          <a:latin typeface="Malgun Gothic"/>
                          <a:ea typeface="Malgun Gothic"/>
                          <a:cs typeface="Malgun Gothic"/>
                        </a:rPr>
                        <a:t>신규 DNS·관리 접속·저장소 선택</a:t>
                      </a:r>
                    </a:p>
                  </a:txBody>
                  <a:tcPr marL="114300" marR="114300" marT="28575" marB="28575" anchor="ctr">
                    <a:solidFill>
                      <a:srgbClr val="F4F8FA"/>
                    </a:solidFill>
                  </a:tcPr>
                </a:tc>
              </a:tr>
              <a:tr h="704850">
                <a:tc>
                  <a:txBody>
                    <a:bodyPr wrap="square">
                      <a:noAutofit/>
                    </a:bodyPr>
                    <a:lstStyle/>
                    <a:p>
                      <a:pPr algn="l">
                        <a:buNone/>
                      </a:pPr>
                      <a:r>
                        <a:rPr sz="1613" b="0">
                          <a:solidFill>
                            <a:srgbClr val="142D40"/>
                          </a:solidFill>
                          <a:latin typeface="Malgun Gothic"/>
                          <a:ea typeface="Malgun Gothic"/>
                          <a:cs typeface="Malgun Gothic"/>
                        </a:rPr>
                        <a:t>비용·용량</a:t>
                      </a:r>
                    </a:p>
                  </a:txBody>
                  <a:tcPr marL="114300" marR="114300" marT="28575" marB="28575" anchor="ctr">
                    <a:solidFill>
                      <a:srgbClr val="FFFFFF"/>
                    </a:solidFill>
                  </a:tcPr>
                </a:tc>
                <a:tc>
                  <a:txBody>
                    <a:bodyPr wrap="square">
                      <a:noAutofit/>
                    </a:bodyPr>
                    <a:lstStyle/>
                    <a:p>
                      <a:pPr algn="l">
                        <a:buNone/>
                      </a:pPr>
                      <a:r>
                        <a:rPr sz="1613" b="0">
                          <a:solidFill>
                            <a:srgbClr val="142D40"/>
                          </a:solidFill>
                          <a:latin typeface="Malgun Gothic"/>
                          <a:ea typeface="Malgun Gothic"/>
                          <a:cs typeface="Malgun Gothic"/>
                        </a:rPr>
                        <a:t>수집 양식·검사 도구 준비</a:t>
                      </a:r>
                    </a:p>
                  </a:txBody>
                  <a:tcPr marL="114300" marR="114300" marT="28575" marB="28575" anchor="ctr">
                    <a:solidFill>
                      <a:srgbClr val="FFFFFF"/>
                    </a:solidFill>
                  </a:tcPr>
                </a:tc>
                <a:tc>
                  <a:txBody>
                    <a:bodyPr wrap="square">
                      <a:noAutofit/>
                    </a:bodyPr>
                    <a:lstStyle/>
                    <a:p>
                      <a:pPr algn="l">
                        <a:buNone/>
                      </a:pPr>
                      <a:r>
                        <a:rPr sz="1613" b="0">
                          <a:solidFill>
                            <a:srgbClr val="142D40"/>
                          </a:solidFill>
                          <a:latin typeface="Malgun Gothic"/>
                          <a:ea typeface="Malgun Gothic"/>
                          <a:cs typeface="Malgun Gothic"/>
                        </a:rPr>
                        <a:t>지원·용량·전체 완료비용</a:t>
                      </a:r>
                    </a:p>
                    <a:p>
                      <a:pPr algn="l">
                        <a:buNone/>
                      </a:pPr>
                      <a:r>
                        <a:rPr sz="1613" b="0">
                          <a:solidFill>
                            <a:srgbClr val="142D40"/>
                          </a:solidFill>
                          <a:latin typeface="Malgun Gothic"/>
                          <a:ea typeface="Malgun Gothic"/>
                          <a:cs typeface="Malgun Gothic"/>
                        </a:rPr>
                        <a:t>적용 한도·가동시간·설계 확정</a:t>
                      </a:r>
                    </a:p>
                  </a:txBody>
                  <a:tcPr marL="114300" marR="114300" marT="28575" marB="28575" anchor="ctr">
                    <a:solidFill>
                      <a:srgbClr val="FFFFFF"/>
                    </a:solidFill>
                  </a:tcPr>
                </a:tc>
              </a:tr>
            </a:tbl>
          </a:graphicData>
        </a:graphic>
      </p:graphicFrame>
      <p:sp>
        <p:nvSpPr>
          <p:cNvPr id="13" name="사전 작업 진행 현황">
            <a:extLst xmlns:a="http://schemas.openxmlformats.org/drawingml/2006/main">
              <a:ext uri="{FF2B5EF4-FFF2-40B4-BE49-F238E27FC236}">
                <a16:creationId xmlns:a16="http://schemas.microsoft.com/office/drawing/2014/main" id="{047DD5A7-A8EE-4364-A540-936046DFDE72}"/>
              </a:ext>
            </a:extLst>
          </p:cNvPr>
          <p:cNvSpPr>
            <a:spLocks xmlns:a="http://schemas.openxmlformats.org/drawingml/2006/main" noGrp="1"/>
          </p:cNvSpPr>
          <p:nvPr/>
        </p:nvSpPr>
        <p:spPr>
          <a:xfrm xmlns:a="http://schemas.openxmlformats.org/drawingml/2006/main">
            <a:off x="685800" y="40957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D40"/>
                </a:solidFill>
                <a:latin typeface="Malgun Gothic"/>
                <a:ea typeface="Malgun Gothic"/>
                <a:cs typeface="Malgun Gothic"/>
              </a:defRPr>
            </a:pPr>
            <a:r>
              <a:rPr sz="2400" b="1">
                <a:solidFill>
                  <a:srgbClr val="1C242B"/>
                </a:solidFill>
                <a:latin typeface="Malgun Gothic"/>
                <a:ea typeface="Malgun Gothic"/>
                <a:cs typeface="Malgun Gothic"/>
              </a:rPr>
              <a:t>사전 작업 진행 현황</a:t>
            </a:r>
          </a:p>
        </p:txBody>
      </p:sp>
      <p:sp>
        <p:nvSpPr>
          <p:cNvPr id="14" name="준비 소스와 사전 관측의 진전입니다. 실제 자원 생성·업무 실행·인수는 이어서 검증합니다">
            <a:extLst xmlns:a="http://schemas.openxmlformats.org/drawingml/2006/main">
              <a:ext uri="{FF2B5EF4-FFF2-40B4-BE49-F238E27FC236}">
                <a16:creationId xmlns:a16="http://schemas.microsoft.com/office/drawing/2014/main" id="{88683744-0AAF-4C9F-BC84-D822FD79DD17}"/>
              </a:ext>
            </a:extLst>
          </p:cNvPr>
          <p:cNvSpPr>
            <a:spLocks xmlns:a="http://schemas.openxmlformats.org/drawingml/2006/main" noGrp="1"/>
          </p:cNvSpPr>
          <p:nvPr/>
        </p:nvSpPr>
        <p:spPr>
          <a:xfrm xmlns:a="http://schemas.openxmlformats.org/drawingml/2006/main">
            <a:off x="685800" y="10763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675"/>
                </a:solidFill>
                <a:latin typeface="Malgun Gothic"/>
                <a:ea typeface="Malgun Gothic"/>
                <a:cs typeface="Malgun Gothic"/>
              </a:defRPr>
            </a:pPr>
            <a:r>
              <a:rPr sz="1400" b="0">
                <a:solidFill>
                  <a:srgbClr val="3D4C57"/>
                </a:solidFill>
                <a:latin typeface="Malgun Gothic"/>
                <a:ea typeface="Malgun Gothic"/>
                <a:cs typeface="Malgun Gothic"/>
              </a:rPr>
              <a:t>코드와 사전 확인까지 왔습니다. 실제 서버 생성과 업무 실행은 아직입니다</a:t>
            </a:r>
          </a:p>
        </p:txBody>
      </p:sp>
      <p:sp>
        <p:nvSpPr>
          <p:cNvPr id="15" name="05">
            <a:extLst xmlns:a="http://schemas.openxmlformats.org/drawingml/2006/main">
              <a:ext uri="{FF2B5EF4-FFF2-40B4-BE49-F238E27FC236}">
                <a16:creationId xmlns:a16="http://schemas.microsoft.com/office/drawing/2014/main" id="{F1804326-A871-45C7-A454-F922072BF340}"/>
              </a:ext>
            </a:extLst>
          </p:cNvPr>
          <p:cNvSpPr>
            <a:spLocks xmlns:a="http://schemas.openxmlformats.org/drawingml/2006/main" noGrp="1"/>
          </p:cNvSpPr>
          <p:nvPr/>
        </p:nvSpPr>
        <p:spPr>
          <a:xfrm xmlns:a="http://schemas.openxmlformats.org/drawingml/2006/main">
            <a:off x="10620375" y="6410325"/>
            <a:ext cx="885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675"/>
                </a:solidFill>
                <a:latin typeface="Malgun Gothic"/>
                <a:ea typeface="Malgun Gothic"/>
                <a:cs typeface="Malgun Gothic"/>
              </a:defRPr>
            </a:pPr>
            <a:r>
              <a:rPr sz="1200" b="0">
                <a:solidFill>
                  <a:srgbClr val="526675"/>
                </a:solidFill>
                <a:latin typeface="Malgun Gothic"/>
                <a:ea typeface="Malgun Gothic"/>
                <a:cs typeface="Malgun Gothic"/>
              </a:rPr>
              <a:t>05</a:t>
            </a:r>
          </a:p>
        </p:txBody>
      </p:sp>
      <p:sp>
        <p:nvSpPr>
          <p:cNvPr id="16" name="현황 기준 2026.10.06 KST. 소스 병합·사용자 관측 보고와 실제 환경 인수를 구분합니다">
            <a:extLst xmlns:a="http://schemas.openxmlformats.org/drawingml/2006/main">
              <a:ext uri="{FF2B5EF4-FFF2-40B4-BE49-F238E27FC236}">
                <a16:creationId xmlns:a16="http://schemas.microsoft.com/office/drawing/2014/main" id="{EC7493AD-97E3-4A23-A57C-0E3BAE2C62CE}"/>
              </a:ext>
            </a:extLst>
          </p:cNvPr>
          <p:cNvSpPr>
            <a:spLocks xmlns:a="http://schemas.openxmlformats.org/drawingml/2006/main" noGrp="1"/>
          </p:cNvSpPr>
          <p:nvPr/>
        </p:nvSpPr>
        <p:spPr>
          <a:xfrm xmlns:a="http://schemas.openxmlformats.org/drawingml/2006/main">
            <a:off x="685800" y="611505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675"/>
                </a:solidFill>
                <a:latin typeface="Malgun Gothic"/>
                <a:ea typeface="Malgun Gothic"/>
                <a:cs typeface="Malgun Gothic"/>
              </a:defRPr>
            </a:pPr>
            <a:r>
              <a:rPr sz="1200" b="0">
                <a:solidFill>
                  <a:srgbClr val="2C3E4E"/>
                </a:solidFill>
                <a:latin typeface="Malgun Gothic"/>
                <a:ea typeface="Malgun Gothic"/>
                <a:cs typeface="Malgun Gothic"/>
              </a:rPr>
              <a:t>소스에 반영된 것과 실제 환경에서 인수한 것은 구분해서 말씀드립니다    2026.10.06</a:t>
            </a:r>
          </a:p>
        </p:txBody>
      </p:sp>
      <p:sp xmlns:a="http://schemas.openxmlformats.org/drawingml/2006/main">
        <p:nvSpPr>
          <p:cNvPr id="18" name="Rectangle 17"/>
          <p:cNvSpPr/>
          <p:nvPr/>
        </p:nvSpPr>
        <p:spPr>
          <a:xfrm>
            <a:off x="0" y="0"/>
            <a:ext cx="12191695" cy="73152"/>
          </a:xfrm>
          <a:prstGeom prst="rect">
            <a:avLst/>
          </a:prstGeom>
          <a:solidFill>
            <a:srgbClr val="14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73152"/>
            <a:ext cx="73152" cy="6784848"/>
          </a:xfrm>
          <a:prstGeom prst="rect">
            <a:avLst/>
          </a:prstGeom>
          <a:solidFill>
            <a:srgbClr val="1F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ounded Rectangle 19"/>
          <p:cNvSpPr/>
          <p:nvPr/>
        </p:nvSpPr>
        <p:spPr>
          <a:xfrm>
            <a:off x="9646920" y="146304"/>
            <a:ext cx="2240280" cy="237744"/>
          </a:xfrm>
          <a:prstGeom prst="roundRect">
            <a:avLst>
              <a:gd name="adj" fmla="val 50000"/>
            </a:avLst>
          </a:prstGeom>
          <a:solidFill>
            <a:srgbClr val="FFFFFF"/>
          </a:solidFill>
          <a:ln w="12700">
            <a:solidFill>
              <a:srgbClr val="1F8A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8A8A"/>
                </a:solidFill>
                <a:latin typeface="Malgun Gothic"/>
                <a:ea typeface="Malgun Gothic"/>
                <a:cs typeface="Malgun Gothic"/>
              </a:rPr>
              <a:t>05  준비 현황</a:t>
            </a:r>
          </a:p>
        </p:txBody>
      </p:sp>
    </p:spTree>
    <p:extLst>
      <p:ext uri="{BB962C8B-B14F-4D97-AF65-F5344CB8AC3E}">
        <p14:creationId xmlns:p14="http://schemas.microsoft.com/office/powerpoint/2010/main" val="13843077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이번 리뷰의 확정 항목과 인계">
            <a:extLst xmlns:a="http://schemas.openxmlformats.org/drawingml/2006/main">
              <a:ext uri="{FF2B5EF4-FFF2-40B4-BE49-F238E27FC236}">
                <a16:creationId xmlns:a16="http://schemas.microsoft.com/office/drawing/2014/main" id="{AB0A30B7-1321-4B29-BE9C-40FEF793A2F2}"/>
              </a:ext>
            </a:extLst>
          </p:cNvPr>
          <p:cNvSpPr>
            <a:spLocks xmlns:a="http://schemas.openxmlformats.org/drawingml/2006/main" noGrp="1"/>
          </p:cNvSpPr>
          <p:nvPr/>
        </p:nvSpPr>
        <p:spPr>
          <a:xfrm xmlns:a="http://schemas.openxmlformats.org/drawingml/2006/main">
            <a:off x="685800" y="40957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D40"/>
                </a:solidFill>
                <a:latin typeface="Malgun Gothic"/>
                <a:ea typeface="Malgun Gothic"/>
                <a:cs typeface="Malgun Gothic"/>
              </a:defRPr>
            </a:pPr>
            <a:r>
              <a:rPr sz="2400" b="1">
                <a:solidFill>
                  <a:srgbClr val="1C242B"/>
                </a:solidFill>
                <a:latin typeface="Malgun Gothic"/>
                <a:ea typeface="Malgun Gothic"/>
                <a:cs typeface="Malgun Gothic"/>
              </a:rPr>
              <a:t>이번 리뷰의 확정 항목과 인계</a:t>
            </a:r>
          </a:p>
        </p:txBody>
      </p:sp>
      <p:sp>
        <p:nvSpPr>
          <p:cNvPr id="14" name="DB 선행 순서·관리 대안·생성 방식·비용과 담당자 집중 구간을 함께 검토합니다">
            <a:extLst xmlns:a="http://schemas.openxmlformats.org/drawingml/2006/main">
              <a:ext uri="{FF2B5EF4-FFF2-40B4-BE49-F238E27FC236}">
                <a16:creationId xmlns:a16="http://schemas.microsoft.com/office/drawing/2014/main" id="{18C00C45-248A-49DF-BA22-7DB8F571CE87}"/>
              </a:ext>
            </a:extLst>
          </p:cNvPr>
          <p:cNvSpPr>
            <a:spLocks xmlns:a="http://schemas.openxmlformats.org/drawingml/2006/main" noGrp="1"/>
          </p:cNvSpPr>
          <p:nvPr/>
        </p:nvSpPr>
        <p:spPr>
          <a:xfrm xmlns:a="http://schemas.openxmlformats.org/drawingml/2006/main">
            <a:off x="-27432000" y="-274320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675"/>
                </a:solidFill>
                <a:latin typeface="Malgun Gothic"/>
                <a:ea typeface="Malgun Gothic"/>
                <a:cs typeface="Malgun Gothic"/>
              </a:defRPr>
            </a:pPr>
            <a:r>
              <a:rPr sz="1600" b="0">
                <a:solidFill>
                  <a:srgbClr val="2C3E4E"/>
                </a:solidFill>
                <a:latin typeface="Malgun Gothic"/>
                <a:ea typeface="Malgun Gothic"/>
                <a:cs typeface="Malgun Gothic"/>
              </a:rPr>
              <a:t>오늘 네 가지를 정해 주시면, 그 조건으로 구축을 이어가겠습니다</a:t>
            </a:r>
          </a:p>
        </p:txBody>
      </p:sp>
      <p:sp>
        <p:nvSpPr>
          <p:cNvPr id="15" name="06">
            <a:extLst xmlns:a="http://schemas.openxmlformats.org/drawingml/2006/main">
              <a:ext uri="{FF2B5EF4-FFF2-40B4-BE49-F238E27FC236}">
                <a16:creationId xmlns:a16="http://schemas.microsoft.com/office/drawing/2014/main" id="{3369FA5E-5324-40D2-BD62-7E746F9E4A4D}"/>
              </a:ext>
            </a:extLst>
          </p:cNvPr>
          <p:cNvSpPr>
            <a:spLocks xmlns:a="http://schemas.openxmlformats.org/drawingml/2006/main" noGrp="1"/>
          </p:cNvSpPr>
          <p:nvPr/>
        </p:nvSpPr>
        <p:spPr>
          <a:xfrm xmlns:a="http://schemas.openxmlformats.org/drawingml/2006/main">
            <a:off x="10620375" y="6410325"/>
            <a:ext cx="885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675"/>
                </a:solidFill>
                <a:latin typeface="Malgun Gothic"/>
                <a:ea typeface="Malgun Gothic"/>
                <a:cs typeface="Malgun Gothic"/>
              </a:defRPr>
            </a:pPr>
            <a:r>
              <a:rPr sz="1200" b="0">
                <a:solidFill>
                  <a:srgbClr val="526675"/>
                </a:solidFill>
                <a:latin typeface="Malgun Gothic"/>
                <a:ea typeface="Malgun Gothic"/>
                <a:cs typeface="Malgun Gothic"/>
              </a:rPr>
              <a:t>06</a:t>
            </a:r>
          </a:p>
        </p:txBody>
      </p:sp>
      <p:sp>
        <p:nvSpPr>
          <p:cNvPr id="16" name="유료 자원 생성 전 전체 비용·적용 한도·최대 가동시간·삭제 기준을 확정합니다">
            <a:extLst xmlns:a="http://schemas.openxmlformats.org/drawingml/2006/main">
              <a:ext uri="{FF2B5EF4-FFF2-40B4-BE49-F238E27FC236}">
                <a16:creationId xmlns:a16="http://schemas.microsoft.com/office/drawing/2014/main" id="{F3597F81-60EC-4E28-BD4E-7653D0B05493}"/>
              </a:ext>
            </a:extLst>
          </p:cNvPr>
          <p:cNvSpPr>
            <a:spLocks xmlns:a="http://schemas.openxmlformats.org/drawingml/2006/main" noGrp="1"/>
          </p:cNvSpPr>
          <p:nvPr/>
        </p:nvSpPr>
        <p:spPr>
          <a:xfrm xmlns:a="http://schemas.openxmlformats.org/drawingml/2006/main">
            <a:off x="-27432000" y="-27432000"/>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9A651A"/>
                </a:solidFill>
                <a:latin typeface="Malgun Gothic"/>
                <a:ea typeface="Malgun Gothic"/>
                <a:cs typeface="Malgun Gothic"/>
              </a:defRPr>
            </a:pPr>
            <a:r>
              <a:rPr sz="1400" b="1">
                <a:solidFill>
                  <a:srgbClr val="142D40"/>
                </a:solidFill>
                <a:latin typeface="Malgun Gothic"/>
                <a:ea typeface="Malgun Gothic"/>
                <a:cs typeface="Malgun Gothic"/>
              </a:rPr>
              <a:t>비용을 확인하기 전에는 유료 자원을 만들지 않겠습니다</a:t>
            </a:r>
          </a:p>
        </p:txBody>
      </p:sp>
      <p:sp>
        <p:nvSpPr>
          <p:cNvPr id="17" name="담당자·목표일·인수조건은 기존 기준을 따릅니다. 리뷰 결과와 잔여 조건을 기록해 구축에 연결합니다">
            <a:extLst xmlns:a="http://schemas.openxmlformats.org/drawingml/2006/main">
              <a:ext uri="{FF2B5EF4-FFF2-40B4-BE49-F238E27FC236}">
                <a16:creationId xmlns:a16="http://schemas.microsoft.com/office/drawing/2014/main" id="{39BB3CE1-AF11-4C65-8C6E-900E422F76D4}"/>
              </a:ext>
            </a:extLst>
          </p:cNvPr>
          <p:cNvSpPr>
            <a:spLocks xmlns:a="http://schemas.openxmlformats.org/drawingml/2006/main" noGrp="1"/>
          </p:cNvSpPr>
          <p:nvPr/>
        </p:nvSpPr>
        <p:spPr>
          <a:xfrm xmlns:a="http://schemas.openxmlformats.org/drawingml/2006/main">
            <a:off x="-27432000" y="-274320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675"/>
                </a:solidFill>
                <a:latin typeface="Malgun Gothic"/>
                <a:ea typeface="Malgun Gothic"/>
                <a:cs typeface="Malgun Gothic"/>
              </a:defRPr>
            </a:pPr>
            <a:r>
              <a:rPr sz="1200" b="0">
                <a:solidFill>
                  <a:srgbClr val="2C3E4E"/>
                </a:solidFill>
                <a:latin typeface="Malgun Gothic"/>
                <a:ea typeface="Malgun Gothic"/>
                <a:cs typeface="Malgun Gothic"/>
              </a:rPr>
              <a:t>정하지 못한 항목은 보류로 남깁니다. 담당·날짜·인수조건은 바꾸지 않습니다</a:t>
            </a:r>
          </a:p>
        </p:txBody>
      </p:sp>
      <p:sp xmlns:a="http://schemas.openxmlformats.org/drawingml/2006/main">
        <p:nvSpPr>
          <p:cNvPr id="18" name="Rounded Rectangle 17"/>
          <p:cNvSpPr/>
          <p:nvPr/>
        </p:nvSpPr>
        <p:spPr>
          <a:xfrm>
            <a:off x="-27432000" y="-27432000"/>
            <a:ext cx="5577840" cy="1901952"/>
          </a:xfrm>
          <a:prstGeom prst="roundRect">
            <a:avLst>
              <a:gd name="adj" fmla="val 6000"/>
            </a:avLst>
          </a:prstGeom>
          <a:solidFill>
            <a:srgbClr val="F4F8FA"/>
          </a:solidFill>
          <a:ln w="19050">
            <a:solidFill>
              <a:srgbClr val="1F8A8A"/>
            </a:solid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109728" bIns="73152"/>
          <a:lstStyle/>
          <a:p>
            <a:pPr algn="l">
              <a:spcAft>
                <a:spcPts val="200"/>
              </a:spcAft>
            </a:pPr>
            <a:r>
              <a:rPr sz="1600" b="1">
                <a:solidFill>
                  <a:srgbClr val="142D40"/>
                </a:solidFill>
                <a:latin typeface="Malgun Gothic"/>
                <a:ea typeface="Malgun Gothic"/>
                <a:cs typeface="Malgun Gothic"/>
              </a:rPr>
              <a:t>1  DB·관리 접속</a:t>
            </a:r>
          </a:p>
          <a:p>
            <a:pPr algn="l">
              <a:spcAft>
                <a:spcPts val="200"/>
              </a:spcAft>
            </a:pPr>
            <a:r>
              <a:rPr sz="1200" b="0">
                <a:solidFill>
                  <a:srgbClr val="2C3E4E"/>
                </a:solidFill>
                <a:latin typeface="Malgun Gothic"/>
                <a:ea typeface="Malgun Gothic"/>
                <a:cs typeface="Malgun Gothic"/>
              </a:rPr>
              <a:t>앱이 정상이라고 보기 전에, 최소 DB 연결 창을 정합니다.</a:t>
            </a:r>
          </a:p>
          <a:p>
            <a:pPr algn="l">
              <a:spcAft>
                <a:spcPts val="200"/>
              </a:spcAft>
            </a:pPr>
            <a:r>
              <a:rPr sz="1200" b="0">
                <a:solidFill>
                  <a:srgbClr val="2C3E4E"/>
                </a:solidFill>
                <a:latin typeface="Malgun Gothic"/>
                <a:ea typeface="Malgun Gothic"/>
                <a:cs typeface="Malgun Gothic"/>
              </a:rPr>
              <a:t>출발지는 사내 VPN 또는 클라우드 안입니다.</a:t>
            </a:r>
          </a:p>
          <a:p>
            <a:pPr algn="l">
              <a:spcAft>
                <a:spcPts val="200"/>
              </a:spcAft>
            </a:pPr>
            <a:r>
              <a:rPr sz="1200" b="1">
                <a:solidFill>
                  <a:srgbClr val="1F8A8A"/>
                </a:solidFill>
                <a:latin typeface="Malgun Gothic"/>
                <a:ea typeface="Malgun Gothic"/>
                <a:cs typeface="Malgun Gothic"/>
              </a:rPr>
              <a:t>미결 시 20일과 21일 일정을 다시 맞춥니다.</a:t>
            </a:r>
          </a:p>
        </p:txBody>
      </p:sp>
      <p:sp xmlns:a="http://schemas.openxmlformats.org/drawingml/2006/main">
        <p:nvSpPr>
          <p:cNvPr id="19" name="Rectangle 18"/>
          <p:cNvSpPr/>
          <p:nvPr/>
        </p:nvSpPr>
        <p:spPr>
          <a:xfrm>
            <a:off x="502920" y="1691640"/>
            <a:ext cx="73152" cy="1901952"/>
          </a:xfrm>
          <a:prstGeom prst="rect">
            <a:avLst/>
          </a:prstGeom>
          <a:solidFill>
            <a:srgbClr val="1F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ounded Rectangle 19"/>
          <p:cNvSpPr/>
          <p:nvPr/>
        </p:nvSpPr>
        <p:spPr>
          <a:xfrm>
            <a:off x="-27432000" y="-27432000"/>
            <a:ext cx="5577840" cy="1901952"/>
          </a:xfrm>
          <a:prstGeom prst="roundRect">
            <a:avLst>
              <a:gd name="adj" fmla="val 6000"/>
            </a:avLst>
          </a:prstGeom>
          <a:solidFill>
            <a:srgbClr val="F4F8FA"/>
          </a:solidFill>
          <a:ln w="1905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109728" bIns="73152"/>
          <a:lstStyle/>
          <a:p>
            <a:pPr algn="l">
              <a:spcAft>
                <a:spcPts val="200"/>
              </a:spcAft>
            </a:pPr>
            <a:r>
              <a:rPr sz="1600" b="1">
                <a:solidFill>
                  <a:srgbClr val="142D40"/>
                </a:solidFill>
                <a:latin typeface="Malgun Gothic"/>
                <a:ea typeface="Malgun Gothic"/>
                <a:cs typeface="Malgun Gothic"/>
              </a:rPr>
              <a:t>2  이미지·배포</a:t>
            </a:r>
          </a:p>
          <a:p>
            <a:pPr algn="l">
              <a:spcAft>
                <a:spcPts val="200"/>
              </a:spcAft>
            </a:pPr>
            <a:r>
              <a:rPr sz="1200" b="0">
                <a:solidFill>
                  <a:srgbClr val="2C3E4E"/>
                </a:solidFill>
                <a:latin typeface="Malgun Gothic"/>
                <a:ea typeface="Malgun Gothic"/>
                <a:cs typeface="Malgun Gothic"/>
              </a:rPr>
              <a:t>Harbor는 아직 후보입니다. 정해지기 전에는 Runner가 직접 배포합니다.</a:t>
            </a:r>
          </a:p>
          <a:p>
            <a:pPr algn="l">
              <a:spcAft>
                <a:spcPts val="200"/>
              </a:spcAft>
            </a:pPr>
            <a:r>
              <a:rPr sz="1200" b="0">
                <a:solidFill>
                  <a:srgbClr val="2C3E4E"/>
                </a:solidFill>
                <a:latin typeface="Malgun Gothic"/>
                <a:ea typeface="Malgun Gothic"/>
                <a:cs typeface="Malgun Gothic"/>
              </a:rPr>
              <a:t>승인 이미지와 실제 실행 이미지를 맞춰 확인합니다.</a:t>
            </a:r>
          </a:p>
          <a:p>
            <a:pPr algn="l">
              <a:spcAft>
                <a:spcPts val="200"/>
              </a:spcAft>
            </a:pPr>
            <a:r>
              <a:rPr sz="1200" b="1">
                <a:solidFill>
                  <a:srgbClr val="156082"/>
                </a:solidFill>
                <a:latin typeface="Malgun Gothic"/>
                <a:ea typeface="Malgun Gothic"/>
                <a:cs typeface="Malgun Gothic"/>
              </a:rPr>
              <a:t>수신 조건이 없으면 20일 배포 검증으로 가지 않습니다.</a:t>
            </a:r>
          </a:p>
        </p:txBody>
      </p:sp>
      <p:sp xmlns:a="http://schemas.openxmlformats.org/drawingml/2006/main">
        <p:nvSpPr>
          <p:cNvPr id="21" name="Rectangle 20"/>
          <p:cNvSpPr/>
          <p:nvPr/>
        </p:nvSpPr>
        <p:spPr>
          <a:xfrm>
            <a:off x="6309359" y="1691640"/>
            <a:ext cx="73152" cy="1901952"/>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ounded Rectangle 21"/>
          <p:cNvSpPr/>
          <p:nvPr/>
        </p:nvSpPr>
        <p:spPr>
          <a:xfrm>
            <a:off x="-27432000" y="-27432000"/>
            <a:ext cx="5577840" cy="1901952"/>
          </a:xfrm>
          <a:prstGeom prst="roundRect">
            <a:avLst>
              <a:gd name="adj" fmla="val 6000"/>
            </a:avLst>
          </a:prstGeom>
          <a:solidFill>
            <a:srgbClr val="F4F8FA"/>
          </a:solidFill>
          <a:ln w="19050">
            <a:solidFill>
              <a:srgbClr val="C46B1A"/>
            </a:solid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109728" bIns="73152"/>
          <a:lstStyle/>
          <a:p>
            <a:pPr algn="l">
              <a:spcAft>
                <a:spcPts val="200"/>
              </a:spcAft>
            </a:pPr>
            <a:r>
              <a:rPr sz="1600" b="1">
                <a:solidFill>
                  <a:srgbClr val="142D40"/>
                </a:solidFill>
                <a:latin typeface="Malgun Gothic"/>
                <a:ea typeface="Malgun Gothic"/>
                <a:cs typeface="Malgun Gothic"/>
              </a:rPr>
              <a:t>3  플랫폼·비용</a:t>
            </a:r>
          </a:p>
          <a:p>
            <a:pPr algn="l">
              <a:spcAft>
                <a:spcPts val="200"/>
              </a:spcAft>
            </a:pPr>
            <a:r>
              <a:rPr sz="1200" b="0">
                <a:solidFill>
                  <a:srgbClr val="2C3E4E"/>
                </a:solidFill>
                <a:latin typeface="Malgun Gothic"/>
                <a:ea typeface="Malgun Gothic"/>
                <a:cs typeface="Malgun Gothic"/>
              </a:rPr>
              <a:t>ROSA는 Terraform 또는 rosa CLI 중 한 방식으로 만듭니다.</a:t>
            </a:r>
          </a:p>
          <a:p>
            <a:pPr algn="l">
              <a:spcAft>
                <a:spcPts val="200"/>
              </a:spcAft>
            </a:pPr>
            <a:r>
              <a:rPr sz="1200" b="0">
                <a:solidFill>
                  <a:srgbClr val="2C3E4E"/>
                </a:solidFill>
                <a:latin typeface="Malgun Gothic"/>
                <a:ea typeface="Malgun Gothic"/>
                <a:cs typeface="Malgun Gothic"/>
              </a:rPr>
              <a:t>총비용·한도·가동시간은 아직 확인하지 못했습니다.</a:t>
            </a:r>
          </a:p>
          <a:p>
            <a:pPr algn="l">
              <a:spcAft>
                <a:spcPts val="200"/>
              </a:spcAft>
            </a:pPr>
            <a:r>
              <a:rPr sz="1200" b="1">
                <a:solidFill>
                  <a:srgbClr val="C46B1A"/>
                </a:solidFill>
                <a:latin typeface="Malgun Gothic"/>
                <a:ea typeface="Malgun Gothic"/>
                <a:cs typeface="Malgun Gothic"/>
              </a:rPr>
              <a:t>확인 전에는 유료 생성을 보류합니다.</a:t>
            </a:r>
          </a:p>
        </p:txBody>
      </p:sp>
      <p:sp xmlns:a="http://schemas.openxmlformats.org/drawingml/2006/main">
        <p:nvSpPr>
          <p:cNvPr id="23" name="Rectangle 22"/>
          <p:cNvSpPr/>
          <p:nvPr/>
        </p:nvSpPr>
        <p:spPr>
          <a:xfrm>
            <a:off x="502920" y="3749039"/>
            <a:ext cx="73152" cy="1901952"/>
          </a:xfrm>
          <a:prstGeom prst="rect">
            <a:avLst/>
          </a:prstGeom>
          <a:solidFill>
            <a:srgbClr val="C4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ounded Rectangle 23"/>
          <p:cNvSpPr/>
          <p:nvPr/>
        </p:nvSpPr>
        <p:spPr>
          <a:xfrm>
            <a:off x="-27432000" y="-27432000"/>
            <a:ext cx="5577840" cy="1901952"/>
          </a:xfrm>
          <a:prstGeom prst="roundRect">
            <a:avLst>
              <a:gd name="adj" fmla="val 6000"/>
            </a:avLst>
          </a:prstGeom>
          <a:solidFill>
            <a:srgbClr val="F4F8FA"/>
          </a:solidFill>
          <a:ln w="19050">
            <a:solidFill>
              <a:srgbClr val="1C6B4A"/>
            </a:solid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109728" bIns="73152"/>
          <a:lstStyle/>
          <a:p>
            <a:pPr algn="l">
              <a:spcAft>
                <a:spcPts val="200"/>
              </a:spcAft>
            </a:pPr>
            <a:r>
              <a:rPr sz="1600" b="1">
                <a:solidFill>
                  <a:srgbClr val="142D40"/>
                </a:solidFill>
                <a:latin typeface="Malgun Gothic"/>
                <a:ea typeface="Malgun Gothic"/>
                <a:cs typeface="Malgun Gothic"/>
              </a:rPr>
              <a:t>4  집중 구간</a:t>
            </a:r>
          </a:p>
          <a:p>
            <a:pPr algn="l">
              <a:spcAft>
                <a:spcPts val="200"/>
              </a:spcAft>
            </a:pPr>
            <a:r>
              <a:rPr sz="1200" b="0">
                <a:solidFill>
                  <a:srgbClr val="2C3E4E"/>
                </a:solidFill>
                <a:latin typeface="Malgun Gothic"/>
                <a:ea typeface="Malgun Gothic"/>
                <a:cs typeface="Malgun Gothic"/>
              </a:rPr>
              <a:t>재환님 구간은 지원 인계와 변경 창만 정합니다.</a:t>
            </a:r>
          </a:p>
          <a:p>
            <a:pPr algn="l">
              <a:spcAft>
                <a:spcPts val="200"/>
              </a:spcAft>
            </a:pPr>
            <a:r>
              <a:rPr sz="1200" b="0">
                <a:solidFill>
                  <a:srgbClr val="2C3E4E"/>
                </a:solidFill>
                <a:latin typeface="Malgun Gothic"/>
                <a:ea typeface="Malgun Gothic"/>
                <a:cs typeface="Malgun Gothic"/>
              </a:rPr>
              <a:t>담당, 목표일, 인수조건은 기존 기준을 유지합니다.</a:t>
            </a:r>
          </a:p>
          <a:p>
            <a:pPr algn="l">
              <a:spcAft>
                <a:spcPts val="200"/>
              </a:spcAft>
            </a:pPr>
            <a:r>
              <a:rPr sz="1200" b="1">
                <a:solidFill>
                  <a:srgbClr val="1C6B4A"/>
                </a:solidFill>
                <a:latin typeface="Malgun Gothic"/>
                <a:ea typeface="Malgun Gothic"/>
                <a:cs typeface="Malgun Gothic"/>
              </a:rPr>
              <a:t>다른 작업과 겹치면 작업 창을 나눕니다.</a:t>
            </a:r>
          </a:p>
        </p:txBody>
      </p:sp>
      <p:sp xmlns:a="http://schemas.openxmlformats.org/drawingml/2006/main">
        <p:nvSpPr>
          <p:cNvPr id="25" name="Rectangle 24"/>
          <p:cNvSpPr/>
          <p:nvPr/>
        </p:nvSpPr>
        <p:spPr>
          <a:xfrm>
            <a:off x="6309359" y="3749039"/>
            <a:ext cx="73152" cy="1901952"/>
          </a:xfrm>
          <a:prstGeom prst="rect">
            <a:avLst/>
          </a:prstGeom>
          <a:solidFill>
            <a:srgbClr val="1C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2191695" cy="73152"/>
          </a:xfrm>
          <a:prstGeom prst="rect">
            <a:avLst/>
          </a:prstGeom>
          <a:solidFill>
            <a:srgbClr val="14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73152"/>
            <a:ext cx="73152" cy="6784848"/>
          </a:xfrm>
          <a:prstGeom prst="rect">
            <a:avLst/>
          </a:prstGeom>
          <a:solidFill>
            <a:srgbClr val="1F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ounded Rectangle 27"/>
          <p:cNvSpPr/>
          <p:nvPr/>
        </p:nvSpPr>
        <p:spPr>
          <a:xfrm>
            <a:off x="9646920" y="146304"/>
            <a:ext cx="2240280" cy="237744"/>
          </a:xfrm>
          <a:prstGeom prst="roundRect">
            <a:avLst>
              <a:gd name="adj" fmla="val 50000"/>
            </a:avLst>
          </a:prstGeom>
          <a:solidFill>
            <a:srgbClr val="FFFFFF"/>
          </a:solidFill>
          <a:ln w="12700">
            <a:solidFill>
              <a:srgbClr val="1F8A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8A8A"/>
                </a:solidFill>
                <a:latin typeface="Malgun Gothic"/>
                <a:ea typeface="Malgun Gothic"/>
                <a:cs typeface="Malgun Gothic"/>
              </a:rPr>
              <a:t>06  오늘 결정</a:t>
            </a:r>
          </a:p>
        </p:txBody>
      </p:sp>
      <p:sp xmlns:a="http://schemas.openxmlformats.org/drawingml/2006/main">
        <p:nvSpPr>
          <p:cNvPr id="29" name="Rectangle 28"/>
          <p:cNvSpPr/>
          <p:nvPr/>
        </p:nvSpPr>
        <p:spPr>
          <a:xfrm>
            <a:off x="502920" y="960120"/>
            <a:ext cx="1097280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109728" bIns="73152"/>
          <a:lstStyle/>
          <a:p>
            <a:pPr algn="l">
              <a:spcAft>
                <a:spcPts val="300"/>
              </a:spcAft>
            </a:pPr>
            <a:r>
              <a:rPr sz="1400" b="0">
                <a:solidFill>
                  <a:srgbClr val="3D4C57"/>
                </a:solidFill>
                <a:latin typeface="Malgun Gothic"/>
                <a:ea typeface="Malgun Gothic"/>
                <a:cs typeface="Malgun Gothic"/>
              </a:rPr>
              <a:t>정해 주시면 그 조건으로 구축하겠습니다. 미결은 보류입니다.</a:t>
            </a:r>
          </a:p>
        </p:txBody>
      </p:sp>
      <p:sp xmlns:a="http://schemas.openxmlformats.org/drawingml/2006/main">
        <p:nvSpPr>
          <p:cNvPr id="30" name="Rounded Rectangle 29"/>
          <p:cNvSpPr/>
          <p:nvPr/>
        </p:nvSpPr>
        <p:spPr>
          <a:xfrm>
            <a:off x="502920" y="1554480"/>
            <a:ext cx="5577840" cy="1965960"/>
          </a:xfrm>
          <a:prstGeom prst="roundRect">
            <a:avLst>
              <a:gd name="adj" fmla="val 6000"/>
            </a:avLst>
          </a:prstGeom>
          <a:solidFill>
            <a:srgbClr val="F7FBFB"/>
          </a:solidFill>
          <a:ln w="15875">
            <a:solidFill>
              <a:srgbClr val="D5E4E4"/>
            </a:solid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109728" bIns="73152"/>
          <a:lstStyle/>
          <a:p>
            <a:pPr algn="l">
              <a:spcAft>
                <a:spcPts val="300"/>
              </a:spcAft>
            </a:pPr>
            <a:r>
              <a:rPr sz="2000" b="1">
                <a:solidFill>
                  <a:srgbClr val="1C242B"/>
                </a:solidFill>
                <a:latin typeface="Malgun Gothic"/>
                <a:ea typeface="Malgun Gothic"/>
                <a:cs typeface="Malgun Gothic"/>
              </a:rPr>
              <a:t>DB 연결</a:t>
            </a:r>
          </a:p>
          <a:p>
            <a:pPr algn="l">
              <a:spcAft>
                <a:spcPts val="300"/>
              </a:spcAft>
            </a:pPr>
            <a:r>
              <a:rPr sz="1400" b="0">
                <a:solidFill>
                  <a:srgbClr val="3D4C57"/>
                </a:solidFill>
                <a:latin typeface="Malgun Gothic"/>
                <a:ea typeface="Malgun Gothic"/>
                <a:cs typeface="Malgun Gothic"/>
              </a:rPr>
              <a:t>앱 판정 전 최소 DB 창. 출발지는 VPN 또는 클라우드 안.</a:t>
            </a:r>
          </a:p>
          <a:p>
            <a:pPr algn="l">
              <a:spcAft>
                <a:spcPts val="300"/>
              </a:spcAft>
            </a:pPr>
            <a:r>
              <a:rPr sz="1300" b="1">
                <a:solidFill>
                  <a:srgbClr val="1F8A8A"/>
                </a:solidFill>
                <a:latin typeface="Malgun Gothic"/>
                <a:ea typeface="Malgun Gothic"/>
                <a:cs typeface="Malgun Gothic"/>
              </a:rPr>
              <a:t>미결 시 20일·21일 재정렬</a:t>
            </a:r>
          </a:p>
        </p:txBody>
      </p:sp>
      <p:sp xmlns:a="http://schemas.openxmlformats.org/drawingml/2006/main">
        <p:nvSpPr>
          <p:cNvPr id="31" name="Rectangle 30"/>
          <p:cNvSpPr/>
          <p:nvPr/>
        </p:nvSpPr>
        <p:spPr>
          <a:xfrm>
            <a:off x="502920" y="1554480"/>
            <a:ext cx="73152" cy="1965960"/>
          </a:xfrm>
          <a:prstGeom prst="rect">
            <a:avLst/>
          </a:prstGeom>
          <a:solidFill>
            <a:srgbClr val="1F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6309359" y="1554480"/>
            <a:ext cx="5577840" cy="1965960"/>
          </a:xfrm>
          <a:prstGeom prst="roundRect">
            <a:avLst>
              <a:gd name="adj" fmla="val 6000"/>
            </a:avLst>
          </a:prstGeom>
          <a:solidFill>
            <a:srgbClr val="F7FBFB"/>
          </a:solidFill>
          <a:ln w="15875">
            <a:solidFill>
              <a:srgbClr val="D5E4E4"/>
            </a:solid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109728" bIns="73152"/>
          <a:lstStyle/>
          <a:p>
            <a:pPr algn="l">
              <a:spcAft>
                <a:spcPts val="300"/>
              </a:spcAft>
            </a:pPr>
            <a:r>
              <a:rPr sz="2000" b="1">
                <a:solidFill>
                  <a:srgbClr val="1C242B"/>
                </a:solidFill>
                <a:latin typeface="Malgun Gothic"/>
                <a:ea typeface="Malgun Gothic"/>
                <a:cs typeface="Malgun Gothic"/>
              </a:rPr>
              <a:t>이미지 배포</a:t>
            </a:r>
          </a:p>
          <a:p>
            <a:pPr algn="l">
              <a:spcAft>
                <a:spcPts val="300"/>
              </a:spcAft>
            </a:pPr>
            <a:r>
              <a:rPr sz="1400" b="0">
                <a:solidFill>
                  <a:srgbClr val="3D4C57"/>
                </a:solidFill>
                <a:latin typeface="Malgun Gothic"/>
                <a:ea typeface="Malgun Gothic"/>
                <a:cs typeface="Malgun Gothic"/>
              </a:rPr>
              <a:t>Harbor는 후보. 정해지기 전 Runner가 직접 배포.</a:t>
            </a:r>
          </a:p>
          <a:p>
            <a:pPr algn="l">
              <a:spcAft>
                <a:spcPts val="300"/>
              </a:spcAft>
            </a:pPr>
            <a:r>
              <a:rPr sz="1300" b="1">
                <a:solidFill>
                  <a:srgbClr val="1F8A8A"/>
                </a:solidFill>
                <a:latin typeface="Malgun Gothic"/>
                <a:ea typeface="Malgun Gothic"/>
                <a:cs typeface="Malgun Gothic"/>
              </a:rPr>
              <a:t>수신 조건 없으면 20일 검증 보류</a:t>
            </a:r>
          </a:p>
        </p:txBody>
      </p:sp>
      <p:sp xmlns:a="http://schemas.openxmlformats.org/drawingml/2006/main">
        <p:nvSpPr>
          <p:cNvPr id="33" name="Rectangle 32"/>
          <p:cNvSpPr/>
          <p:nvPr/>
        </p:nvSpPr>
        <p:spPr>
          <a:xfrm>
            <a:off x="6309359" y="1554480"/>
            <a:ext cx="73152" cy="1965960"/>
          </a:xfrm>
          <a:prstGeom prst="rect">
            <a:avLst/>
          </a:prstGeom>
          <a:solidFill>
            <a:srgbClr val="1F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Rounded Rectangle 33"/>
          <p:cNvSpPr/>
          <p:nvPr/>
        </p:nvSpPr>
        <p:spPr>
          <a:xfrm>
            <a:off x="502920" y="3703320"/>
            <a:ext cx="5577840" cy="1965960"/>
          </a:xfrm>
          <a:prstGeom prst="roundRect">
            <a:avLst>
              <a:gd name="adj" fmla="val 6000"/>
            </a:avLst>
          </a:prstGeom>
          <a:solidFill>
            <a:srgbClr val="F7FBFB"/>
          </a:solidFill>
          <a:ln w="15875">
            <a:solidFill>
              <a:srgbClr val="D5E4E4"/>
            </a:solid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109728" bIns="73152"/>
          <a:lstStyle/>
          <a:p>
            <a:pPr algn="l">
              <a:spcAft>
                <a:spcPts val="300"/>
              </a:spcAft>
            </a:pPr>
            <a:r>
              <a:rPr sz="2000" b="1">
                <a:solidFill>
                  <a:srgbClr val="1C242B"/>
                </a:solidFill>
                <a:latin typeface="Malgun Gothic"/>
                <a:ea typeface="Malgun Gothic"/>
                <a:cs typeface="Malgun Gothic"/>
              </a:rPr>
              <a:t>ROSA 방식</a:t>
            </a:r>
          </a:p>
          <a:p>
            <a:pPr algn="l">
              <a:spcAft>
                <a:spcPts val="300"/>
              </a:spcAft>
            </a:pPr>
            <a:r>
              <a:rPr sz="1400" b="0">
                <a:solidFill>
                  <a:srgbClr val="3D4C57"/>
                </a:solidFill>
                <a:latin typeface="Malgun Gothic"/>
                <a:ea typeface="Malgun Gothic"/>
                <a:cs typeface="Malgun Gothic"/>
              </a:rPr>
              <a:t>Terraform 또는 rosa CLI 중 하나. 총비용은 미확정.</a:t>
            </a:r>
          </a:p>
          <a:p>
            <a:pPr algn="l">
              <a:spcAft>
                <a:spcPts val="300"/>
              </a:spcAft>
            </a:pPr>
            <a:r>
              <a:rPr sz="1300" b="1">
                <a:solidFill>
                  <a:srgbClr val="1F8A8A"/>
                </a:solidFill>
                <a:latin typeface="Malgun Gothic"/>
                <a:ea typeface="Malgun Gothic"/>
                <a:cs typeface="Malgun Gothic"/>
              </a:rPr>
              <a:t>확인 전 유료 생성 보류</a:t>
            </a:r>
          </a:p>
        </p:txBody>
      </p:sp>
      <p:sp xmlns:a="http://schemas.openxmlformats.org/drawingml/2006/main">
        <p:nvSpPr>
          <p:cNvPr id="35" name="Rectangle 34"/>
          <p:cNvSpPr/>
          <p:nvPr/>
        </p:nvSpPr>
        <p:spPr>
          <a:xfrm>
            <a:off x="502920" y="3703320"/>
            <a:ext cx="73152" cy="1965960"/>
          </a:xfrm>
          <a:prstGeom prst="rect">
            <a:avLst/>
          </a:prstGeom>
          <a:solidFill>
            <a:srgbClr val="1F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6309359" y="3703320"/>
            <a:ext cx="5577840" cy="1965960"/>
          </a:xfrm>
          <a:prstGeom prst="roundRect">
            <a:avLst>
              <a:gd name="adj" fmla="val 6000"/>
            </a:avLst>
          </a:prstGeom>
          <a:solidFill>
            <a:srgbClr val="F7FBFB"/>
          </a:solidFill>
          <a:ln w="15875">
            <a:solidFill>
              <a:srgbClr val="D5E4E4"/>
            </a:solidFill>
          </a:ln>
        </p:spPr>
        <p:style>
          <a:lnRef idx="1">
            <a:schemeClr val="accent1"/>
          </a:lnRef>
          <a:fillRef idx="3">
            <a:schemeClr val="accent1"/>
          </a:fillRef>
          <a:effectRef idx="2">
            <a:schemeClr val="accent1"/>
          </a:effectRef>
          <a:fontRef idx="minor">
            <a:schemeClr val="lt1"/>
          </a:fontRef>
        </p:style>
        <p:txBody>
          <a:bodyPr rtlCol="0" anchor="ctr" wrap="square" lIns="146304" rIns="109728" tIns="109728" bIns="73152"/>
          <a:lstStyle/>
          <a:p>
            <a:pPr algn="l">
              <a:spcAft>
                <a:spcPts val="300"/>
              </a:spcAft>
            </a:pPr>
            <a:r>
              <a:rPr sz="2000" b="1">
                <a:solidFill>
                  <a:srgbClr val="1C242B"/>
                </a:solidFill>
                <a:latin typeface="Malgun Gothic"/>
                <a:ea typeface="Malgun Gothic"/>
                <a:cs typeface="Malgun Gothic"/>
              </a:rPr>
              <a:t>작업 창</a:t>
            </a:r>
          </a:p>
          <a:p>
            <a:pPr algn="l">
              <a:spcAft>
                <a:spcPts val="300"/>
              </a:spcAft>
            </a:pPr>
            <a:r>
              <a:rPr sz="1400" b="0">
                <a:solidFill>
                  <a:srgbClr val="3D4C57"/>
                </a:solidFill>
                <a:latin typeface="Malgun Gothic"/>
                <a:ea typeface="Malgun Gothic"/>
                <a:cs typeface="Malgun Gothic"/>
              </a:rPr>
              <a:t>재환님 구간은 지원 인계와 변경 창만. 담당·기한 유지.</a:t>
            </a:r>
          </a:p>
          <a:p>
            <a:pPr algn="l">
              <a:spcAft>
                <a:spcPts val="300"/>
              </a:spcAft>
            </a:pPr>
            <a:r>
              <a:rPr sz="1300" b="1">
                <a:solidFill>
                  <a:srgbClr val="1F8A8A"/>
                </a:solidFill>
                <a:latin typeface="Malgun Gothic"/>
                <a:ea typeface="Malgun Gothic"/>
                <a:cs typeface="Malgun Gothic"/>
              </a:rPr>
              <a:t>겹치면 작업 창을 나눔</a:t>
            </a:r>
          </a:p>
        </p:txBody>
      </p:sp>
      <p:sp xmlns:a="http://schemas.openxmlformats.org/drawingml/2006/main">
        <p:nvSpPr>
          <p:cNvPr id="37" name="Rectangle 36"/>
          <p:cNvSpPr/>
          <p:nvPr/>
        </p:nvSpPr>
        <p:spPr>
          <a:xfrm>
            <a:off x="6309359" y="3703320"/>
            <a:ext cx="73152" cy="1965960"/>
          </a:xfrm>
          <a:prstGeom prst="rect">
            <a:avLst/>
          </a:prstGeom>
          <a:solidFill>
            <a:srgbClr val="1F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50047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18" name=""/>
          <p:cNvGraphicFramePr/>
          <p:nvPr/>
        </p:nvGraphicFramePr>
        <p:xfrm>
          <a:off xmlns:a="http://schemas.openxmlformats.org/drawingml/2006/main" x="685800" y="1685925"/>
          <a:ext xmlns:a="http://schemas.openxmlformats.org/drawingml/2006/main" cx="10820400" cy="4286250"/>
        </p:xfrm>
        <a:graphic xmlns:a="http://schemas.openxmlformats.org/drawingml/2006/main">
          <a:graphicData uri="http://schemas.openxmlformats.org/drawingml/2006/table">
            <a:tbl>
              <a:tblPr firstRow="1" bandRow="0"/>
              <a:tblGrid>
                <a:gridCol w="1714500"/>
                <a:gridCol w="5457825"/>
                <a:gridCol w="3648075"/>
              </a:tblGrid>
              <a:tr h="457200">
                <a:tc>
                  <a:txBody>
                    <a:bodyPr wrap="square">
                      <a:noAutofit/>
                    </a:bodyPr>
                    <a:lstStyle/>
                    <a:p>
                      <a:pPr algn="l">
                        <a:buNone/>
                      </a:pPr>
                      <a:r>
                        <a:rPr sz="1575" b="1">
                          <a:solidFill>
                            <a:srgbClr val="FFFFFF"/>
                          </a:solidFill>
                          <a:latin typeface="Malgun Gothic"/>
                          <a:ea typeface="Malgun Gothic"/>
                          <a:cs typeface="Malgun Gothic"/>
                        </a:rPr>
                        <a:t>구성</a:t>
                      </a:r>
                    </a:p>
                  </a:txBody>
                  <a:tcPr marL="114300" marR="114300" marT="28575" marB="28575" anchor="ctr">
                    <a:solidFill>
                      <a:srgbClr val="142D40"/>
                    </a:solidFill>
                  </a:tcPr>
                </a:tc>
                <a:tc>
                  <a:txBody>
                    <a:bodyPr wrap="square">
                      <a:noAutofit/>
                    </a:bodyPr>
                    <a:lstStyle/>
                    <a:p>
                      <a:pPr algn="l">
                        <a:buNone/>
                      </a:pPr>
                      <a:r>
                        <a:rPr sz="1575" b="1">
                          <a:solidFill>
                            <a:srgbClr val="FFFFFF"/>
                          </a:solidFill>
                          <a:latin typeface="Malgun Gothic"/>
                          <a:ea typeface="Malgun Gothic"/>
                          <a:cs typeface="Malgun Gothic"/>
                        </a:rPr>
                        <a:t>설계 입력</a:t>
                      </a:r>
                    </a:p>
                  </a:txBody>
                  <a:tcPr marL="114300" marR="114300" marT="28575" marB="28575" anchor="ctr">
                    <a:solidFill>
                      <a:srgbClr val="142D40"/>
                    </a:solidFill>
                  </a:tcPr>
                </a:tc>
                <a:tc>
                  <a:txBody>
                    <a:bodyPr wrap="square">
                      <a:noAutofit/>
                    </a:bodyPr>
                    <a:lstStyle/>
                    <a:p>
                      <a:pPr algn="l">
                        <a:buNone/>
                      </a:pPr>
                      <a:r>
                        <a:rPr sz="1575" b="1">
                          <a:solidFill>
                            <a:srgbClr val="FFFFFF"/>
                          </a:solidFill>
                          <a:latin typeface="Malgun Gothic"/>
                          <a:ea typeface="Malgun Gothic"/>
                          <a:cs typeface="Malgun Gothic"/>
                        </a:rPr>
                        <a:t>남은 확인</a:t>
                      </a:r>
                    </a:p>
                  </a:txBody>
                  <a:tcPr marL="114300" marR="114300" marT="28575" marB="28575" anchor="ctr">
                    <a:solidFill>
                      <a:srgbClr val="142D40"/>
                    </a:solidFill>
                  </a:tcPr>
                </a:tc>
              </a:tr>
              <a:tr h="547007">
                <a:tc>
                  <a:txBody>
                    <a:bodyPr wrap="square">
                      <a:noAutofit/>
                    </a:bodyPr>
                    <a:lstStyle/>
                    <a:p>
                      <a:pPr algn="l">
                        <a:buNone/>
                      </a:pPr>
                      <a:r>
                        <a:rPr sz="1500" b="0">
                          <a:solidFill>
                            <a:srgbClr val="142D40"/>
                          </a:solidFill>
                          <a:latin typeface="Malgun Gothic"/>
                          <a:ea typeface="Malgun Gothic"/>
                          <a:cs typeface="Malgun Gothic"/>
                        </a:rPr>
                        <a:t>AWS 네트워크</a:t>
                      </a:r>
                    </a:p>
                  </a:txBody>
                  <a:tcPr marL="114300" marR="114300" marT="28575" marB="28575" anchor="ctr">
                    <a:solidFill>
                      <a:srgbClr val="FFFFFF"/>
                    </a:solidFill>
                  </a:tcPr>
                </a:tc>
                <a:tc>
                  <a:txBody>
                    <a:bodyPr wrap="square">
                      <a:noAutofit/>
                    </a:bodyPr>
                    <a:lstStyle/>
                    <a:p>
                      <a:pPr algn="l">
                        <a:buNone/>
                      </a:pPr>
                      <a:r>
                        <a:rPr sz="1500" b="0">
                          <a:solidFill>
                            <a:srgbClr val="142D40"/>
                          </a:solidFill>
                          <a:latin typeface="Malgun Gothic"/>
                          <a:ea typeface="Malgun Gothic"/>
                          <a:cs typeface="Malgun Gothic"/>
                        </a:rPr>
                        <a:t>서울 ap-northeast-2, 전용망 10.20.0.0/16</a:t>
                      </a:r>
                    </a:p>
                    <a:p>
                      <a:pPr algn="l">
                        <a:buNone/>
                      </a:pPr>
                      <a:r>
                        <a:rPr sz="1500" b="0">
                          <a:solidFill>
                            <a:srgbClr val="142D40"/>
                          </a:solidFill>
                          <a:latin typeface="Malgun Gothic"/>
                          <a:ea typeface="Malgun Gothic"/>
                          <a:cs typeface="Malgun Gothic"/>
                        </a:rPr>
                        <a:t>내부망 10.20.10.0/24 등 3개 영역</a:t>
                      </a:r>
                    </a:p>
                  </a:txBody>
                  <a:tcPr marL="114300" marR="114300" marT="28575" marB="28575" anchor="ctr">
                    <a:solidFill>
                      <a:srgbClr val="FFFFFF"/>
                    </a:solidFill>
                  </a:tcPr>
                </a:tc>
                <a:tc>
                  <a:txBody>
                    <a:bodyPr wrap="square">
                      <a:noAutofit/>
                    </a:bodyPr>
                    <a:lstStyle/>
                    <a:p>
                      <a:pPr algn="l">
                        <a:buNone/>
                      </a:pPr>
                      <a:r>
                        <a:rPr sz="1500" b="0">
                          <a:solidFill>
                            <a:srgbClr val="142D40"/>
                          </a:solidFill>
                          <a:latin typeface="Malgun Gothic"/>
                          <a:ea typeface="Malgun Gothic"/>
                          <a:cs typeface="Malgun Gothic"/>
                        </a:rPr>
                        <a:t>ROSA 배치·관리 접근 경로</a:t>
                      </a:r>
                    </a:p>
                  </a:txBody>
                  <a:tcPr marL="114300" marR="114300" marT="28575" marB="28575" anchor="ctr">
                    <a:solidFill>
                      <a:srgbClr val="FFFFFF"/>
                    </a:solidFill>
                  </a:tcPr>
                </a:tc>
              </a:tr>
              <a:tr h="547007">
                <a:tc>
                  <a:txBody>
                    <a:bodyPr wrap="square">
                      <a:noAutofit/>
                    </a:bodyPr>
                    <a:lstStyle/>
                    <a:p>
                      <a:pPr algn="l">
                        <a:buNone/>
                      </a:pPr>
                      <a:r>
                        <a:rPr sz="1500" b="0">
                          <a:solidFill>
                            <a:srgbClr val="142D40"/>
                          </a:solidFill>
                          <a:latin typeface="Malgun Gothic"/>
                          <a:ea typeface="Malgun Gothic"/>
                          <a:cs typeface="Malgun Gothic"/>
                        </a:rPr>
                        <a:t>ROSA</a:t>
                      </a:r>
                    </a:p>
                  </a:txBody>
                  <a:tcPr marL="114300" marR="114300" marT="28575" marB="28575" anchor="ctr">
                    <a:solidFill>
                      <a:srgbClr val="F4F8FA"/>
                    </a:solidFill>
                  </a:tcPr>
                </a:tc>
                <a:tc>
                  <a:txBody>
                    <a:bodyPr wrap="square">
                      <a:noAutofit/>
                    </a:bodyPr>
                    <a:lstStyle/>
                    <a:p>
                      <a:pPr algn="l">
                        <a:buNone/>
                      </a:pPr>
                      <a:r>
                        <a:rPr sz="1500" b="0">
                          <a:solidFill>
                            <a:srgbClr val="142D40"/>
                          </a:solidFill>
                          <a:latin typeface="Malgun Gothic"/>
                          <a:ea typeface="Malgun Gothic"/>
                          <a:cs typeface="Malgun Gothic"/>
                        </a:rPr>
                        <a:t>관리 영역 분리·영역별 서버 그룹 후보</a:t>
                      </a:r>
                    </a:p>
                  </a:txBody>
                  <a:tcPr marL="114300" marR="114300" marT="28575" marB="28575" anchor="ctr">
                    <a:solidFill>
                      <a:srgbClr val="F4F8FA"/>
                    </a:solidFill>
                  </a:tcPr>
                </a:tc>
                <a:tc>
                  <a:txBody>
                    <a:bodyPr wrap="square">
                      <a:noAutofit/>
                    </a:bodyPr>
                    <a:lstStyle/>
                    <a:p>
                      <a:pPr algn="l">
                        <a:buNone/>
                      </a:pPr>
                      <a:r>
                        <a:rPr sz="1500" b="0">
                          <a:solidFill>
                            <a:srgbClr val="142D40"/>
                          </a:solidFill>
                          <a:latin typeface="Malgun Gothic"/>
                          <a:ea typeface="Malgun Gothic"/>
                          <a:cs typeface="Malgun Gothic"/>
                        </a:rPr>
                        <a:t>생성 방식·지원·규모·권한·비용</a:t>
                      </a:r>
                    </a:p>
                  </a:txBody>
                  <a:tcPr marL="114300" marR="114300" marT="28575" marB="28575" anchor="ctr">
                    <a:solidFill>
                      <a:srgbClr val="F4F8FA"/>
                    </a:solidFill>
                  </a:tcPr>
                </a:tc>
              </a:tr>
              <a:tr h="547007">
                <a:tc>
                  <a:txBody>
                    <a:bodyPr wrap="square">
                      <a:noAutofit/>
                    </a:bodyPr>
                    <a:lstStyle/>
                    <a:p>
                      <a:pPr algn="l">
                        <a:buNone/>
                      </a:pPr>
                      <a:r>
                        <a:rPr sz="1500" b="0">
                          <a:solidFill>
                            <a:srgbClr val="142D40"/>
                          </a:solidFill>
                          <a:latin typeface="Malgun Gothic"/>
                          <a:ea typeface="Malgun Gothic"/>
                          <a:cs typeface="Malgun Gothic"/>
                        </a:rPr>
                        <a:t>EC2 중계 서버</a:t>
                      </a:r>
                    </a:p>
                  </a:txBody>
                  <a:tcPr marL="114300" marR="114300" marT="28575" marB="28575" anchor="ctr">
                    <a:solidFill>
                      <a:srgbClr val="FFFFFF"/>
                    </a:solidFill>
                  </a:tcPr>
                </a:tc>
                <a:tc>
                  <a:txBody>
                    <a:bodyPr wrap="square">
                      <a:noAutofit/>
                    </a:bodyPr>
                    <a:lstStyle/>
                    <a:p>
                      <a:pPr algn="l">
                        <a:buNone/>
                      </a:pPr>
                      <a:r>
                        <a:rPr sz="1500" b="0">
                          <a:solidFill>
                            <a:srgbClr val="142D40"/>
                          </a:solidFill>
                          <a:latin typeface="Malgun Gothic"/>
                          <a:ea typeface="Malgun Gothic"/>
                          <a:cs typeface="Malgun Gothic"/>
                        </a:rPr>
                        <a:t>10.20.110.10, t3.medium, 공인 IP 1개</a:t>
                      </a:r>
                    </a:p>
                    <a:p>
                      <a:pPr algn="l">
                        <a:buNone/>
                      </a:pPr>
                      <a:r>
                        <a:rPr sz="1500" b="0">
                          <a:solidFill>
                            <a:srgbClr val="142D40"/>
                          </a:solidFill>
                          <a:latin typeface="Malgun Gothic"/>
                          <a:ea typeface="Malgun Gothic"/>
                          <a:cs typeface="Malgun Gothic"/>
                        </a:rPr>
                        <a:t>암호화 gp3 40GiB, 원격 관리(SSM)</a:t>
                      </a:r>
                    </a:p>
                  </a:txBody>
                  <a:tcPr marL="114300" marR="114300" marT="28575" marB="28575" anchor="ctr">
                    <a:solidFill>
                      <a:srgbClr val="FFFFFF"/>
                    </a:solidFill>
                  </a:tcPr>
                </a:tc>
                <a:tc>
                  <a:txBody>
                    <a:bodyPr wrap="square">
                      <a:noAutofit/>
                    </a:bodyPr>
                    <a:lstStyle/>
                    <a:p>
                      <a:pPr algn="l">
                        <a:buNone/>
                      </a:pPr>
                      <a:r>
                        <a:rPr sz="1500" b="0">
                          <a:solidFill>
                            <a:srgbClr val="142D40"/>
                          </a:solidFill>
                          <a:latin typeface="Malgun Gothic"/>
                          <a:ea typeface="Malgun Gothic"/>
                          <a:cs typeface="Malgun Gothic"/>
                        </a:rPr>
                        <a:t>공인 주소·VPN·복구</a:t>
                      </a:r>
                    </a:p>
                    <a:p>
                      <a:pPr algn="l">
                        <a:buNone/>
                      </a:pPr>
                      <a:r>
                        <a:rPr sz="1500" b="0">
                          <a:solidFill>
                            <a:srgbClr val="142D40"/>
                          </a:solidFill>
                          <a:latin typeface="Malgun Gothic"/>
                          <a:ea typeface="Malgun Gothic"/>
                          <a:cs typeface="Malgun Gothic"/>
                        </a:rPr>
                        <a:t>원격 관리 지원·실제 접속</a:t>
                      </a:r>
                    </a:p>
                  </a:txBody>
                  <a:tcPr marL="114300" marR="114300" marT="28575" marB="28575" anchor="ctr">
                    <a:solidFill>
                      <a:srgbClr val="FFFFFF"/>
                    </a:solidFill>
                  </a:tcPr>
                </a:tc>
              </a:tr>
              <a:tr h="547007">
                <a:tc>
                  <a:txBody>
                    <a:bodyPr wrap="square">
                      <a:noAutofit/>
                    </a:bodyPr>
                    <a:lstStyle/>
                    <a:p>
                      <a:pPr algn="l">
                        <a:buNone/>
                      </a:pPr>
                      <a:r>
                        <a:rPr sz="1500" b="0">
                          <a:solidFill>
                            <a:srgbClr val="142D40"/>
                          </a:solidFill>
                          <a:latin typeface="Malgun Gothic"/>
                          <a:ea typeface="Malgun Gothic"/>
                          <a:cs typeface="Malgun Gothic"/>
                        </a:rPr>
                        <a:t>온프레미스 DB</a:t>
                      </a:r>
                    </a:p>
                  </a:txBody>
                  <a:tcPr marL="114300" marR="114300" marT="28575" marB="28575" anchor="ctr">
                    <a:solidFill>
                      <a:srgbClr val="F4F8FA"/>
                    </a:solidFill>
                  </a:tcPr>
                </a:tc>
                <a:tc>
                  <a:txBody>
                    <a:bodyPr wrap="square">
                      <a:noAutofit/>
                    </a:bodyPr>
                    <a:lstStyle/>
                    <a:p>
                      <a:pPr algn="l">
                        <a:buNone/>
                      </a:pPr>
                      <a:r>
                        <a:rPr sz="1500" b="0">
                          <a:solidFill>
                            <a:srgbClr val="142D40"/>
                          </a:solidFill>
                          <a:latin typeface="Malgun Gothic"/>
                          <a:ea typeface="Malgun Gothic"/>
                          <a:cs typeface="Malgun Gothic"/>
                        </a:rPr>
                        <a:t>10.1.93.55:5432, vpn-gw01 .51</a:t>
                      </a:r>
                    </a:p>
                  </a:txBody>
                  <a:tcPr marL="114300" marR="114300" marT="28575" marB="28575" anchor="ctr">
                    <a:solidFill>
                      <a:srgbClr val="F4F8FA"/>
                    </a:solidFill>
                  </a:tcPr>
                </a:tc>
                <a:tc>
                  <a:txBody>
                    <a:bodyPr wrap="square">
                      <a:noAutofit/>
                    </a:bodyPr>
                    <a:lstStyle/>
                    <a:p>
                      <a:pPr algn="l">
                        <a:buNone/>
                      </a:pPr>
                      <a:r>
                        <a:rPr sz="1500" b="0">
                          <a:solidFill>
                            <a:srgbClr val="142D40"/>
                          </a:solidFill>
                          <a:latin typeface="Malgun Gothic"/>
                          <a:ea typeface="Malgun Gothic"/>
                          <a:cs typeface="Malgun Gothic"/>
                        </a:rPr>
                        <a:t>신규 접속 출발지·반환 경로·회귀</a:t>
                      </a:r>
                    </a:p>
                  </a:txBody>
                  <a:tcPr marL="114300" marR="114300" marT="28575" marB="28575" anchor="ctr">
                    <a:solidFill>
                      <a:srgbClr val="F4F8FA"/>
                    </a:solidFill>
                  </a:tcPr>
                </a:tc>
              </a:tr>
              <a:tr h="547007">
                <a:tc>
                  <a:txBody>
                    <a:bodyPr wrap="square">
                      <a:noAutofit/>
                    </a:bodyPr>
                    <a:lstStyle/>
                    <a:p>
                      <a:pPr algn="l">
                        <a:buNone/>
                      </a:pPr>
                      <a:r>
                        <a:rPr sz="1500" b="0">
                          <a:solidFill>
                            <a:srgbClr val="142D40"/>
                          </a:solidFill>
                          <a:latin typeface="Malgun Gothic"/>
                          <a:ea typeface="Malgun Gothic"/>
                          <a:cs typeface="Malgun Gothic"/>
                        </a:rPr>
                        <a:t>Harbor·DNS</a:t>
                      </a:r>
                    </a:p>
                  </a:txBody>
                  <a:tcPr marL="114300" marR="114300" marT="28575" marB="28575" anchor="ctr">
                    <a:solidFill>
                      <a:srgbClr val="FFFFFF"/>
                    </a:solidFill>
                  </a:tcPr>
                </a:tc>
                <a:tc>
                  <a:txBody>
                    <a:bodyPr wrap="square">
                      <a:noAutofit/>
                    </a:bodyPr>
                    <a:lstStyle/>
                    <a:p>
                      <a:pPr algn="l">
                        <a:buNone/>
                      </a:pPr>
                      <a:r>
                        <a:rPr sz="1500" b="0">
                          <a:solidFill>
                            <a:srgbClr val="142D40"/>
                          </a:solidFill>
                          <a:latin typeface="Malgun Gothic"/>
                          <a:ea typeface="Malgun Gothic"/>
                          <a:cs typeface="Malgun Gothic"/>
                        </a:rPr>
                        <a:t>Harbor .54:443, DNS .52/.53</a:t>
                      </a:r>
                    </a:p>
                    <a:p>
                      <a:pPr algn="l">
                        <a:buNone/>
                      </a:pPr>
                      <a:r>
                        <a:rPr sz="1500" b="0">
                          <a:solidFill>
                            <a:srgbClr val="142D40"/>
                          </a:solidFill>
                          <a:latin typeface="Malgun Gothic"/>
                          <a:ea typeface="Malgun Gothic"/>
                          <a:cs typeface="Malgun Gothic"/>
                        </a:rPr>
                        <a:t>온프레미스 10.1.93.0/24</a:t>
                      </a:r>
                    </a:p>
                  </a:txBody>
                  <a:tcPr marL="114300" marR="114300" marT="28575" marB="28575" anchor="ctr">
                    <a:solidFill>
                      <a:srgbClr val="FFFFFF"/>
                    </a:solidFill>
                  </a:tcPr>
                </a:tc>
                <a:tc>
                  <a:txBody>
                    <a:bodyPr wrap="square">
                      <a:noAutofit/>
                    </a:bodyPr>
                    <a:lstStyle/>
                    <a:p>
                      <a:pPr algn="l">
                        <a:buNone/>
                      </a:pPr>
                      <a:r>
                        <a:rPr sz="1500" b="0">
                          <a:solidFill>
                            <a:srgbClr val="142D40"/>
                          </a:solidFill>
                          <a:latin typeface="Malgun Gothic"/>
                          <a:ea typeface="Malgun Gothic"/>
                          <a:cs typeface="Malgun Gothic"/>
                        </a:rPr>
                        <a:t>이미지 저장소 선택·DNS 허용</a:t>
                      </a:r>
                    </a:p>
                  </a:txBody>
                  <a:tcPr marL="114300" marR="114300" marT="28575" marB="28575" anchor="ctr">
                    <a:solidFill>
                      <a:srgbClr val="FFFFFF"/>
                    </a:solidFill>
                  </a:tcPr>
                </a:tc>
              </a:tr>
              <a:tr h="547007">
                <a:tc>
                  <a:txBody>
                    <a:bodyPr wrap="square">
                      <a:noAutofit/>
                    </a:bodyPr>
                    <a:lstStyle/>
                    <a:p>
                      <a:pPr algn="l">
                        <a:buNone/>
                      </a:pPr>
                      <a:r>
                        <a:rPr sz="1500" b="0">
                          <a:solidFill>
                            <a:srgbClr val="142D40"/>
                          </a:solidFill>
                          <a:latin typeface="Malgun Gothic"/>
                          <a:ea typeface="Malgun Gothic"/>
                          <a:cs typeface="Malgun Gothic"/>
                        </a:rPr>
                        <a:t>Runner 관리</a:t>
                      </a:r>
                    </a:p>
                  </a:txBody>
                  <a:tcPr marL="114300" marR="114300" marT="28575" marB="28575" anchor="ctr">
                    <a:solidFill>
                      <a:srgbClr val="F4F8FA"/>
                    </a:solidFill>
                  </a:tcPr>
                </a:tc>
                <a:tc>
                  <a:txBody>
                    <a:bodyPr wrap="square">
                      <a:noAutofit/>
                    </a:bodyPr>
                    <a:lstStyle/>
                    <a:p>
                      <a:pPr algn="l">
                        <a:buNone/>
                      </a:pPr>
                      <a:r>
                        <a:rPr sz="1500" b="0">
                          <a:solidFill>
                            <a:srgbClr val="142D40"/>
                          </a:solidFill>
                          <a:latin typeface="Malgun Gothic"/>
                          <a:ea typeface="Malgun Gothic"/>
                          <a:cs typeface="Malgun Gothic"/>
                        </a:rPr>
                        <a:t>10.250.10.20 기존 관리망</a:t>
                      </a:r>
                    </a:p>
                  </a:txBody>
                  <a:tcPr marL="114300" marR="114300" marT="28575" marB="28575" anchor="ctr">
                    <a:solidFill>
                      <a:srgbClr val="F4F8FA"/>
                    </a:solidFill>
                  </a:tcPr>
                </a:tc>
                <a:tc>
                  <a:txBody>
                    <a:bodyPr wrap="square">
                      <a:noAutofit/>
                    </a:bodyPr>
                    <a:lstStyle/>
                    <a:p>
                      <a:pPr algn="l">
                        <a:buNone/>
                      </a:pPr>
                      <a:r>
                        <a:rPr sz="1500" b="0">
                          <a:solidFill>
                            <a:srgbClr val="142D40"/>
                          </a:solidFill>
                          <a:latin typeface="Malgun Gothic"/>
                          <a:ea typeface="Malgun Gothic"/>
                          <a:cs typeface="Malgun Gothic"/>
                        </a:rPr>
                        <a:t>관리 접속 경로·출발지·이름 조회</a:t>
                      </a:r>
                    </a:p>
                  </a:txBody>
                  <a:tcPr marL="114300" marR="114300" marT="28575" marB="28575" anchor="ctr">
                    <a:solidFill>
                      <a:srgbClr val="F4F8FA"/>
                    </a:solidFill>
                  </a:tcPr>
                </a:tc>
              </a:tr>
              <a:tr h="547007">
                <a:tc>
                  <a:txBody>
                    <a:bodyPr wrap="square">
                      <a:noAutofit/>
                    </a:bodyPr>
                    <a:lstStyle/>
                    <a:p>
                      <a:pPr algn="l">
                        <a:buNone/>
                      </a:pPr>
                      <a:r>
                        <a:rPr sz="1500" b="0">
                          <a:solidFill>
                            <a:srgbClr val="142D40"/>
                          </a:solidFill>
                          <a:latin typeface="Malgun Gothic"/>
                          <a:ea typeface="Malgun Gothic"/>
                          <a:cs typeface="Malgun Gothic"/>
                        </a:rPr>
                        <a:t>업무 서비스</a:t>
                      </a:r>
                    </a:p>
                  </a:txBody>
                  <a:tcPr marL="114300" marR="114300" marT="28575" marB="28575" anchor="ctr">
                    <a:solidFill>
                      <a:srgbClr val="FFFFFF"/>
                    </a:solidFill>
                  </a:tcPr>
                </a:tc>
                <a:tc>
                  <a:txBody>
                    <a:bodyPr wrap="square">
                      <a:noAutofit/>
                    </a:bodyPr>
                    <a:lstStyle/>
                    <a:p>
                      <a:pPr algn="l">
                        <a:buNone/>
                      </a:pPr>
                      <a:r>
                        <a:rPr sz="1500" b="0">
                          <a:solidFill>
                            <a:srgbClr val="142D40"/>
                          </a:solidFill>
                          <a:latin typeface="Malgun Gothic"/>
                          <a:ea typeface="Malgun Gothic"/>
                          <a:cs typeface="Malgun Gothic"/>
                        </a:rPr>
                        <a:t>transaction-api 8000, fds-engine 8001</a:t>
                      </a:r>
                    </a:p>
                    <a:p>
                      <a:pPr algn="l">
                        <a:buNone/>
                      </a:pPr>
                      <a:r>
                        <a:rPr sz="1500" b="0">
                          <a:solidFill>
                            <a:srgbClr val="142D40"/>
                          </a:solidFill>
                          <a:latin typeface="Malgun Gothic"/>
                          <a:ea typeface="Malgun Gothic"/>
                          <a:cs typeface="Malgun Gothic"/>
                        </a:rPr>
                        <a:t>engine의 DB 직접 접근 금지</a:t>
                      </a:r>
                    </a:p>
                  </a:txBody>
                  <a:tcPr marL="114300" marR="114300" marT="28575" marB="28575" anchor="ctr">
                    <a:solidFill>
                      <a:srgbClr val="FFFFFF"/>
                    </a:solidFill>
                  </a:tcPr>
                </a:tc>
                <a:tc>
                  <a:txBody>
                    <a:bodyPr wrap="square">
                      <a:noAutofit/>
                    </a:bodyPr>
                    <a:lstStyle/>
                    <a:p>
                      <a:pPr algn="l">
                        <a:buNone/>
                      </a:pPr>
                      <a:r>
                        <a:rPr sz="1500" b="0">
                          <a:solidFill>
                            <a:srgbClr val="142D40"/>
                          </a:solidFill>
                          <a:latin typeface="Malgun Gothic"/>
                          <a:ea typeface="Malgun Gothic"/>
                          <a:cs typeface="Malgun Gothic"/>
                        </a:rPr>
                        <a:t>승인 이미지·실제 실행·정상 상태</a:t>
                      </a:r>
                    </a:p>
                  </a:txBody>
                  <a:tcPr marL="114300" marR="114300" marT="28575" marB="28575" anchor="ctr">
                    <a:solidFill>
                      <a:srgbClr val="FFFFFF"/>
                    </a:solidFill>
                  </a:tcPr>
                </a:tc>
              </a:tr>
            </a:tbl>
          </a:graphicData>
        </a:graphic>
      </p:graphicFrame>
      <p:sp>
        <p:nvSpPr>
          <p:cNvPr id="13" name="물리 구성과 구축 입력">
            <a:extLst xmlns:a="http://schemas.openxmlformats.org/drawingml/2006/main">
              <a:ext uri="{FF2B5EF4-FFF2-40B4-BE49-F238E27FC236}">
                <a16:creationId xmlns:a16="http://schemas.microsoft.com/office/drawing/2014/main" id="{BC88EE21-6486-489B-B1F1-591644BCEFDA}"/>
              </a:ext>
            </a:extLst>
          </p:cNvPr>
          <p:cNvSpPr>
            <a:spLocks xmlns:a="http://schemas.openxmlformats.org/drawingml/2006/main" noGrp="1"/>
          </p:cNvSpPr>
          <p:nvPr/>
        </p:nvSpPr>
        <p:spPr>
          <a:xfrm xmlns:a="http://schemas.openxmlformats.org/drawingml/2006/main">
            <a:off x="685800" y="40957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D40"/>
                </a:solidFill>
                <a:latin typeface="Malgun Gothic"/>
                <a:ea typeface="Malgun Gothic"/>
                <a:cs typeface="Malgun Gothic"/>
              </a:defRPr>
            </a:pPr>
            <a:r>
              <a:rPr sz="2400" b="1">
                <a:solidFill>
                  <a:srgbClr val="1C242B"/>
                </a:solidFill>
                <a:latin typeface="Malgun Gothic"/>
                <a:ea typeface="Malgun Gothic"/>
                <a:cs typeface="Malgun Gothic"/>
              </a:rPr>
              <a:t>물리 구성과 구축 입력</a:t>
            </a:r>
          </a:p>
        </p:txBody>
      </p:sp>
      <p:sp>
        <p:nvSpPr>
          <p:cNvPr id="14" name="주소와 사양은 구축 입력입니다. 실제 자원 식별값과 연결 결과는 생성 후 확인합니다">
            <a:extLst xmlns:a="http://schemas.openxmlformats.org/drawingml/2006/main">
              <a:ext uri="{FF2B5EF4-FFF2-40B4-BE49-F238E27FC236}">
                <a16:creationId xmlns:a16="http://schemas.microsoft.com/office/drawing/2014/main" id="{D1D72E58-9B0A-4185-8426-2DEA8E4E0B41}"/>
              </a:ext>
            </a:extLst>
          </p:cNvPr>
          <p:cNvSpPr>
            <a:spLocks xmlns:a="http://schemas.openxmlformats.org/drawingml/2006/main" noGrp="1"/>
          </p:cNvSpPr>
          <p:nvPr/>
        </p:nvSpPr>
        <p:spPr>
          <a:xfrm xmlns:a="http://schemas.openxmlformats.org/drawingml/2006/main">
            <a:off x="685800" y="10763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675"/>
                </a:solidFill>
                <a:latin typeface="Malgun Gothic"/>
                <a:ea typeface="Malgun Gothic"/>
                <a:cs typeface="Malgun Gothic"/>
              </a:defRPr>
            </a:pPr>
            <a:r>
              <a:rPr sz="1400" b="0">
                <a:solidFill>
                  <a:srgbClr val="3D4C57"/>
                </a:solidFill>
                <a:latin typeface="Malgun Gothic"/>
                <a:ea typeface="Malgun Gothic"/>
                <a:cs typeface="Malgun Gothic"/>
              </a:rPr>
              <a:t>주소와 사양은 구축 입력입니다. 실제 자원 식별값과 연결 결과는 생성 후 확인합니다</a:t>
            </a:r>
          </a:p>
        </p:txBody>
      </p:sp>
      <p:sp>
        <p:nvSpPr>
          <p:cNvPr id="15" name="부록  07">
            <a:extLst xmlns:a="http://schemas.openxmlformats.org/drawingml/2006/main">
              <a:ext uri="{FF2B5EF4-FFF2-40B4-BE49-F238E27FC236}">
                <a16:creationId xmlns:a16="http://schemas.microsoft.com/office/drawing/2014/main" id="{4FE3FFE8-13AD-4564-A7A3-CFF4A141FD30}"/>
              </a:ext>
            </a:extLst>
          </p:cNvPr>
          <p:cNvSpPr>
            <a:spLocks xmlns:a="http://schemas.openxmlformats.org/drawingml/2006/main" noGrp="1"/>
          </p:cNvSpPr>
          <p:nvPr/>
        </p:nvSpPr>
        <p:spPr>
          <a:xfrm xmlns:a="http://schemas.openxmlformats.org/drawingml/2006/main">
            <a:off x="-27432000" y="-27432000"/>
            <a:ext cx="2240280" cy="2377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675"/>
                </a:solidFill>
                <a:latin typeface="Malgun Gothic"/>
                <a:ea typeface="Malgun Gothic"/>
                <a:cs typeface="Malgun Gothic"/>
              </a:defRPr>
            </a:pPr>
            <a:r>
              <a:rPr sz="1200" b="0">
                <a:solidFill>
                  <a:srgbClr val="526675"/>
                </a:solidFill>
                <a:latin typeface="Malgun Gothic"/>
                <a:ea typeface="Malgun Gothic"/>
                <a:cs typeface="Malgun Gothic"/>
              </a:rPr>
              <a:t>부록  07</a:t>
            </a:r>
          </a:p>
        </p:txBody>
      </p:sp>
      <p:sp>
        <p:nvSpPr>
          <p:cNvPr id="16" name="server08 공유: DB·Harbor·dns02·VPN 관문. 호스트 장애 시 동시 영향 위험">
            <a:extLst xmlns:a="http://schemas.openxmlformats.org/drawingml/2006/main">
              <a:ext uri="{FF2B5EF4-FFF2-40B4-BE49-F238E27FC236}">
                <a16:creationId xmlns:a16="http://schemas.microsoft.com/office/drawing/2014/main" id="{91C000B4-1756-4D52-96DF-4C837678E89C}"/>
              </a:ext>
            </a:extLst>
          </p:cNvPr>
          <p:cNvSpPr>
            <a:spLocks xmlns:a="http://schemas.openxmlformats.org/drawingml/2006/main" noGrp="1"/>
          </p:cNvSpPr>
          <p:nvPr/>
        </p:nvSpPr>
        <p:spPr>
          <a:xfrm xmlns:a="http://schemas.openxmlformats.org/drawingml/2006/main">
            <a:off x="685800" y="61150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9A651A"/>
                </a:solidFill>
                <a:latin typeface="Malgun Gothic"/>
                <a:ea typeface="Malgun Gothic"/>
                <a:cs typeface="Malgun Gothic"/>
              </a:defRPr>
            </a:pPr>
            <a:r>
              <a:rPr sz="1200" b="1">
                <a:solidFill>
                  <a:srgbClr val="3D4C57"/>
                </a:solidFill>
                <a:latin typeface="Malgun Gothic"/>
                <a:ea typeface="Malgun Gothic"/>
                <a:cs typeface="Malgun Gothic"/>
              </a:rPr>
              <a:t>server08 공유: DB·Harbor·dns02·VPN 관문. 호스트 장애 시 동시 영향 위험</a:t>
            </a:r>
          </a:p>
        </p:txBody>
      </p:sp>
      <p:sp>
        <p:nvSpPr>
          <p:cNvPr id="17" name="dns01은 server01에 배치. 기존 서비스 변경은 작업 창·회귀·원복 절차로 관리합니다">
            <a:extLst xmlns:a="http://schemas.openxmlformats.org/drawingml/2006/main">
              <a:ext uri="{FF2B5EF4-FFF2-40B4-BE49-F238E27FC236}">
                <a16:creationId xmlns:a16="http://schemas.microsoft.com/office/drawing/2014/main" id="{60D73013-1858-4CFC-B797-77A0F008627C}"/>
              </a:ext>
            </a:extLst>
          </p:cNvPr>
          <p:cNvSpPr>
            <a:spLocks xmlns:a="http://schemas.openxmlformats.org/drawingml/2006/main" noGrp="1"/>
          </p:cNvSpPr>
          <p:nvPr/>
        </p:nvSpPr>
        <p:spPr>
          <a:xfrm xmlns:a="http://schemas.openxmlformats.org/drawingml/2006/main">
            <a:off x="685800" y="6419850"/>
            <a:ext cx="990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675"/>
                </a:solidFill>
                <a:latin typeface="Malgun Gothic"/>
                <a:ea typeface="Malgun Gothic"/>
                <a:cs typeface="Malgun Gothic"/>
              </a:defRPr>
            </a:pPr>
            <a:r>
              <a:rPr sz="1350" b="0">
                <a:solidFill>
                  <a:srgbClr val="526675"/>
                </a:solidFill>
                <a:latin typeface="Malgun Gothic"/>
                <a:ea typeface="Malgun Gothic"/>
                <a:cs typeface="Malgun Gothic"/>
              </a:rPr>
              <a:t>dns01은 server01에 배치. 기존 서비스 변경은 작업 창·회귀·원복 절차로 관리합니다</a:t>
            </a:r>
          </a:p>
        </p:txBody>
      </p:sp>
      <p:sp xmlns:a="http://schemas.openxmlformats.org/drawingml/2006/main">
        <p:nvSpPr>
          <p:cNvPr id="19" name="Rectangle 18"/>
          <p:cNvSpPr/>
          <p:nvPr/>
        </p:nvSpPr>
        <p:spPr>
          <a:xfrm>
            <a:off x="0" y="0"/>
            <a:ext cx="12191695" cy="73152"/>
          </a:xfrm>
          <a:prstGeom prst="rect">
            <a:avLst/>
          </a:prstGeom>
          <a:solidFill>
            <a:srgbClr val="14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73152"/>
            <a:ext cx="73152" cy="6784848"/>
          </a:xfrm>
          <a:prstGeom prst="rect">
            <a:avLst/>
          </a:prstGeom>
          <a:solidFill>
            <a:srgbClr val="1F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ounded Rectangle 20"/>
          <p:cNvSpPr/>
          <p:nvPr/>
        </p:nvSpPr>
        <p:spPr>
          <a:xfrm>
            <a:off x="9646920" y="146304"/>
            <a:ext cx="2240280" cy="237744"/>
          </a:xfrm>
          <a:prstGeom prst="roundRect">
            <a:avLst>
              <a:gd name="adj" fmla="val 50000"/>
            </a:avLst>
          </a:prstGeom>
          <a:solidFill>
            <a:srgbClr val="FFFFFF"/>
          </a:solidFill>
          <a:ln w="12700">
            <a:solidFill>
              <a:srgbClr val="1F8A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8A8A"/>
                </a:solidFill>
                <a:latin typeface="Malgun Gothic"/>
                <a:ea typeface="Malgun Gothic"/>
                <a:cs typeface="Malgun Gothic"/>
              </a:rPr>
              <a:t>부록  물리 구성</a:t>
            </a:r>
          </a:p>
        </p:txBody>
      </p:sp>
    </p:spTree>
    <p:extLst>
      <p:ext uri="{BB962C8B-B14F-4D97-AF65-F5344CB8AC3E}">
        <p14:creationId xmlns:p14="http://schemas.microsoft.com/office/powerpoint/2010/main" val="6601972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20" name=""/>
          <p:cNvGraphicFramePr/>
          <p:nvPr/>
        </p:nvGraphicFramePr>
        <p:xfrm>
          <a:off xmlns:a="http://schemas.openxmlformats.org/drawingml/2006/main" x="685800" y="1752600"/>
          <a:ext xmlns:a="http://schemas.openxmlformats.org/drawingml/2006/main" cx="10820400" cy="3743325"/>
        </p:xfrm>
        <a:graphic xmlns:a="http://schemas.openxmlformats.org/drawingml/2006/main">
          <a:graphicData uri="http://schemas.openxmlformats.org/drawingml/2006/table">
            <a:tbl>
              <a:tblPr firstRow="1" bandRow="0"/>
              <a:tblGrid>
                <a:gridCol w="1581150"/>
                <a:gridCol w="4124325"/>
                <a:gridCol w="5114925"/>
              </a:tblGrid>
              <a:tr h="466725">
                <a:tc>
                  <a:txBody>
                    <a:bodyPr wrap="square">
                      <a:noAutofit/>
                    </a:bodyPr>
                    <a:lstStyle/>
                    <a:p>
                      <a:pPr algn="l">
                        <a:buNone/>
                      </a:pPr>
                      <a:r>
                        <a:rPr sz="1650" b="1">
                          <a:solidFill>
                            <a:srgbClr val="FFFFFF"/>
                          </a:solidFill>
                          <a:latin typeface="Malgun Gothic"/>
                          <a:ea typeface="Malgun Gothic"/>
                          <a:cs typeface="Malgun Gothic"/>
                        </a:rPr>
                        <a:t>목표 시점</a:t>
                      </a:r>
                    </a:p>
                  </a:txBody>
                  <a:tcPr marL="114300" marR="114300" marT="28575" marB="28575" anchor="ctr">
                    <a:solidFill>
                      <a:srgbClr val="142D40"/>
                    </a:solidFill>
                  </a:tcPr>
                </a:tc>
                <a:tc>
                  <a:txBody>
                    <a:bodyPr wrap="square">
                      <a:noAutofit/>
                    </a:bodyPr>
                    <a:lstStyle/>
                    <a:p>
                      <a:pPr algn="l">
                        <a:buNone/>
                      </a:pPr>
                      <a:r>
                        <a:rPr sz="1650" b="1">
                          <a:solidFill>
                            <a:srgbClr val="FFFFFF"/>
                          </a:solidFill>
                          <a:latin typeface="Malgun Gothic"/>
                          <a:ea typeface="Malgun Gothic"/>
                          <a:cs typeface="Malgun Gothic"/>
                        </a:rPr>
                        <a:t>담당과 다음 작업의 입력</a:t>
                      </a:r>
                    </a:p>
                  </a:txBody>
                  <a:tcPr marL="114300" marR="114300" marT="28575" marB="28575" anchor="ctr">
                    <a:solidFill>
                      <a:srgbClr val="142D40"/>
                    </a:solidFill>
                  </a:tcPr>
                </a:tc>
                <a:tc>
                  <a:txBody>
                    <a:bodyPr wrap="square">
                      <a:noAutofit/>
                    </a:bodyPr>
                    <a:lstStyle/>
                    <a:p>
                      <a:pPr algn="l">
                        <a:buNone/>
                      </a:pPr>
                      <a:r>
                        <a:rPr sz="1650" b="1">
                          <a:solidFill>
                            <a:srgbClr val="FFFFFF"/>
                          </a:solidFill>
                          <a:latin typeface="Malgun Gothic"/>
                          <a:ea typeface="Malgun Gothic"/>
                          <a:cs typeface="Malgun Gothic"/>
                        </a:rPr>
                        <a:t>완료 기준</a:t>
                      </a:r>
                    </a:p>
                  </a:txBody>
                  <a:tcPr marL="114300" marR="114300" marT="28575" marB="28575" anchor="ctr">
                    <a:solidFill>
                      <a:srgbClr val="142D40"/>
                    </a:solidFill>
                  </a:tcPr>
                </a:tc>
              </a:tr>
              <a:tr h="655320">
                <a:tc>
                  <a:txBody>
                    <a:bodyPr wrap="square">
                      <a:noAutofit/>
                    </a:bodyPr>
                    <a:lstStyle/>
                    <a:p>
                      <a:pPr algn="l">
                        <a:buNone/>
                      </a:pPr>
                      <a:r>
                        <a:rPr sz="1575" b="0">
                          <a:solidFill>
                            <a:srgbClr val="142D40"/>
                          </a:solidFill>
                          <a:latin typeface="Malgun Gothic"/>
                          <a:ea typeface="Malgun Gothic"/>
                          <a:cs typeface="Malgun Gothic"/>
                        </a:rPr>
                        <a:t>연결 확인</a:t>
                      </a:r>
                    </a:p>
                    <a:p>
                      <a:pPr algn="l">
                        <a:buNone/>
                      </a:pPr>
                      <a:r>
                        <a:rPr sz="1575" b="0">
                          <a:solidFill>
                            <a:srgbClr val="142D40"/>
                          </a:solidFill>
                          <a:latin typeface="Malgun Gothic"/>
                          <a:ea typeface="Malgun Gothic"/>
                          <a:cs typeface="Malgun Gothic"/>
                        </a:rPr>
                        <a:t>10/14</a:t>
                      </a:r>
                    </a:p>
                  </a:txBody>
                  <a:tcPr marL="114300" marR="114300" marT="28575" marB="28575" anchor="ctr">
                    <a:solidFill>
                      <a:srgbClr val="FFFFFF"/>
                    </a:solidFill>
                  </a:tcPr>
                </a:tc>
                <a:tc>
                  <a:txBody>
                    <a:bodyPr wrap="square">
                      <a:noAutofit/>
                    </a:bodyPr>
                    <a:lstStyle/>
                    <a:p>
                      <a:pPr algn="l">
                        <a:buNone/>
                      </a:pPr>
                      <a:r>
                        <a:rPr sz="1575" b="0">
                          <a:solidFill>
                            <a:srgbClr val="142D40"/>
                          </a:solidFill>
                          <a:latin typeface="Malgun Gothic"/>
                          <a:ea typeface="Malgun Gothic"/>
                          <a:cs typeface="Malgun Gothic"/>
                        </a:rPr>
                        <a:t>이하영 인프라·이재환 VPN</a:t>
                      </a:r>
                    </a:p>
                    <a:p>
                      <a:pPr algn="l">
                        <a:buNone/>
                      </a:pPr>
                      <a:r>
                        <a:rPr sz="1575" b="0">
                          <a:solidFill>
                            <a:srgbClr val="142D40"/>
                          </a:solidFill>
                          <a:latin typeface="Malgun Gothic"/>
                          <a:ea typeface="Malgun Gothic"/>
                          <a:cs typeface="Malgun Gothic"/>
                        </a:rPr>
                        <a:t>앱/배포 담당에 연결 입력 인계</a:t>
                      </a:r>
                    </a:p>
                  </a:txBody>
                  <a:tcPr marL="114300" marR="114300" marT="28575" marB="28575" anchor="ctr">
                    <a:solidFill>
                      <a:srgbClr val="FFFFFF"/>
                    </a:solidFill>
                  </a:tcPr>
                </a:tc>
                <a:tc>
                  <a:txBody>
                    <a:bodyPr wrap="square">
                      <a:noAutofit/>
                    </a:bodyPr>
                    <a:lstStyle/>
                    <a:p>
                      <a:pPr algn="l">
                        <a:buNone/>
                      </a:pPr>
                      <a:r>
                        <a:rPr sz="1575" b="0">
                          <a:solidFill>
                            <a:srgbClr val="142D40"/>
                          </a:solidFill>
                          <a:latin typeface="Malgun Gothic"/>
                          <a:ea typeface="Malgun Gothic"/>
                          <a:cs typeface="Malgun Gothic"/>
                        </a:rPr>
                        <a:t>전체 실제 자원·인증 VPN</a:t>
                      </a:r>
                    </a:p>
                    <a:p>
                      <a:pPr algn="l">
                        <a:buNone/>
                      </a:pPr>
                      <a:r>
                        <a:rPr sz="1575" b="0">
                          <a:solidFill>
                            <a:srgbClr val="142D40"/>
                          </a:solidFill>
                          <a:latin typeface="Malgun Gothic"/>
                          <a:ea typeface="Malgun Gothic"/>
                          <a:cs typeface="Malgun Gothic"/>
                        </a:rPr>
                        <a:t>허용·차단·복구 결과 확인</a:t>
                      </a:r>
                    </a:p>
                  </a:txBody>
                  <a:tcPr marL="114300" marR="114300" marT="28575" marB="28575" anchor="ctr">
                    <a:solidFill>
                      <a:srgbClr val="FFFFFF"/>
                    </a:solidFill>
                  </a:tcPr>
                </a:tc>
              </a:tr>
              <a:tr h="655320">
                <a:tc>
                  <a:txBody>
                    <a:bodyPr wrap="square">
                      <a:noAutofit/>
                    </a:bodyPr>
                    <a:lstStyle/>
                    <a:p>
                      <a:pPr algn="l">
                        <a:buNone/>
                      </a:pPr>
                      <a:r>
                        <a:rPr sz="1575" b="0">
                          <a:solidFill>
                            <a:srgbClr val="142D40"/>
                          </a:solidFill>
                          <a:latin typeface="Malgun Gothic"/>
                          <a:ea typeface="Malgun Gothic"/>
                          <a:cs typeface="Malgun Gothic"/>
                        </a:rPr>
                        <a:t>배포 검증</a:t>
                      </a:r>
                    </a:p>
                    <a:p>
                      <a:pPr algn="l">
                        <a:buNone/>
                      </a:pPr>
                      <a:r>
                        <a:rPr sz="1575" b="0">
                          <a:solidFill>
                            <a:srgbClr val="142D40"/>
                          </a:solidFill>
                          <a:latin typeface="Malgun Gothic"/>
                          <a:ea typeface="Malgun Gothic"/>
                          <a:cs typeface="Malgun Gothic"/>
                        </a:rPr>
                        <a:t>10/20</a:t>
                      </a:r>
                    </a:p>
                  </a:txBody>
                  <a:tcPr marL="114300" marR="114300" marT="28575" marB="28575" anchor="ctr">
                    <a:solidFill>
                      <a:srgbClr val="F4F8FA"/>
                    </a:solidFill>
                  </a:tcPr>
                </a:tc>
                <a:tc>
                  <a:txBody>
                    <a:bodyPr wrap="square">
                      <a:noAutofit/>
                    </a:bodyPr>
                    <a:lstStyle/>
                    <a:p>
                      <a:pPr algn="l">
                        <a:buNone/>
                      </a:pPr>
                      <a:r>
                        <a:rPr sz="1575" b="0">
                          <a:solidFill>
                            <a:srgbClr val="142D40"/>
                          </a:solidFill>
                          <a:latin typeface="Malgun Gothic"/>
                          <a:ea typeface="Malgun Gothic"/>
                          <a:cs typeface="Malgun Gothic"/>
                        </a:rPr>
                        <a:t>플랫폼 이하영·앱 이재환·배포 이권욱</a:t>
                      </a:r>
                    </a:p>
                    <a:p>
                      <a:pPr algn="l">
                        <a:buNone/>
                      </a:pPr>
                      <a:r>
                        <a:rPr sz="1575" b="0">
                          <a:solidFill>
                            <a:srgbClr val="142D40"/>
                          </a:solidFill>
                          <a:latin typeface="Malgun Gothic"/>
                          <a:ea typeface="Malgun Gothic"/>
                          <a:cs typeface="Malgun Gothic"/>
                        </a:rPr>
                        <a:t>앱 정상 판정 전 최소 DB 입력 확보</a:t>
                      </a:r>
                    </a:p>
                  </a:txBody>
                  <a:tcPr marL="114300" marR="114300" marT="28575" marB="28575" anchor="ctr">
                    <a:solidFill>
                      <a:srgbClr val="F4F8FA"/>
                    </a:solidFill>
                  </a:tcPr>
                </a:tc>
                <a:tc>
                  <a:txBody>
                    <a:bodyPr wrap="square">
                      <a:noAutofit/>
                    </a:bodyPr>
                    <a:lstStyle/>
                    <a:p>
                      <a:pPr algn="l">
                        <a:buNone/>
                      </a:pPr>
                      <a:r>
                        <a:rPr sz="1575" b="0">
                          <a:solidFill>
                            <a:srgbClr val="142D40"/>
                          </a:solidFill>
                          <a:latin typeface="Malgun Gothic"/>
                          <a:ea typeface="Malgun Gothic"/>
                          <a:cs typeface="Malgun Gothic"/>
                        </a:rPr>
                        <a:t>정상 배포·검사 실패 차단</a:t>
                      </a:r>
                    </a:p>
                    <a:p>
                      <a:pPr algn="l">
                        <a:buNone/>
                      </a:pPr>
                      <a:r>
                        <a:rPr sz="1575" b="0">
                          <a:solidFill>
                            <a:srgbClr val="142D40"/>
                          </a:solidFill>
                          <a:latin typeface="Malgun Gothic"/>
                          <a:ea typeface="Malgun Gothic"/>
                          <a:cs typeface="Malgun Gothic"/>
                        </a:rPr>
                        <a:t>이전 승인 이미지 복구 후 정상 상태</a:t>
                      </a:r>
                    </a:p>
                  </a:txBody>
                  <a:tcPr marL="114300" marR="114300" marT="28575" marB="28575" anchor="ctr">
                    <a:solidFill>
                      <a:srgbClr val="F4F8FA"/>
                    </a:solidFill>
                  </a:tcPr>
                </a:tc>
              </a:tr>
              <a:tr h="655320">
                <a:tc>
                  <a:txBody>
                    <a:bodyPr wrap="square">
                      <a:noAutofit/>
                    </a:bodyPr>
                    <a:lstStyle/>
                    <a:p>
                      <a:pPr algn="l">
                        <a:buNone/>
                      </a:pPr>
                      <a:r>
                        <a:rPr sz="1575" b="0">
                          <a:solidFill>
                            <a:srgbClr val="142D40"/>
                          </a:solidFill>
                          <a:latin typeface="Malgun Gothic"/>
                          <a:ea typeface="Malgun Gothic"/>
                          <a:cs typeface="Malgun Gothic"/>
                        </a:rPr>
                        <a:t>DB 10/21</a:t>
                      </a:r>
                    </a:p>
                    <a:p>
                      <a:pPr algn="l">
                        <a:buNone/>
                      </a:pPr>
                      <a:r>
                        <a:rPr sz="1575" b="0">
                          <a:solidFill>
                            <a:srgbClr val="142D40"/>
                          </a:solidFill>
                          <a:latin typeface="Malgun Gothic"/>
                          <a:ea typeface="Malgun Gothic"/>
                          <a:cs typeface="Malgun Gothic"/>
                        </a:rPr>
                        <a:t>통합 10/22</a:t>
                      </a:r>
                    </a:p>
                  </a:txBody>
                  <a:tcPr marL="114300" marR="114300" marT="28575" marB="28575" anchor="ctr">
                    <a:solidFill>
                      <a:srgbClr val="FFFFFF"/>
                    </a:solidFill>
                  </a:tcPr>
                </a:tc>
                <a:tc>
                  <a:txBody>
                    <a:bodyPr wrap="square">
                      <a:noAutofit/>
                    </a:bodyPr>
                    <a:lstStyle/>
                    <a:p>
                      <a:pPr algn="l">
                        <a:buNone/>
                      </a:pPr>
                      <a:r>
                        <a:rPr sz="1575" b="0">
                          <a:solidFill>
                            <a:srgbClr val="142D40"/>
                          </a:solidFill>
                          <a:latin typeface="Malgun Gothic"/>
                          <a:ea typeface="Malgun Gothic"/>
                          <a:cs typeface="Malgun Gothic"/>
                        </a:rPr>
                        <a:t>이재환 통합 시험, 전원 회귀</a:t>
                      </a:r>
                    </a:p>
                    <a:p>
                      <a:pPr algn="l">
                        <a:buNone/>
                      </a:pPr>
                      <a:r>
                        <a:rPr sz="1575" b="0">
                          <a:solidFill>
                            <a:srgbClr val="142D40"/>
                          </a:solidFill>
                          <a:latin typeface="Malgun Gothic"/>
                          <a:ea typeface="Malgun Gothic"/>
                          <a:cs typeface="Malgun Gothic"/>
                        </a:rPr>
                        <a:t>이권욱 산출물 취합에 인계</a:t>
                      </a:r>
                    </a:p>
                  </a:txBody>
                  <a:tcPr marL="114300" marR="114300" marT="28575" marB="28575" anchor="ctr">
                    <a:solidFill>
                      <a:srgbClr val="FFFFFF"/>
                    </a:solidFill>
                  </a:tcPr>
                </a:tc>
                <a:tc>
                  <a:txBody>
                    <a:bodyPr wrap="square">
                      <a:noAutofit/>
                    </a:bodyPr>
                    <a:lstStyle/>
                    <a:p>
                      <a:pPr algn="l">
                        <a:buNone/>
                      </a:pPr>
                      <a:r>
                        <a:rPr sz="1575" b="0">
                          <a:solidFill>
                            <a:srgbClr val="142D40"/>
                          </a:solidFill>
                          <a:latin typeface="Malgun Gothic"/>
                          <a:ea typeface="Malgun Gothic"/>
                          <a:cs typeface="Malgun Gothic"/>
                        </a:rPr>
                        <a:t>동일 ROSA 정상·규칙·차단</a:t>
                      </a:r>
                    </a:p>
                    <a:p>
                      <a:pPr algn="l">
                        <a:buNone/>
                      </a:pPr>
                      <a:r>
                        <a:rPr sz="1575" b="0">
                          <a:solidFill>
                            <a:srgbClr val="142D40"/>
                          </a:solidFill>
                          <a:latin typeface="Malgun Gothic"/>
                          <a:ea typeface="Malgun Gothic"/>
                          <a:cs typeface="Malgun Gothic"/>
                        </a:rPr>
                        <a:t>장애복구·최종 회귀 기준 충족</a:t>
                      </a:r>
                    </a:p>
                  </a:txBody>
                  <a:tcPr marL="114300" marR="114300" marT="28575" marB="28575" anchor="ctr">
                    <a:solidFill>
                      <a:srgbClr val="FFFFFF"/>
                    </a:solidFill>
                  </a:tcPr>
                </a:tc>
              </a:tr>
              <a:tr h="655320">
                <a:tc>
                  <a:txBody>
                    <a:bodyPr wrap="square">
                      <a:noAutofit/>
                    </a:bodyPr>
                    <a:lstStyle/>
                    <a:p>
                      <a:pPr algn="l">
                        <a:buNone/>
                      </a:pPr>
                      <a:r>
                        <a:rPr sz="1575" b="0">
                          <a:solidFill>
                            <a:srgbClr val="142D40"/>
                          </a:solidFill>
                          <a:latin typeface="Malgun Gothic"/>
                          <a:ea typeface="Malgun Gothic"/>
                          <a:cs typeface="Malgun Gothic"/>
                        </a:rPr>
                        <a:t>10/23~26</a:t>
                      </a:r>
                    </a:p>
                  </a:txBody>
                  <a:tcPr marL="114300" marR="114300" marT="28575" marB="28575" anchor="ctr">
                    <a:solidFill>
                      <a:srgbClr val="F4F8FA"/>
                    </a:solidFill>
                  </a:tcPr>
                </a:tc>
                <a:tc>
                  <a:txBody>
                    <a:bodyPr wrap="square">
                      <a:noAutofit/>
                    </a:bodyPr>
                    <a:lstStyle/>
                    <a:p>
                      <a:pPr algn="l">
                        <a:buNone/>
                      </a:pPr>
                      <a:r>
                        <a:rPr sz="1575" b="0">
                          <a:solidFill>
                            <a:srgbClr val="142D40"/>
                          </a:solidFill>
                          <a:latin typeface="Malgun Gothic"/>
                          <a:ea typeface="Malgun Gothic"/>
                          <a:cs typeface="Malgun Gothic"/>
                        </a:rPr>
                        <a:t>이권욱 취합, 각 담당자</a:t>
                      </a:r>
                    </a:p>
                    <a:p>
                      <a:pPr algn="l">
                        <a:buNone/>
                      </a:pPr>
                      <a:r>
                        <a:rPr sz="1575" b="0">
                          <a:solidFill>
                            <a:srgbClr val="142D40"/>
                          </a:solidFill>
                          <a:latin typeface="Malgun Gothic"/>
                          <a:ea typeface="Malgun Gothic"/>
                          <a:cs typeface="Malgun Gothic"/>
                        </a:rPr>
                        <a:t>원본·비용·삭제 결과 인계</a:t>
                      </a:r>
                    </a:p>
                  </a:txBody>
                  <a:tcPr marL="114300" marR="114300" marT="28575" marB="28575" anchor="ctr">
                    <a:solidFill>
                      <a:srgbClr val="F4F8FA"/>
                    </a:solidFill>
                  </a:tcPr>
                </a:tc>
                <a:tc>
                  <a:txBody>
                    <a:bodyPr wrap="square">
                      <a:noAutofit/>
                    </a:bodyPr>
                    <a:lstStyle/>
                    <a:p>
                      <a:pPr algn="l">
                        <a:buNone/>
                      </a:pPr>
                      <a:r>
                        <a:rPr sz="1575" b="0">
                          <a:solidFill>
                            <a:srgbClr val="142D40"/>
                          </a:solidFill>
                          <a:latin typeface="Malgun Gothic"/>
                          <a:ea typeface="Malgun Gothic"/>
                          <a:cs typeface="Malgun Gothic"/>
                        </a:rPr>
                        <a:t>원본·해시 보존 후 자원 삭제</a:t>
                      </a:r>
                    </a:p>
                    <a:p>
                      <a:pPr algn="l">
                        <a:buNone/>
                      </a:pPr>
                      <a:r>
                        <a:rPr sz="1575" b="0">
                          <a:solidFill>
                            <a:srgbClr val="142D40"/>
                          </a:solidFill>
                          <a:latin typeface="Malgun Gothic"/>
                          <a:ea typeface="Malgun Gothic"/>
                          <a:cs typeface="Malgun Gothic"/>
                        </a:rPr>
                        <a:t>잔여 자원 확인·증적 종결</a:t>
                      </a:r>
                    </a:p>
                  </a:txBody>
                  <a:tcPr marL="114300" marR="114300" marT="28575" marB="28575" anchor="ctr">
                    <a:solidFill>
                      <a:srgbClr val="F4F8FA"/>
                    </a:solidFill>
                  </a:tcPr>
                </a:tc>
              </a:tr>
              <a:tr h="655320">
                <a:tc>
                  <a:txBody>
                    <a:bodyPr wrap="square">
                      <a:noAutofit/>
                    </a:bodyPr>
                    <a:lstStyle/>
                    <a:p>
                      <a:pPr algn="l">
                        <a:buNone/>
                      </a:pPr>
                      <a:r>
                        <a:rPr sz="1575" b="0">
                          <a:solidFill>
                            <a:srgbClr val="142D40"/>
                          </a:solidFill>
                          <a:latin typeface="Malgun Gothic"/>
                          <a:ea typeface="Malgun Gothic"/>
                          <a:cs typeface="Malgun Gothic"/>
                        </a:rPr>
                        <a:t>P1 운영 확장</a:t>
                      </a:r>
                    </a:p>
                    <a:p>
                      <a:pPr algn="l">
                        <a:buNone/>
                      </a:pPr>
                      <a:r>
                        <a:rPr sz="1575" b="0">
                          <a:solidFill>
                            <a:srgbClr val="142D40"/>
                          </a:solidFill>
                          <a:latin typeface="Malgun Gothic"/>
                          <a:ea typeface="Malgun Gothic"/>
                          <a:cs typeface="Malgun Gothic"/>
                        </a:rPr>
                        <a:t>배포 검증 후</a:t>
                      </a:r>
                    </a:p>
                  </a:txBody>
                  <a:tcPr marL="114300" marR="114300" marT="28575" marB="28575" anchor="ctr">
                    <a:solidFill>
                      <a:srgbClr val="FFFFFF"/>
                    </a:solidFill>
                  </a:tcPr>
                </a:tc>
                <a:tc>
                  <a:txBody>
                    <a:bodyPr wrap="square">
                      <a:noAutofit/>
                    </a:bodyPr>
                    <a:lstStyle/>
                    <a:p>
                      <a:pPr algn="l">
                        <a:buNone/>
                      </a:pPr>
                      <a:r>
                        <a:rPr sz="1575" b="0">
                          <a:solidFill>
                            <a:srgbClr val="142D40"/>
                          </a:solidFill>
                          <a:latin typeface="Malgun Gothic"/>
                          <a:ea typeface="Malgun Gothic"/>
                          <a:cs typeface="Malgun Gothic"/>
                        </a:rPr>
                        <a:t>이권욱 이름 조회·설정 기반 배포</a:t>
                      </a:r>
                    </a:p>
                    <a:p>
                      <a:pPr algn="l">
                        <a:buNone/>
                      </a:pPr>
                      <a:r>
                        <a:rPr sz="1575" b="0">
                          <a:solidFill>
                            <a:srgbClr val="142D40"/>
                          </a:solidFill>
                          <a:latin typeface="Malgun Gothic"/>
                          <a:ea typeface="Malgun Gothic"/>
                          <a:cs typeface="Malgun Gothic"/>
                        </a:rPr>
                        <a:t>이하영 백업·운영·보안 점검</a:t>
                      </a:r>
                    </a:p>
                  </a:txBody>
                  <a:tcPr marL="114300" marR="114300" marT="28575" marB="28575" anchor="ctr">
                    <a:solidFill>
                      <a:srgbClr val="FFFFFF"/>
                    </a:solidFill>
                  </a:tcPr>
                </a:tc>
                <a:tc>
                  <a:txBody>
                    <a:bodyPr wrap="square">
                      <a:noAutofit/>
                    </a:bodyPr>
                    <a:lstStyle/>
                    <a:p>
                      <a:pPr algn="l">
                        <a:buNone/>
                      </a:pPr>
                      <a:r>
                        <a:rPr sz="1575" b="0">
                          <a:solidFill>
                            <a:srgbClr val="142D40"/>
                          </a:solidFill>
                          <a:latin typeface="Malgun Gothic"/>
                          <a:ea typeface="Malgun Gothic"/>
                          <a:cs typeface="Malgun Gothic"/>
                        </a:rPr>
                        <a:t>지원·권한·비용·P0 여력 확인</a:t>
                      </a:r>
                    </a:p>
                    <a:p>
                      <a:pPr algn="l">
                        <a:buNone/>
                      </a:pPr>
                      <a:r>
                        <a:rPr sz="1575" b="0">
                          <a:solidFill>
                            <a:srgbClr val="142D40"/>
                          </a:solidFill>
                          <a:latin typeface="Malgun Gothic"/>
                          <a:ea typeface="Malgun Gothic"/>
                          <a:cs typeface="Malgun Gothic"/>
                        </a:rPr>
                        <a:t>미충족 시 유예, AI 플랫폼 유예 우선</a:t>
                      </a:r>
                    </a:p>
                  </a:txBody>
                  <a:tcPr marL="114300" marR="114300" marT="28575" marB="28575" anchor="ctr">
                    <a:solidFill>
                      <a:srgbClr val="FFFFFF"/>
                    </a:solidFill>
                  </a:tcPr>
                </a:tc>
              </a:tr>
            </a:tbl>
          </a:graphicData>
        </a:graphic>
      </p:graphicFrame>
      <p:sp>
        <p:nvSpPr>
          <p:cNvPr id="15" name="작업 인계와 단계별 완료 기준">
            <a:extLst xmlns:a="http://schemas.openxmlformats.org/drawingml/2006/main">
              <a:ext uri="{FF2B5EF4-FFF2-40B4-BE49-F238E27FC236}">
                <a16:creationId xmlns:a16="http://schemas.microsoft.com/office/drawing/2014/main" id="{E4D16189-0B60-4F30-87B8-B379FD9B081B}"/>
              </a:ext>
            </a:extLst>
          </p:cNvPr>
          <p:cNvSpPr>
            <a:spLocks xmlns:a="http://schemas.openxmlformats.org/drawingml/2006/main" noGrp="1"/>
          </p:cNvSpPr>
          <p:nvPr/>
        </p:nvSpPr>
        <p:spPr>
          <a:xfrm xmlns:a="http://schemas.openxmlformats.org/drawingml/2006/main">
            <a:off x="685800" y="40957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D40"/>
                </a:solidFill>
                <a:latin typeface="Malgun Gothic"/>
                <a:ea typeface="Malgun Gothic"/>
                <a:cs typeface="Malgun Gothic"/>
              </a:defRPr>
            </a:pPr>
            <a:r>
              <a:rPr sz="2400" b="1">
                <a:solidFill>
                  <a:srgbClr val="1C242B"/>
                </a:solidFill>
                <a:latin typeface="Malgun Gothic"/>
                <a:ea typeface="Malgun Gothic"/>
                <a:cs typeface="Malgun Gothic"/>
              </a:rPr>
              <a:t>작업 인계와 단계별 완료 기준</a:t>
            </a:r>
          </a:p>
        </p:txBody>
      </p:sp>
      <p:sp>
        <p:nvSpPr>
          <p:cNvPr id="16" name="다음 담당자가 사용할 실제 결과를 인계합니다. 소스 승인·병합과 단계 인수는 구분합니다">
            <a:extLst xmlns:a="http://schemas.openxmlformats.org/drawingml/2006/main">
              <a:ext uri="{FF2B5EF4-FFF2-40B4-BE49-F238E27FC236}">
                <a16:creationId xmlns:a16="http://schemas.microsoft.com/office/drawing/2014/main" id="{7432424C-CF9E-4D22-9EC2-BE4B7538A417}"/>
              </a:ext>
            </a:extLst>
          </p:cNvPr>
          <p:cNvSpPr>
            <a:spLocks xmlns:a="http://schemas.openxmlformats.org/drawingml/2006/main" noGrp="1"/>
          </p:cNvSpPr>
          <p:nvPr/>
        </p:nvSpPr>
        <p:spPr>
          <a:xfrm xmlns:a="http://schemas.openxmlformats.org/drawingml/2006/main">
            <a:off x="685800" y="10763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675"/>
                </a:solidFill>
                <a:latin typeface="Malgun Gothic"/>
                <a:ea typeface="Malgun Gothic"/>
                <a:cs typeface="Malgun Gothic"/>
              </a:defRPr>
            </a:pPr>
            <a:r>
              <a:rPr sz="1400" b="0">
                <a:solidFill>
                  <a:srgbClr val="3D4C57"/>
                </a:solidFill>
                <a:latin typeface="Malgun Gothic"/>
                <a:ea typeface="Malgun Gothic"/>
                <a:cs typeface="Malgun Gothic"/>
              </a:rPr>
              <a:t>다음 담당자가 사용할 실제 결과를 인계합니다. 소스 승인·병합과 단계 인수는 구분합니다</a:t>
            </a:r>
          </a:p>
        </p:txBody>
      </p:sp>
      <p:sp>
        <p:nvSpPr>
          <p:cNvPr id="17" name="부록  08">
            <a:extLst xmlns:a="http://schemas.openxmlformats.org/drawingml/2006/main">
              <a:ext uri="{FF2B5EF4-FFF2-40B4-BE49-F238E27FC236}">
                <a16:creationId xmlns:a16="http://schemas.microsoft.com/office/drawing/2014/main" id="{C1E349AA-77C4-4ECE-86AF-E915ED60EB2F}"/>
              </a:ext>
            </a:extLst>
          </p:cNvPr>
          <p:cNvSpPr>
            <a:spLocks xmlns:a="http://schemas.openxmlformats.org/drawingml/2006/main" noGrp="1"/>
          </p:cNvSpPr>
          <p:nvPr/>
        </p:nvSpPr>
        <p:spPr>
          <a:xfrm xmlns:a="http://schemas.openxmlformats.org/drawingml/2006/main">
            <a:off x="-27432000" y="-27432000"/>
            <a:ext cx="2240280" cy="2377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675"/>
                </a:solidFill>
                <a:latin typeface="Malgun Gothic"/>
                <a:ea typeface="Malgun Gothic"/>
                <a:cs typeface="Malgun Gothic"/>
              </a:defRPr>
            </a:pPr>
            <a:r>
              <a:rPr sz="1200" b="0">
                <a:solidFill>
                  <a:srgbClr val="526675"/>
                </a:solidFill>
                <a:latin typeface="Malgun Gothic"/>
                <a:ea typeface="Malgun Gothic"/>
                <a:cs typeface="Malgun Gothic"/>
              </a:rPr>
              <a:t>부록  08</a:t>
            </a:r>
          </a:p>
        </p:txBody>
      </p:sp>
      <p:sp>
        <p:nvSpPr>
          <p:cNvPr id="18" name="이미지: 업무 프로그램 묶음    Runner: 자동 배포 실행 서버">
            <a:extLst xmlns:a="http://schemas.openxmlformats.org/drawingml/2006/main">
              <a:ext uri="{FF2B5EF4-FFF2-40B4-BE49-F238E27FC236}">
                <a16:creationId xmlns:a16="http://schemas.microsoft.com/office/drawing/2014/main" id="{EDFFE19A-CC1D-48D3-BD14-0A4BCF5379C7}"/>
              </a:ext>
            </a:extLst>
          </p:cNvPr>
          <p:cNvSpPr>
            <a:spLocks xmlns:a="http://schemas.openxmlformats.org/drawingml/2006/main" noGrp="1"/>
          </p:cNvSpPr>
          <p:nvPr/>
        </p:nvSpPr>
        <p:spPr>
          <a:xfrm xmlns:a="http://schemas.openxmlformats.org/drawingml/2006/main">
            <a:off x="685800" y="58769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F6A6C"/>
                </a:solidFill>
                <a:latin typeface="Malgun Gothic"/>
                <a:ea typeface="Malgun Gothic"/>
                <a:cs typeface="Malgun Gothic"/>
              </a:defRPr>
            </a:pPr>
            <a:r>
              <a:rPr sz="1200" b="1">
                <a:solidFill>
                  <a:srgbClr val="3D4C57"/>
                </a:solidFill>
                <a:latin typeface="Malgun Gothic"/>
                <a:ea typeface="Malgun Gothic"/>
                <a:cs typeface="Malgun Gothic"/>
              </a:rPr>
              <a:t>이미지: 업무 프로그램 묶음    Runner: 자동 배포 실행 서버</a:t>
            </a:r>
          </a:p>
        </p:txBody>
      </p:sp>
      <p:sp>
        <p:nvSpPr>
          <p:cNvPr id="19" name="승인 이미지 식별값(Digest)과 실제 실행 이미지를 연결하고, 실제 결과로 인수합니다">
            <a:extLst xmlns:a="http://schemas.openxmlformats.org/drawingml/2006/main">
              <a:ext uri="{FF2B5EF4-FFF2-40B4-BE49-F238E27FC236}">
                <a16:creationId xmlns:a16="http://schemas.microsoft.com/office/drawing/2014/main" id="{57E3E9B1-71A3-4A96-911D-CCCF5269A43B}"/>
              </a:ext>
            </a:extLst>
          </p:cNvPr>
          <p:cNvSpPr>
            <a:spLocks xmlns:a="http://schemas.openxmlformats.org/drawingml/2006/main" noGrp="1"/>
          </p:cNvSpPr>
          <p:nvPr/>
        </p:nvSpPr>
        <p:spPr>
          <a:xfrm xmlns:a="http://schemas.openxmlformats.org/drawingml/2006/main">
            <a:off x="685800" y="6238875"/>
            <a:ext cx="1009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675"/>
                </a:solidFill>
                <a:latin typeface="Malgun Gothic"/>
                <a:ea typeface="Malgun Gothic"/>
                <a:cs typeface="Malgun Gothic"/>
              </a:defRPr>
            </a:pPr>
            <a:r>
              <a:rPr sz="1200" b="0">
                <a:solidFill>
                  <a:srgbClr val="3D4C57"/>
                </a:solidFill>
                <a:latin typeface="Malgun Gothic"/>
                <a:ea typeface="Malgun Gothic"/>
                <a:cs typeface="Malgun Gothic"/>
              </a:rPr>
              <a:t>승인 이미지 식별값(Digest)과 실제 실행 이미지를 연결하고, 실제 결과로 인수합니다</a:t>
            </a:r>
          </a:p>
        </p:txBody>
      </p:sp>
      <p:sp xmlns:a="http://schemas.openxmlformats.org/drawingml/2006/main">
        <p:nvSpPr>
          <p:cNvPr id="21" name="Rectangle 20"/>
          <p:cNvSpPr/>
          <p:nvPr/>
        </p:nvSpPr>
        <p:spPr>
          <a:xfrm>
            <a:off x="0" y="0"/>
            <a:ext cx="12191695" cy="73152"/>
          </a:xfrm>
          <a:prstGeom prst="rect">
            <a:avLst/>
          </a:prstGeom>
          <a:solidFill>
            <a:srgbClr val="14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73152"/>
            <a:ext cx="73152" cy="6784848"/>
          </a:xfrm>
          <a:prstGeom prst="rect">
            <a:avLst/>
          </a:prstGeom>
          <a:solidFill>
            <a:srgbClr val="1F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ounded Rectangle 22"/>
          <p:cNvSpPr/>
          <p:nvPr/>
        </p:nvSpPr>
        <p:spPr>
          <a:xfrm>
            <a:off x="9646920" y="146304"/>
            <a:ext cx="2240280" cy="237744"/>
          </a:xfrm>
          <a:prstGeom prst="roundRect">
            <a:avLst>
              <a:gd name="adj" fmla="val 50000"/>
            </a:avLst>
          </a:prstGeom>
          <a:solidFill>
            <a:srgbClr val="FFFFFF"/>
          </a:solidFill>
          <a:ln w="12700">
            <a:solidFill>
              <a:srgbClr val="1F8A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8A8A"/>
                </a:solidFill>
                <a:latin typeface="Malgun Gothic"/>
                <a:ea typeface="Malgun Gothic"/>
                <a:cs typeface="Malgun Gothic"/>
              </a:rPr>
              <a:t>부록  인계 기준</a:t>
            </a:r>
          </a:p>
        </p:txBody>
      </p:sp>
    </p:spTree>
    <p:extLst>
      <p:ext uri="{BB962C8B-B14F-4D97-AF65-F5344CB8AC3E}">
        <p14:creationId xmlns:p14="http://schemas.microsoft.com/office/powerpoint/2010/main" val="13431091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17" name=""/>
          <p:cNvGraphicFramePr/>
          <p:nvPr/>
        </p:nvGraphicFramePr>
        <p:xfrm>
          <a:off xmlns:a="http://schemas.openxmlformats.org/drawingml/2006/main" x="685800" y="1724025"/>
          <a:ext xmlns:a="http://schemas.openxmlformats.org/drawingml/2006/main" cx="10820400" cy="4314825"/>
        </p:xfrm>
        <a:graphic xmlns:a="http://schemas.openxmlformats.org/drawingml/2006/main">
          <a:graphicData uri="http://schemas.openxmlformats.org/drawingml/2006/table">
            <a:tbl>
              <a:tblPr firstRow="1" bandRow="0"/>
              <a:tblGrid>
                <a:gridCol w="2962275"/>
                <a:gridCol w="3314700"/>
                <a:gridCol w="4543425"/>
              </a:tblGrid>
              <a:tr h="428625">
                <a:tc>
                  <a:txBody>
                    <a:bodyPr wrap="square">
                      <a:noAutofit/>
                    </a:bodyPr>
                    <a:lstStyle/>
                    <a:p>
                      <a:pPr algn="l">
                        <a:buNone/>
                      </a:pPr>
                      <a:r>
                        <a:rPr sz="1477" b="1">
                          <a:solidFill>
                            <a:srgbClr val="FFFFFF"/>
                          </a:solidFill>
                          <a:latin typeface="Malgun Gothic"/>
                          <a:ea typeface="Malgun Gothic"/>
                          <a:cs typeface="Malgun Gothic"/>
                        </a:rPr>
                        <a:t>준비 결과</a:t>
                      </a:r>
                    </a:p>
                  </a:txBody>
                  <a:tcPr marL="114300" marR="114300" marT="9525" marB="9525" anchor="ctr">
                    <a:solidFill>
                      <a:srgbClr val="142D40"/>
                    </a:solidFill>
                  </a:tcPr>
                </a:tc>
                <a:tc>
                  <a:txBody>
                    <a:bodyPr wrap="square">
                      <a:noAutofit/>
                    </a:bodyPr>
                    <a:lstStyle/>
                    <a:p>
                      <a:pPr algn="l">
                        <a:buNone/>
                      </a:pPr>
                      <a:r>
                        <a:rPr sz="1477" b="1">
                          <a:solidFill>
                            <a:srgbClr val="FFFFFF"/>
                          </a:solidFill>
                          <a:latin typeface="Malgun Gothic"/>
                          <a:ea typeface="Malgun Gothic"/>
                          <a:cs typeface="Malgun Gothic"/>
                        </a:rPr>
                        <a:t>확인 범위</a:t>
                      </a:r>
                    </a:p>
                  </a:txBody>
                  <a:tcPr marL="114300" marR="114300" marT="9525" marB="9525" anchor="ctr">
                    <a:solidFill>
                      <a:srgbClr val="142D40"/>
                    </a:solidFill>
                  </a:tcPr>
                </a:tc>
                <a:tc>
                  <a:txBody>
                    <a:bodyPr wrap="square">
                      <a:noAutofit/>
                    </a:bodyPr>
                    <a:lstStyle/>
                    <a:p>
                      <a:pPr algn="l">
                        <a:buNone/>
                      </a:pPr>
                      <a:r>
                        <a:rPr sz="1477" b="1">
                          <a:solidFill>
                            <a:srgbClr val="FFFFFF"/>
                          </a:solidFill>
                          <a:latin typeface="Malgun Gothic"/>
                          <a:ea typeface="Malgun Gothic"/>
                          <a:cs typeface="Malgun Gothic"/>
                        </a:rPr>
                        <a:t>남은 완료 조건</a:t>
                      </a:r>
                    </a:p>
                  </a:txBody>
                  <a:tcPr marL="114300" marR="114300" marT="9525" marB="9525" anchor="ctr">
                    <a:solidFill>
                      <a:srgbClr val="142D40"/>
                    </a:solidFill>
                  </a:tcPr>
                </a:tc>
              </a:tr>
              <a:tr h="485775">
                <a:tc>
                  <a:txBody>
                    <a:bodyPr wrap="square">
                      <a:noAutofit/>
                    </a:bodyPr>
                    <a:lstStyle/>
                    <a:p>
                      <a:pPr algn="l">
                        <a:buNone/>
                      </a:pPr>
                      <a:r>
                        <a:rPr sz="1402" b="0">
                          <a:solidFill>
                            <a:srgbClr val="142D40"/>
                          </a:solidFill>
                          <a:latin typeface="Malgun Gothic"/>
                          <a:ea typeface="Malgun Gothic"/>
                          <a:cs typeface="Malgun Gothic"/>
                        </a:rPr>
                        <a:t>조회 권한·초기 설정</a:t>
                      </a:r>
                    </a:p>
                  </a:txBody>
                  <a:tcPr marL="114300" marR="114300" marT="9525" marB="9525" anchor="ctr">
                    <a:solidFill>
                      <a:srgbClr val="FFFFFF"/>
                    </a:solidFill>
                  </a:tcPr>
                </a:tc>
                <a:tc>
                  <a:txBody>
                    <a:bodyPr wrap="square">
                      <a:noAutofit/>
                    </a:bodyPr>
                    <a:lstStyle/>
                    <a:p>
                      <a:pPr algn="l">
                        <a:buNone/>
                      </a:pPr>
                      <a:r>
                        <a:rPr sz="1402" b="0">
                          <a:solidFill>
                            <a:srgbClr val="142D40"/>
                          </a:solidFill>
                          <a:latin typeface="Malgun Gothic"/>
                          <a:ea typeface="Malgun Gothic"/>
                          <a:cs typeface="Malgun Gothic"/>
                        </a:rPr>
                        <a:t>담당자 실행·화면 확인 보고</a:t>
                      </a:r>
                    </a:p>
                  </a:txBody>
                  <a:tcPr marL="114300" marR="114300" marT="9525" marB="9525" anchor="ctr">
                    <a:solidFill>
                      <a:srgbClr val="FFFFFF"/>
                    </a:solidFill>
                  </a:tcPr>
                </a:tc>
                <a:tc>
                  <a:txBody>
                    <a:bodyPr wrap="square">
                      <a:noAutofit/>
                    </a:bodyPr>
                    <a:lstStyle/>
                    <a:p>
                      <a:pPr algn="l">
                        <a:buNone/>
                      </a:pPr>
                      <a:r>
                        <a:rPr sz="1402" b="0">
                          <a:solidFill>
                            <a:srgbClr val="142D40"/>
                          </a:solidFill>
                          <a:latin typeface="Malgun Gothic"/>
                          <a:ea typeface="Malgun Gothic"/>
                          <a:cs typeface="Malgun Gothic"/>
                        </a:rPr>
                        <a:t>개인 실측 일부·구축 권한·실제 생성</a:t>
                      </a:r>
                    </a:p>
                  </a:txBody>
                  <a:tcPr marL="114300" marR="114300" marT="9525" marB="9525" anchor="ctr">
                    <a:solidFill>
                      <a:srgbClr val="FFFFFF"/>
                    </a:solidFill>
                  </a:tcPr>
                </a:tc>
              </a:tr>
              <a:tr h="485775">
                <a:tc>
                  <a:txBody>
                    <a:bodyPr wrap="square">
                      <a:noAutofit/>
                    </a:bodyPr>
                    <a:lstStyle/>
                    <a:p>
                      <a:pPr algn="l">
                        <a:buNone/>
                      </a:pPr>
                      <a:r>
                        <a:rPr sz="1402" b="0">
                          <a:solidFill>
                            <a:srgbClr val="142D40"/>
                          </a:solidFill>
                          <a:latin typeface="Malgun Gothic"/>
                          <a:ea typeface="Malgun Gothic"/>
                          <a:cs typeface="Malgun Gothic"/>
                        </a:rPr>
                        <a:t>업무 권한 준비</a:t>
                      </a:r>
                    </a:p>
                  </a:txBody>
                  <a:tcPr marL="114300" marR="114300" marT="9525" marB="9525" anchor="ctr">
                    <a:solidFill>
                      <a:srgbClr val="F4F8FA"/>
                    </a:solidFill>
                  </a:tcPr>
                </a:tc>
                <a:tc>
                  <a:txBody>
                    <a:bodyPr wrap="square">
                      <a:noAutofit/>
                    </a:bodyPr>
                    <a:lstStyle/>
                    <a:p>
                      <a:pPr algn="l">
                        <a:buNone/>
                      </a:pPr>
                      <a:r>
                        <a:rPr sz="1402" b="0">
                          <a:solidFill>
                            <a:srgbClr val="142D40"/>
                          </a:solidFill>
                          <a:latin typeface="Malgun Gothic"/>
                          <a:ea typeface="Malgun Gothic"/>
                          <a:cs typeface="Malgun Gothic"/>
                        </a:rPr>
                        <a:t>후보 검사·리뷰·소스 병합</a:t>
                      </a:r>
                    </a:p>
                    <a:p>
                      <a:pPr algn="l">
                        <a:buNone/>
                      </a:pPr>
                      <a:r>
                        <a:rPr sz="1402" b="0">
                          <a:solidFill>
                            <a:srgbClr val="142D40"/>
                          </a:solidFill>
                          <a:latin typeface="Malgun Gothic"/>
                          <a:ea typeface="Malgun Gothic"/>
                          <a:cs typeface="Malgun Gothic"/>
                        </a:rPr>
                        <a:t>비교·대상 확인 사용자 보고</a:t>
                      </a:r>
                    </a:p>
                  </a:txBody>
                  <a:tcPr marL="114300" marR="114300" marT="9525" marB="9525" anchor="ctr">
                    <a:solidFill>
                      <a:srgbClr val="F4F8FA"/>
                    </a:solidFill>
                  </a:tcPr>
                </a:tc>
                <a:tc>
                  <a:txBody>
                    <a:bodyPr wrap="square">
                      <a:noAutofit/>
                    </a:bodyPr>
                    <a:lstStyle/>
                    <a:p>
                      <a:pPr algn="l">
                        <a:buNone/>
                      </a:pPr>
                      <a:r>
                        <a:rPr sz="1402" b="0">
                          <a:solidFill>
                            <a:srgbClr val="142D40"/>
                          </a:solidFill>
                          <a:latin typeface="Malgun Gothic"/>
                          <a:ea typeface="Malgun Gothic"/>
                          <a:cs typeface="Malgun Gothic"/>
                        </a:rPr>
                        <a:t>최종 정책·실제 대상·중앙 적용</a:t>
                      </a:r>
                    </a:p>
                    <a:p>
                      <a:pPr algn="l">
                        <a:buNone/>
                      </a:pPr>
                      <a:r>
                        <a:rPr sz="1402" b="0">
                          <a:solidFill>
                            <a:srgbClr val="142D40"/>
                          </a:solidFill>
                          <a:latin typeface="Malgun Gothic"/>
                          <a:ea typeface="Malgun Gothic"/>
                          <a:cs typeface="Malgun Gothic"/>
                        </a:rPr>
                        <a:t>각 본인 역할 허용/차단·관리 접속</a:t>
                      </a:r>
                    </a:p>
                  </a:txBody>
                  <a:tcPr marL="114300" marR="114300" marT="9525" marB="9525" anchor="ctr">
                    <a:solidFill>
                      <a:srgbClr val="F4F8FA"/>
                    </a:solidFill>
                  </a:tcPr>
                </a:tc>
              </a:tr>
              <a:tr h="485775">
                <a:tc>
                  <a:txBody>
                    <a:bodyPr wrap="square">
                      <a:noAutofit/>
                    </a:bodyPr>
                    <a:lstStyle/>
                    <a:p>
                      <a:pPr algn="l">
                        <a:buNone/>
                      </a:pPr>
                      <a:r>
                        <a:rPr sz="1402" b="0">
                          <a:solidFill>
                            <a:srgbClr val="142D40"/>
                          </a:solidFill>
                          <a:latin typeface="Malgun Gothic"/>
                          <a:ea typeface="Malgun Gothic"/>
                          <a:cs typeface="Malgun Gothic"/>
                        </a:rPr>
                        <a:t>AWS 인프라 골격</a:t>
                      </a:r>
                    </a:p>
                  </a:txBody>
                  <a:tcPr marL="114300" marR="114300" marT="9525" marB="9525" anchor="ctr">
                    <a:solidFill>
                      <a:srgbClr val="FFFFFF"/>
                    </a:solidFill>
                  </a:tcPr>
                </a:tc>
                <a:tc>
                  <a:txBody>
                    <a:bodyPr wrap="square">
                      <a:noAutofit/>
                    </a:bodyPr>
                    <a:lstStyle/>
                    <a:p>
                      <a:pPr algn="l">
                        <a:buNone/>
                      </a:pPr>
                      <a:r>
                        <a:rPr sz="1402" b="0">
                          <a:solidFill>
                            <a:srgbClr val="142D40"/>
                          </a:solidFill>
                          <a:latin typeface="Malgun Gothic"/>
                          <a:ea typeface="Malgun Gothic"/>
                          <a:cs typeface="Malgun Gothic"/>
                        </a:rPr>
                        <a:t>정적 검사·병합, 생성 코드 0개</a:t>
                      </a:r>
                    </a:p>
                  </a:txBody>
                  <a:tcPr marL="114300" marR="114300" marT="9525" marB="9525" anchor="ctr">
                    <a:solidFill>
                      <a:srgbClr val="FFFFFF"/>
                    </a:solidFill>
                  </a:tcPr>
                </a:tc>
                <a:tc>
                  <a:txBody>
                    <a:bodyPr wrap="square">
                      <a:noAutofit/>
                    </a:bodyPr>
                    <a:lstStyle/>
                    <a:p>
                      <a:pPr algn="l">
                        <a:buNone/>
                      </a:pPr>
                      <a:r>
                        <a:rPr sz="1402" b="0">
                          <a:solidFill>
                            <a:srgbClr val="142D40"/>
                          </a:solidFill>
                          <a:latin typeface="Malgun Gothic"/>
                          <a:ea typeface="Malgun Gothic"/>
                          <a:cs typeface="Malgun Gothic"/>
                        </a:rPr>
                        <a:t>상태 저장소·자원 코드·계획·적용</a:t>
                      </a:r>
                    </a:p>
                  </a:txBody>
                  <a:tcPr marL="114300" marR="114300" marT="9525" marB="9525" anchor="ctr">
                    <a:solidFill>
                      <a:srgbClr val="FFFFFF"/>
                    </a:solidFill>
                  </a:tcPr>
                </a:tc>
              </a:tr>
              <a:tr h="485775">
                <a:tc>
                  <a:txBody>
                    <a:bodyPr wrap="square">
                      <a:noAutofit/>
                    </a:bodyPr>
                    <a:lstStyle/>
                    <a:p>
                      <a:pPr algn="l">
                        <a:buNone/>
                      </a:pPr>
                      <a:r>
                        <a:rPr sz="1402" b="0">
                          <a:solidFill>
                            <a:srgbClr val="142D40"/>
                          </a:solidFill>
                          <a:latin typeface="Malgun Gothic"/>
                          <a:ea typeface="Malgun Gothic"/>
                          <a:cs typeface="Malgun Gothic"/>
                        </a:rPr>
                        <a:t>앱 허용 조건 검사 도구</a:t>
                      </a:r>
                    </a:p>
                  </a:txBody>
                  <a:tcPr marL="114300" marR="114300" marT="9525" marB="9525" anchor="ctr">
                    <a:solidFill>
                      <a:srgbClr val="F4F8FA"/>
                    </a:solidFill>
                  </a:tcPr>
                </a:tc>
                <a:tc>
                  <a:txBody>
                    <a:bodyPr wrap="square">
                      <a:noAutofit/>
                    </a:bodyPr>
                    <a:lstStyle/>
                    <a:p>
                      <a:pPr algn="l">
                        <a:buNone/>
                      </a:pPr>
                      <a:r>
                        <a:rPr sz="1402" b="0">
                          <a:solidFill>
                            <a:srgbClr val="142D40"/>
                          </a:solidFill>
                          <a:latin typeface="Malgun Gothic"/>
                          <a:ea typeface="Malgun Gothic"/>
                          <a:cs typeface="Malgun Gothic"/>
                        </a:rPr>
                        <a:t>정적·모의 검사·소스 병합</a:t>
                      </a:r>
                    </a:p>
                  </a:txBody>
                  <a:tcPr marL="114300" marR="114300" marT="9525" marB="9525" anchor="ctr">
                    <a:solidFill>
                      <a:srgbClr val="F4F8FA"/>
                    </a:solidFill>
                  </a:tcPr>
                </a:tc>
                <a:tc>
                  <a:txBody>
                    <a:bodyPr wrap="square">
                      <a:noAutofit/>
                    </a:bodyPr>
                    <a:lstStyle/>
                    <a:p>
                      <a:pPr algn="l">
                        <a:buNone/>
                      </a:pPr>
                      <a:r>
                        <a:rPr sz="1402" b="0">
                          <a:solidFill>
                            <a:srgbClr val="142D40"/>
                          </a:solidFill>
                          <a:latin typeface="Malgun Gothic"/>
                          <a:ea typeface="Malgun Gothic"/>
                          <a:cs typeface="Malgun Gothic"/>
                        </a:rPr>
                        <a:t>실제 허용 검사·앱 기동·정상 상태</a:t>
                      </a:r>
                    </a:p>
                  </a:txBody>
                  <a:tcPr marL="114300" marR="114300" marT="9525" marB="9525" anchor="ctr">
                    <a:solidFill>
                      <a:srgbClr val="F4F8FA"/>
                    </a:solidFill>
                  </a:tcPr>
                </a:tc>
              </a:tr>
              <a:tr h="485775">
                <a:tc>
                  <a:txBody>
                    <a:bodyPr wrap="square">
                      <a:noAutofit/>
                    </a:bodyPr>
                    <a:lstStyle/>
                    <a:p>
                      <a:pPr algn="l">
                        <a:buNone/>
                      </a:pPr>
                      <a:r>
                        <a:rPr sz="1402" b="0">
                          <a:solidFill>
                            <a:srgbClr val="142D40"/>
                          </a:solidFill>
                          <a:latin typeface="Malgun Gothic"/>
                          <a:ea typeface="Malgun Gothic"/>
                          <a:cs typeface="Malgun Gothic"/>
                        </a:rPr>
                        <a:t>업무 앱·자동 배포</a:t>
                      </a:r>
                    </a:p>
                  </a:txBody>
                  <a:tcPr marL="114300" marR="114300" marT="9525" marB="9525" anchor="ctr">
                    <a:solidFill>
                      <a:srgbClr val="FFFFFF"/>
                    </a:solidFill>
                  </a:tcPr>
                </a:tc>
                <a:tc>
                  <a:txBody>
                    <a:bodyPr wrap="square">
                      <a:noAutofit/>
                    </a:bodyPr>
                    <a:lstStyle/>
                    <a:p>
                      <a:pPr algn="l">
                        <a:buNone/>
                      </a:pPr>
                      <a:r>
                        <a:rPr sz="1402" b="0">
                          <a:solidFill>
                            <a:srgbClr val="142D40"/>
                          </a:solidFill>
                          <a:latin typeface="Malgun Gothic"/>
                          <a:ea typeface="Malgun Gothic"/>
                          <a:cs typeface="Malgun Gothic"/>
                        </a:rPr>
                        <a:t>앱 사양·배포/복구/승인/중복방지</a:t>
                      </a:r>
                    </a:p>
                    <a:p>
                      <a:pPr algn="l">
                        <a:buNone/>
                      </a:pPr>
                      <a:r>
                        <a:rPr sz="1402" b="0">
                          <a:solidFill>
                            <a:srgbClr val="142D40"/>
                          </a:solidFill>
                          <a:latin typeface="Malgun Gothic"/>
                          <a:ea typeface="Malgun Gothic"/>
                          <a:cs typeface="Malgun Gothic"/>
                        </a:rPr>
                        <a:t>코드 리뷰·소스 병합</a:t>
                      </a:r>
                    </a:p>
                  </a:txBody>
                  <a:tcPr marL="114300" marR="114300" marT="9525" marB="9525" anchor="ctr">
                    <a:solidFill>
                      <a:srgbClr val="FFFFFF"/>
                    </a:solidFill>
                  </a:tcPr>
                </a:tc>
                <a:tc>
                  <a:txBody>
                    <a:bodyPr wrap="square">
                      <a:noAutofit/>
                    </a:bodyPr>
                    <a:lstStyle/>
                    <a:p>
                      <a:pPr algn="l">
                        <a:buNone/>
                      </a:pPr>
                      <a:r>
                        <a:rPr sz="1402" b="0">
                          <a:solidFill>
                            <a:srgbClr val="142D40"/>
                          </a:solidFill>
                          <a:latin typeface="Malgun Gothic"/>
                          <a:ea typeface="Malgun Gothic"/>
                          <a:cs typeface="Malgun Gothic"/>
                        </a:rPr>
                        <a:t>공통 배포 파일·임의 UID 검증</a:t>
                      </a:r>
                    </a:p>
                    <a:p>
                      <a:pPr algn="l">
                        <a:buNone/>
                      </a:pPr>
                      <a:r>
                        <a:rPr sz="1402" b="0">
                          <a:solidFill>
                            <a:srgbClr val="142D40"/>
                          </a:solidFill>
                          <a:latin typeface="Malgun Gothic"/>
                          <a:ea typeface="Malgun Gothic"/>
                          <a:cs typeface="Malgun Gothic"/>
                        </a:rPr>
                        <a:t>실제 인증·API·배포·차단·복구</a:t>
                      </a:r>
                    </a:p>
                  </a:txBody>
                  <a:tcPr marL="114300" marR="114300" marT="9525" marB="9525" anchor="ctr">
                    <a:solidFill>
                      <a:srgbClr val="FFFFFF"/>
                    </a:solidFill>
                  </a:tcPr>
                </a:tc>
              </a:tr>
              <a:tr h="485775">
                <a:tc>
                  <a:txBody>
                    <a:bodyPr wrap="square">
                      <a:noAutofit/>
                    </a:bodyPr>
                    <a:lstStyle/>
                    <a:p>
                      <a:pPr algn="l">
                        <a:buNone/>
                      </a:pPr>
                      <a:r>
                        <a:rPr sz="1402" b="0">
                          <a:solidFill>
                            <a:srgbClr val="142D40"/>
                          </a:solidFill>
                          <a:latin typeface="Malgun Gothic"/>
                          <a:ea typeface="Malgun Gothic"/>
                          <a:cs typeface="Malgun Gothic"/>
                        </a:rPr>
                        <a:t>VPN·이름 조회</a:t>
                      </a:r>
                    </a:p>
                  </a:txBody>
                  <a:tcPr marL="114300" marR="114300" marT="9525" marB="9525" anchor="ctr">
                    <a:solidFill>
                      <a:srgbClr val="F4F8FA"/>
                    </a:solidFill>
                  </a:tcPr>
                </a:tc>
                <a:tc>
                  <a:txBody>
                    <a:bodyPr wrap="square">
                      <a:noAutofit/>
                    </a:bodyPr>
                    <a:lstStyle/>
                    <a:p>
                      <a:pPr algn="l">
                        <a:buNone/>
                      </a:pPr>
                      <a:r>
                        <a:rPr sz="1402" b="0">
                          <a:solidFill>
                            <a:srgbClr val="142D40"/>
                          </a:solidFill>
                          <a:latin typeface="Malgun Gothic"/>
                          <a:ea typeface="Malgun Gothic"/>
                          <a:cs typeface="Malgun Gothic"/>
                        </a:rPr>
                        <a:t>관문 재부팅·UDP/IKE 사전 관측</a:t>
                      </a:r>
                    </a:p>
                    <a:p>
                      <a:pPr algn="l">
                        <a:buNone/>
                      </a:pPr>
                      <a:r>
                        <a:rPr sz="1402" b="0">
                          <a:solidFill>
                            <a:srgbClr val="142D40"/>
                          </a:solidFill>
                          <a:latin typeface="Malgun Gothic"/>
                          <a:ea typeface="Malgun Gothic"/>
                          <a:cs typeface="Malgun Gothic"/>
                        </a:rPr>
                        <a:t>신규 DNS 접근 미확보</a:t>
                      </a:r>
                    </a:p>
                  </a:txBody>
                  <a:tcPr marL="114300" marR="114300" marT="9525" marB="9525" anchor="ctr">
                    <a:solidFill>
                      <a:srgbClr val="F4F8FA"/>
                    </a:solidFill>
                  </a:tcPr>
                </a:tc>
                <a:tc>
                  <a:txBody>
                    <a:bodyPr wrap="square">
                      <a:noAutofit/>
                    </a:bodyPr>
                    <a:lstStyle/>
                    <a:p>
                      <a:pPr algn="l">
                        <a:buNone/>
                      </a:pPr>
                      <a:r>
                        <a:rPr sz="1402" b="0">
                          <a:solidFill>
                            <a:srgbClr val="142D40"/>
                          </a:solidFill>
                          <a:latin typeface="Malgun Gothic"/>
                          <a:ea typeface="Malgun Gothic"/>
                          <a:cs typeface="Malgun Gothic"/>
                        </a:rPr>
                        <a:t>AWS 실제 터널·지속·관리 접속</a:t>
                      </a:r>
                    </a:p>
                    <a:p>
                      <a:pPr algn="l">
                        <a:buNone/>
                      </a:pPr>
                      <a:r>
                        <a:rPr sz="1402" b="0">
                          <a:solidFill>
                            <a:srgbClr val="142D40"/>
                          </a:solidFill>
                          <a:latin typeface="Malgun Gothic"/>
                          <a:ea typeface="Malgun Gothic"/>
                          <a:cs typeface="Malgun Gothic"/>
                        </a:rPr>
                        <a:t>DNS 실패 원인·경로·복구 확인</a:t>
                      </a:r>
                    </a:p>
                  </a:txBody>
                  <a:tcPr marL="114300" marR="114300" marT="9525" marB="9525" anchor="ctr">
                    <a:solidFill>
                      <a:srgbClr val="F4F8FA"/>
                    </a:solidFill>
                  </a:tcPr>
                </a:tc>
              </a:tr>
              <a:tr h="485775">
                <a:tc>
                  <a:txBody>
                    <a:bodyPr wrap="square">
                      <a:noAutofit/>
                    </a:bodyPr>
                    <a:lstStyle/>
                    <a:p>
                      <a:pPr algn="l">
                        <a:buNone/>
                      </a:pPr>
                      <a:r>
                        <a:rPr sz="1402" b="0">
                          <a:solidFill>
                            <a:srgbClr val="142D40"/>
                          </a:solidFill>
                          <a:latin typeface="Malgun Gothic"/>
                          <a:ea typeface="Malgun Gothic"/>
                          <a:cs typeface="Malgun Gothic"/>
                        </a:rPr>
                        <a:t>배포 이미지 저장소</a:t>
                      </a:r>
                    </a:p>
                  </a:txBody>
                  <a:tcPr marL="114300" marR="114300" marT="9525" marB="9525" anchor="ctr">
                    <a:solidFill>
                      <a:srgbClr val="FFFFFF"/>
                    </a:solidFill>
                  </a:tcPr>
                </a:tc>
                <a:tc>
                  <a:txBody>
                    <a:bodyPr wrap="square">
                      <a:noAutofit/>
                    </a:bodyPr>
                    <a:lstStyle/>
                    <a:p>
                      <a:pPr algn="l">
                        <a:buNone/>
                      </a:pPr>
                      <a:r>
                        <a:rPr sz="1402" b="0">
                          <a:solidFill>
                            <a:srgbClr val="142D40"/>
                          </a:solidFill>
                          <a:latin typeface="Malgun Gothic"/>
                          <a:ea typeface="Malgun Gothic"/>
                          <a:cs typeface="Malgun Gothic"/>
                        </a:rPr>
                        <a:t>인증서·서버 이름 일부 확인 보고</a:t>
                      </a:r>
                    </a:p>
                  </a:txBody>
                  <a:tcPr marL="114300" marR="114300" marT="9525" marB="9525" anchor="ctr">
                    <a:solidFill>
                      <a:srgbClr val="FFFFFF"/>
                    </a:solidFill>
                  </a:tcPr>
                </a:tc>
                <a:tc>
                  <a:txBody>
                    <a:bodyPr wrap="square">
                      <a:noAutofit/>
                    </a:bodyPr>
                    <a:lstStyle/>
                    <a:p>
                      <a:pPr algn="l">
                        <a:buNone/>
                      </a:pPr>
                      <a:r>
                        <a:rPr sz="1402" b="0">
                          <a:solidFill>
                            <a:srgbClr val="142D40"/>
                          </a:solidFill>
                          <a:latin typeface="Malgun Gothic"/>
                          <a:ea typeface="Malgun Gothic"/>
                          <a:cs typeface="Malgun Gothic"/>
                        </a:rPr>
                        <a:t>원본·인증·실제 이미지 수신·최종 선택</a:t>
                      </a:r>
                    </a:p>
                  </a:txBody>
                  <a:tcPr marL="114300" marR="114300" marT="9525" marB="9525" anchor="ctr">
                    <a:solidFill>
                      <a:srgbClr val="FFFFFF"/>
                    </a:solidFill>
                  </a:tcPr>
                </a:tc>
              </a:tr>
              <a:tr h="485775">
                <a:tc>
                  <a:txBody>
                    <a:bodyPr wrap="square">
                      <a:noAutofit/>
                    </a:bodyPr>
                    <a:lstStyle/>
                    <a:p>
                      <a:pPr algn="l">
                        <a:buNone/>
                      </a:pPr>
                      <a:r>
                        <a:rPr sz="1402" b="0">
                          <a:solidFill>
                            <a:srgbClr val="142D40"/>
                          </a:solidFill>
                          <a:latin typeface="Malgun Gothic"/>
                          <a:ea typeface="Malgun Gothic"/>
                          <a:cs typeface="Malgun Gothic"/>
                        </a:rPr>
                        <a:t>전체 설계·비용</a:t>
                      </a:r>
                    </a:p>
                  </a:txBody>
                  <a:tcPr marL="114300" marR="114300" marT="9525" marB="9525" anchor="ctr">
                    <a:solidFill>
                      <a:srgbClr val="F4F8FA"/>
                    </a:solidFill>
                  </a:tcPr>
                </a:tc>
                <a:tc>
                  <a:txBody>
                    <a:bodyPr wrap="square">
                      <a:noAutofit/>
                    </a:bodyPr>
                    <a:lstStyle/>
                    <a:p>
                      <a:pPr algn="l">
                        <a:buNone/>
                      </a:pPr>
                      <a:r>
                        <a:rPr sz="1402" b="0">
                          <a:solidFill>
                            <a:srgbClr val="142D40"/>
                          </a:solidFill>
                          <a:latin typeface="Malgun Gothic"/>
                          <a:ea typeface="Malgun Gothic"/>
                          <a:cs typeface="Malgun Gothic"/>
                        </a:rPr>
                        <a:t>상세 설계 후보·전체 확정 보류</a:t>
                      </a:r>
                    </a:p>
                  </a:txBody>
                  <a:tcPr marL="114300" marR="114300" marT="9525" marB="9525" anchor="ctr">
                    <a:solidFill>
                      <a:srgbClr val="F4F8FA"/>
                    </a:solidFill>
                  </a:tcPr>
                </a:tc>
                <a:tc>
                  <a:txBody>
                    <a:bodyPr wrap="square">
                      <a:noAutofit/>
                    </a:bodyPr>
                    <a:lstStyle/>
                    <a:p>
                      <a:pPr algn="l">
                        <a:buNone/>
                      </a:pPr>
                      <a:r>
                        <a:rPr sz="1402" b="0">
                          <a:solidFill>
                            <a:srgbClr val="142D40"/>
                          </a:solidFill>
                          <a:latin typeface="Malgun Gothic"/>
                          <a:ea typeface="Malgun Gothic"/>
                          <a:cs typeface="Malgun Gothic"/>
                        </a:rPr>
                        <a:t>지원·용량·비용 한도·가동시간·설계 확정</a:t>
                      </a:r>
                    </a:p>
                  </a:txBody>
                  <a:tcPr marL="114300" marR="114300" marT="9525" marB="9525" anchor="ctr">
                    <a:solidFill>
                      <a:srgbClr val="F4F8FA"/>
                    </a:solidFill>
                  </a:tcPr>
                </a:tc>
              </a:tr>
            </a:tbl>
          </a:graphicData>
        </a:graphic>
      </p:graphicFrame>
      <p:sp>
        <p:nvSpPr>
          <p:cNvPr id="13" name="사전 작업의 검증 범위와 잔여">
            <a:extLst xmlns:a="http://schemas.openxmlformats.org/drawingml/2006/main">
              <a:ext uri="{FF2B5EF4-FFF2-40B4-BE49-F238E27FC236}">
                <a16:creationId xmlns:a16="http://schemas.microsoft.com/office/drawing/2014/main" id="{D19B3B70-D5BB-4AE6-AD6B-47F2450BB70C}"/>
              </a:ext>
            </a:extLst>
          </p:cNvPr>
          <p:cNvSpPr>
            <a:spLocks xmlns:a="http://schemas.openxmlformats.org/drawingml/2006/main" noGrp="1"/>
          </p:cNvSpPr>
          <p:nvPr/>
        </p:nvSpPr>
        <p:spPr>
          <a:xfrm xmlns:a="http://schemas.openxmlformats.org/drawingml/2006/main">
            <a:off x="685800" y="40957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42D40"/>
                </a:solidFill>
                <a:latin typeface="Malgun Gothic"/>
                <a:ea typeface="Malgun Gothic"/>
                <a:cs typeface="Malgun Gothic"/>
              </a:defRPr>
            </a:pPr>
            <a:r>
              <a:rPr sz="2400" b="1">
                <a:solidFill>
                  <a:srgbClr val="1C242B"/>
                </a:solidFill>
                <a:latin typeface="Malgun Gothic"/>
                <a:ea typeface="Malgun Gothic"/>
                <a:cs typeface="Malgun Gothic"/>
              </a:rPr>
              <a:t>사전 작업의 검증 범위와 잔여</a:t>
            </a:r>
          </a:p>
        </p:txBody>
      </p:sp>
      <p:sp>
        <p:nvSpPr>
          <p:cNvPr id="14" name="현황 기준 2026.10.06 KST. 정적·모의 검사·소스 병합과 실제 환경 인수를 구분합니다">
            <a:extLst xmlns:a="http://schemas.openxmlformats.org/drawingml/2006/main">
              <a:ext uri="{FF2B5EF4-FFF2-40B4-BE49-F238E27FC236}">
                <a16:creationId xmlns:a16="http://schemas.microsoft.com/office/drawing/2014/main" id="{E076A3C5-9B44-4441-BEC8-02AA65C88A92}"/>
              </a:ext>
            </a:extLst>
          </p:cNvPr>
          <p:cNvSpPr>
            <a:spLocks xmlns:a="http://schemas.openxmlformats.org/drawingml/2006/main" noGrp="1"/>
          </p:cNvSpPr>
          <p:nvPr/>
        </p:nvSpPr>
        <p:spPr>
          <a:xfrm xmlns:a="http://schemas.openxmlformats.org/drawingml/2006/main">
            <a:off x="685800" y="10763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675"/>
                </a:solidFill>
                <a:latin typeface="Malgun Gothic"/>
                <a:ea typeface="Malgun Gothic"/>
                <a:cs typeface="Malgun Gothic"/>
              </a:defRPr>
            </a:pPr>
            <a:r>
              <a:rPr sz="1400" b="0">
                <a:solidFill>
                  <a:srgbClr val="3D4C57"/>
                </a:solidFill>
                <a:latin typeface="Malgun Gothic"/>
                <a:ea typeface="Malgun Gothic"/>
                <a:cs typeface="Malgun Gothic"/>
              </a:rPr>
              <a:t>현황 기준 2026.10.06 KST. 정적·모의 검사·소스 병합과 실제 환경 인수를 구분합니다</a:t>
            </a:r>
          </a:p>
        </p:txBody>
      </p:sp>
      <p:sp>
        <p:nvSpPr>
          <p:cNvPr id="15" name="부록  09">
            <a:extLst xmlns:a="http://schemas.openxmlformats.org/drawingml/2006/main">
              <a:ext uri="{FF2B5EF4-FFF2-40B4-BE49-F238E27FC236}">
                <a16:creationId xmlns:a16="http://schemas.microsoft.com/office/drawing/2014/main" id="{BDF87BE0-2CDA-4B13-B758-9A1930F8C62D}"/>
              </a:ext>
            </a:extLst>
          </p:cNvPr>
          <p:cNvSpPr>
            <a:spLocks xmlns:a="http://schemas.openxmlformats.org/drawingml/2006/main" noGrp="1"/>
          </p:cNvSpPr>
          <p:nvPr/>
        </p:nvSpPr>
        <p:spPr>
          <a:xfrm xmlns:a="http://schemas.openxmlformats.org/drawingml/2006/main">
            <a:off x="-27432000" y="-27432000"/>
            <a:ext cx="2240280" cy="2377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675"/>
                </a:solidFill>
                <a:latin typeface="Malgun Gothic"/>
                <a:ea typeface="Malgun Gothic"/>
                <a:cs typeface="Malgun Gothic"/>
              </a:defRPr>
            </a:pPr>
            <a:r>
              <a:rPr sz="1200" b="0">
                <a:solidFill>
                  <a:srgbClr val="526675"/>
                </a:solidFill>
                <a:latin typeface="Malgun Gothic"/>
                <a:ea typeface="Malgun Gothic"/>
                <a:cs typeface="Malgun Gothic"/>
              </a:rPr>
              <a:t>부록  09</a:t>
            </a:r>
          </a:p>
        </p:txBody>
      </p:sp>
      <p:sp>
        <p:nvSpPr>
          <p:cNvPr id="16" name="임의 UID: 플랫폼이 부여하는 실행 계정. VPN 사전 관측은 실제 AWS 터널 인증·인수와 구분합니다">
            <a:extLst xmlns:a="http://schemas.openxmlformats.org/drawingml/2006/main">
              <a:ext uri="{FF2B5EF4-FFF2-40B4-BE49-F238E27FC236}">
                <a16:creationId xmlns:a16="http://schemas.microsoft.com/office/drawing/2014/main" id="{AC59DE9E-8E34-4989-B318-97B28A454A4A}"/>
              </a:ext>
            </a:extLst>
          </p:cNvPr>
          <p:cNvSpPr>
            <a:spLocks xmlns:a="http://schemas.openxmlformats.org/drawingml/2006/main" noGrp="1"/>
          </p:cNvSpPr>
          <p:nvPr/>
        </p:nvSpPr>
        <p:spPr>
          <a:xfrm xmlns:a="http://schemas.openxmlformats.org/drawingml/2006/main">
            <a:off x="6858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88" b="0">
                <a:solidFill>
                  <a:srgbClr val="526675"/>
                </a:solidFill>
                <a:latin typeface="Malgun Gothic"/>
                <a:ea typeface="Malgun Gothic"/>
                <a:cs typeface="Malgun Gothic"/>
              </a:defRPr>
            </a:pPr>
            <a:r>
              <a:rPr sz="1388" b="0">
                <a:solidFill>
                  <a:srgbClr val="526675"/>
                </a:solidFill>
                <a:latin typeface="Malgun Gothic"/>
                <a:ea typeface="Malgun Gothic"/>
                <a:cs typeface="Malgun Gothic"/>
              </a:rPr>
              <a:t>임의 UID: 플랫폼이 부여하는 실행 계정. VPN 사전 관측은 실제 AWS 터널 인증·인수와 구분합니다</a:t>
            </a:r>
          </a:p>
        </p:txBody>
      </p:sp>
      <p:sp xmlns:a="http://schemas.openxmlformats.org/drawingml/2006/main">
        <p:nvSpPr>
          <p:cNvPr id="18" name="Rectangle 17"/>
          <p:cNvSpPr/>
          <p:nvPr/>
        </p:nvSpPr>
        <p:spPr>
          <a:xfrm>
            <a:off x="0" y="0"/>
            <a:ext cx="12191695" cy="73152"/>
          </a:xfrm>
          <a:prstGeom prst="rect">
            <a:avLst/>
          </a:prstGeom>
          <a:solidFill>
            <a:srgbClr val="14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73152"/>
            <a:ext cx="73152" cy="6784848"/>
          </a:xfrm>
          <a:prstGeom prst="rect">
            <a:avLst/>
          </a:prstGeom>
          <a:solidFill>
            <a:srgbClr val="1F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ounded Rectangle 19"/>
          <p:cNvSpPr/>
          <p:nvPr/>
        </p:nvSpPr>
        <p:spPr>
          <a:xfrm>
            <a:off x="9646920" y="146304"/>
            <a:ext cx="2240280" cy="237744"/>
          </a:xfrm>
          <a:prstGeom prst="roundRect">
            <a:avLst>
              <a:gd name="adj" fmla="val 50000"/>
            </a:avLst>
          </a:prstGeom>
          <a:solidFill>
            <a:srgbClr val="FFFFFF"/>
          </a:solidFill>
          <a:ln w="12700">
            <a:solidFill>
              <a:srgbClr val="1F8A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8A8A"/>
                </a:solidFill>
                <a:latin typeface="Malgun Gothic"/>
                <a:ea typeface="Malgun Gothic"/>
                <a:cs typeface="Malgun Gothic"/>
              </a:rPr>
              <a:t>부록  검증 범위</a:t>
            </a:r>
          </a:p>
        </p:txBody>
      </p:sp>
    </p:spTree>
    <p:extLst>
      <p:ext uri="{BB962C8B-B14F-4D97-AF65-F5344CB8AC3E}">
        <p14:creationId xmlns:p14="http://schemas.microsoft.com/office/powerpoint/2010/main" val="16002472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9" name=""/>
          <p:cNvPicPr>
            <a:picLocks xmlns:a="http://schemas.openxmlformats.org/drawingml/2006/main" noChangeAspect="1"/>
          </p:cNvPicPr>
          <p:nvPr/>
        </p:nvPicPr>
        <p:blipFill>
          <a:blip xmlns:r="http://schemas.openxmlformats.org/officeDocument/2006/relationships" xmlns:a="http://schemas.openxmlformats.org/drawingml/2006/main" r:embed="Ra0185a52dad34260"/>
          <a:stretch xmlns:a="http://schemas.openxmlformats.org/drawingml/2006/main"/>
        </p:blipFill>
        <p:spPr>
          <a:xfrm xmlns:a="http://schemas.openxmlformats.org/drawingml/2006/main">
            <a:off x="6200775" y="1819275"/>
            <a:ext cx="314325" cy="314325"/>
          </a:xfrm>
          <a:prstGeom xmlns:a="http://schemas.openxmlformats.org/drawingml/2006/main" prst="rect">
            <a:avLst/>
          </a:prstGeom>
        </p:spPr>
      </p:pic>
      <p:pic>
        <p:nvPicPr>
          <p:cNvPr id="210" name=""/>
          <p:cNvPicPr>
            <a:picLocks xmlns:a="http://schemas.openxmlformats.org/drawingml/2006/main" noChangeAspect="1"/>
          </p:cNvPicPr>
          <p:nvPr/>
        </p:nvPicPr>
        <p:blipFill>
          <a:blip xmlns:r="http://schemas.openxmlformats.org/officeDocument/2006/relationships" xmlns:a="http://schemas.openxmlformats.org/drawingml/2006/main" r:embed="Ra52bd33a6d5947b3"/>
          <a:stretch xmlns:a="http://schemas.openxmlformats.org/drawingml/2006/main"/>
        </p:blipFill>
        <p:spPr>
          <a:xfrm xmlns:a="http://schemas.openxmlformats.org/drawingml/2006/main">
            <a:off x="8372475" y="3114675"/>
            <a:ext cx="333375" cy="333375"/>
          </a:xfrm>
          <a:prstGeom xmlns:a="http://schemas.openxmlformats.org/drawingml/2006/main" prst="rect">
            <a:avLst/>
          </a:prstGeom>
        </p:spPr>
      </p:pic>
      <p:pic>
        <p:nvPicPr>
          <p:cNvPr id="211" name=""/>
          <p:cNvPicPr>
            <a:picLocks xmlns:a="http://schemas.openxmlformats.org/drawingml/2006/main" noChangeAspect="1"/>
          </p:cNvPicPr>
          <p:nvPr/>
        </p:nvPicPr>
        <p:blipFill>
          <a:blip xmlns:r="http://schemas.openxmlformats.org/officeDocument/2006/relationships" xmlns:a="http://schemas.openxmlformats.org/drawingml/2006/main" r:embed="R51e9117e95d84246"/>
          <a:stretch xmlns:a="http://schemas.openxmlformats.org/drawingml/2006/main"/>
        </p:blipFill>
        <p:spPr>
          <a:xfrm xmlns:a="http://schemas.openxmlformats.org/drawingml/2006/main">
            <a:off x="1019175" y="3648075"/>
            <a:ext cx="304800" cy="304800"/>
          </a:xfrm>
          <a:prstGeom xmlns:a="http://schemas.openxmlformats.org/drawingml/2006/main" prst="rect">
            <a:avLst/>
          </a:prstGeom>
        </p:spPr>
      </p:pic>
      <p:pic>
        <p:nvPicPr>
          <p:cNvPr id="212" name=""/>
          <p:cNvPicPr>
            <a:picLocks xmlns:a="http://schemas.openxmlformats.org/drawingml/2006/main" noChangeAspect="1"/>
          </p:cNvPicPr>
          <p:nvPr/>
        </p:nvPicPr>
        <p:blipFill>
          <a:blip xmlns:r="http://schemas.openxmlformats.org/officeDocument/2006/relationships" xmlns:a="http://schemas.openxmlformats.org/drawingml/2006/main" r:embed="R2f60131ecd4d47fe"/>
          <a:stretch xmlns:a="http://schemas.openxmlformats.org/drawingml/2006/main"/>
        </p:blipFill>
        <p:spPr>
          <a:xfrm xmlns:a="http://schemas.openxmlformats.org/drawingml/2006/main">
            <a:off x="6334125" y="3724275"/>
            <a:ext cx="371475" cy="371475"/>
          </a:xfrm>
          <a:prstGeom xmlns:a="http://schemas.openxmlformats.org/drawingml/2006/main" prst="rect">
            <a:avLst/>
          </a:prstGeom>
        </p:spPr>
      </p:pic>
      <p:sp>
        <p:nvSpPr>
          <p:cNvPr id="132" name="전체 아키텍처 ① 업무·연결">
            <a:extLst xmlns:a="http://schemas.openxmlformats.org/drawingml/2006/main">
              <a:ext uri="{FF2B5EF4-FFF2-40B4-BE49-F238E27FC236}">
                <a16:creationId xmlns:a16="http://schemas.microsoft.com/office/drawing/2014/main" id="{4A8D6ACF-D929-49B0-AEC8-A15B00D26988}"/>
              </a:ext>
            </a:extLst>
          </p:cNvPr>
          <p:cNvSpPr>
            <a:spLocks xmlns:a="http://schemas.openxmlformats.org/drawingml/2006/main" noGrp="1"/>
          </p:cNvSpPr>
          <p:nvPr/>
        </p:nvSpPr>
        <p:spPr>
          <a:xfrm xmlns:a="http://schemas.openxmlformats.org/drawingml/2006/main">
            <a:off x="685800" y="40957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1">
                <a:solidFill>
                  <a:srgbClr val="142D40"/>
                </a:solidFill>
                <a:latin typeface="Malgun Gothic"/>
                <a:ea typeface="Malgun Gothic"/>
                <a:cs typeface="Malgun Gothic"/>
              </a:defRPr>
            </a:pPr>
            <a:r>
              <a:rPr sz="2400" b="1">
                <a:solidFill>
                  <a:srgbClr val="1C242B"/>
                </a:solidFill>
                <a:latin typeface="Malgun Gothic"/>
                <a:ea typeface="Malgun Gothic"/>
                <a:cs typeface="Malgun Gothic"/>
              </a:rPr>
              <a:t>전체 아키텍처 ① 업무·연결</a:t>
            </a:r>
          </a:p>
        </p:txBody>
      </p:sp>
      <p:sp>
        <p:nvSpPr>
          <p:cNvPr id="133" name="P0 필수 경로: 클라우드 거래 처리와 기존 데이터베이스를 암호화 연결합니다">
            <a:extLst xmlns:a="http://schemas.openxmlformats.org/drawingml/2006/main">
              <a:ext uri="{FF2B5EF4-FFF2-40B4-BE49-F238E27FC236}">
                <a16:creationId xmlns:a16="http://schemas.microsoft.com/office/drawing/2014/main" id="{83AEE6A6-9F67-42F9-BEFB-B774082B4251}"/>
              </a:ext>
            </a:extLst>
          </p:cNvPr>
          <p:cNvSpPr>
            <a:spLocks xmlns:a="http://schemas.openxmlformats.org/drawingml/2006/main" noGrp="1"/>
          </p:cNvSpPr>
          <p:nvPr/>
        </p:nvSpPr>
        <p:spPr>
          <a:xfrm xmlns:a="http://schemas.openxmlformats.org/drawingml/2006/main">
            <a:off x="685800" y="10763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26675"/>
                </a:solidFill>
                <a:latin typeface="Malgun Gothic"/>
                <a:ea typeface="Malgun Gothic"/>
                <a:cs typeface="Malgun Gothic"/>
              </a:defRPr>
            </a:pPr>
            <a:r>
              <a:rPr sz="1400" b="0">
                <a:solidFill>
                  <a:srgbClr val="3D4C57"/>
                </a:solidFill>
                <a:latin typeface="Malgun Gothic"/>
                <a:ea typeface="Malgun Gothic"/>
                <a:cs typeface="Malgun Gothic"/>
              </a:rPr>
              <a:t>P0 필수 경로: 클라우드 거래 처리와 기존 데이터베이스를 암호화 연결합니다</a:t>
            </a:r>
          </a:p>
        </p:txBody>
      </p:sp>
      <p:sp>
        <p:nvSpPr>
          <p:cNvPr id="134" name="부록  10">
            <a:extLst xmlns:a="http://schemas.openxmlformats.org/drawingml/2006/main">
              <a:ext uri="{FF2B5EF4-FFF2-40B4-BE49-F238E27FC236}">
                <a16:creationId xmlns:a16="http://schemas.microsoft.com/office/drawing/2014/main" id="{00327CD5-54C6-4A8B-AD4A-C0BDA15D5A86}"/>
              </a:ext>
            </a:extLst>
          </p:cNvPr>
          <p:cNvSpPr>
            <a:spLocks xmlns:a="http://schemas.openxmlformats.org/drawingml/2006/main" noGrp="1"/>
          </p:cNvSpPr>
          <p:nvPr/>
        </p:nvSpPr>
        <p:spPr>
          <a:xfrm xmlns:a="http://schemas.openxmlformats.org/drawingml/2006/main">
            <a:off x="-27432000" y="-27432000"/>
            <a:ext cx="2240280" cy="2377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26675"/>
                </a:solidFill>
                <a:latin typeface="Malgun Gothic"/>
                <a:ea typeface="Malgun Gothic"/>
                <a:cs typeface="Malgun Gothic"/>
              </a:defRPr>
            </a:pPr>
            <a:r>
              <a:rPr sz="1200" b="0">
                <a:solidFill>
                  <a:srgbClr val="526675"/>
                </a:solidFill>
                <a:latin typeface="Malgun Gothic"/>
                <a:ea typeface="Malgun Gothic"/>
                <a:cs typeface="Malgun Gothic"/>
              </a:rPr>
              <a:t>부록  10</a:t>
            </a:r>
          </a:p>
        </p:txBody>
      </p:sp>
      <p:sp>
        <p:nvSpPr>
          <p:cNvPr id="135" name="">
            <a:extLst xmlns:a="http://schemas.openxmlformats.org/drawingml/2006/main">
              <a:ext uri="{FF2B5EF4-FFF2-40B4-BE49-F238E27FC236}">
                <a16:creationId xmlns:a16="http://schemas.microsoft.com/office/drawing/2014/main" id="{0D6F6C58-7CD8-4627-85F9-3F4E70307E55}"/>
              </a:ext>
            </a:extLst>
          </p:cNvPr>
          <p:cNvSpPr>
            <a:spLocks xmlns:a="http://schemas.openxmlformats.org/drawingml/2006/main" noGrp="1"/>
          </p:cNvSpPr>
          <p:nvPr/>
        </p:nvSpPr>
        <p:spPr>
          <a:xfrm xmlns:a="http://schemas.openxmlformats.org/drawingml/2006/main">
            <a:off x="685800" y="2333625"/>
            <a:ext cx="3248025" cy="3228975"/>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36" name="">
            <a:extLst xmlns:a="http://schemas.openxmlformats.org/drawingml/2006/main">
              <a:ext uri="{FF2B5EF4-FFF2-40B4-BE49-F238E27FC236}">
                <a16:creationId xmlns:a16="http://schemas.microsoft.com/office/drawing/2014/main" id="{6EF0154E-3FE3-4A0D-8EBC-2A2F26419A3E}"/>
              </a:ext>
            </a:extLst>
          </p:cNvPr>
          <p:cNvSpPr>
            <a:spLocks xmlns:a="http://schemas.openxmlformats.org/drawingml/2006/main" noGrp="1"/>
          </p:cNvSpPr>
          <p:nvPr/>
        </p:nvSpPr>
        <p:spPr>
          <a:xfrm xmlns:a="http://schemas.openxmlformats.org/drawingml/2006/main">
            <a:off x="6000750" y="2333625"/>
            <a:ext cx="5505450" cy="3228975"/>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37" name="기존 서버 환경">
            <a:extLst xmlns:a="http://schemas.openxmlformats.org/drawingml/2006/main">
              <a:ext uri="{FF2B5EF4-FFF2-40B4-BE49-F238E27FC236}">
                <a16:creationId xmlns:a16="http://schemas.microsoft.com/office/drawing/2014/main" id="{F42638BA-B861-4737-ADF3-3B610256F74E}"/>
              </a:ext>
            </a:extLst>
          </p:cNvPr>
          <p:cNvSpPr>
            <a:spLocks xmlns:a="http://schemas.openxmlformats.org/drawingml/2006/main" noGrp="1"/>
          </p:cNvSpPr>
          <p:nvPr/>
        </p:nvSpPr>
        <p:spPr>
          <a:xfrm xmlns:a="http://schemas.openxmlformats.org/drawingml/2006/main">
            <a:off x="876300" y="2466975"/>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기존 서버 환경</a:t>
            </a:r>
          </a:p>
        </p:txBody>
      </p:sp>
      <p:sp>
        <p:nvSpPr>
          <p:cNvPr id="138" name="AWS 서울  P0">
            <a:extLst xmlns:a="http://schemas.openxmlformats.org/drawingml/2006/main">
              <a:ext uri="{FF2B5EF4-FFF2-40B4-BE49-F238E27FC236}">
                <a16:creationId xmlns:a16="http://schemas.microsoft.com/office/drawing/2014/main" id="{1E3BCEBA-28EF-4D1F-845D-72D1D2196D02}"/>
              </a:ext>
            </a:extLst>
          </p:cNvPr>
          <p:cNvSpPr>
            <a:spLocks xmlns:a="http://schemas.openxmlformats.org/drawingml/2006/main" noGrp="1"/>
          </p:cNvSpPr>
          <p:nvPr/>
        </p:nvSpPr>
        <p:spPr>
          <a:xfrm xmlns:a="http://schemas.openxmlformats.org/drawingml/2006/main">
            <a:off x="6219825" y="2466975"/>
            <a:ext cx="348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D40"/>
                </a:solidFill>
                <a:latin typeface="Malgun Gothic"/>
                <a:ea typeface="Malgun Gothic"/>
                <a:cs typeface="Malgun Gothic"/>
              </a:defRPr>
            </a:pPr>
            <a:r>
              <a:rPr sz="2100" b="1">
                <a:solidFill>
                  <a:srgbClr val="142D40"/>
                </a:solidFill>
                <a:latin typeface="Malgun Gothic"/>
                <a:ea typeface="Malgun Gothic"/>
                <a:cs typeface="Malgun Gothic"/>
              </a:rPr>
              <a:t>AWS 서울  P0</a:t>
            </a:r>
          </a:p>
        </p:txBody>
      </p:sp>
      <p:sp>
        <p:nvSpPr>
          <p:cNvPr id="139" name="">
            <a:extLst xmlns:a="http://schemas.openxmlformats.org/drawingml/2006/main">
              <a:ext uri="{FF2B5EF4-FFF2-40B4-BE49-F238E27FC236}">
                <a16:creationId xmlns:a16="http://schemas.microsoft.com/office/drawing/2014/main" id="{CDFB0DBD-D843-43C8-B4BA-750893D3F1B7}"/>
              </a:ext>
            </a:extLst>
          </p:cNvPr>
          <p:cNvSpPr>
            <a:spLocks xmlns:a="http://schemas.openxmlformats.org/drawingml/2006/main" noGrp="1"/>
          </p:cNvSpPr>
          <p:nvPr/>
        </p:nvSpPr>
        <p:spPr>
          <a:xfrm xmlns:a="http://schemas.openxmlformats.org/drawingml/2006/main">
            <a:off x="8610600" y="1685925"/>
            <a:ext cx="2390775" cy="504825"/>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40" name="승인된 업무 사용자">
            <a:extLst xmlns:a="http://schemas.openxmlformats.org/drawingml/2006/main">
              <a:ext uri="{FF2B5EF4-FFF2-40B4-BE49-F238E27FC236}">
                <a16:creationId xmlns:a16="http://schemas.microsoft.com/office/drawing/2014/main" id="{E015CD52-5F35-4D89-8705-98CC1BBA281E}"/>
              </a:ext>
            </a:extLst>
          </p:cNvPr>
          <p:cNvSpPr>
            <a:spLocks xmlns:a="http://schemas.openxmlformats.org/drawingml/2006/main" noGrp="1"/>
          </p:cNvSpPr>
          <p:nvPr/>
        </p:nvSpPr>
        <p:spPr>
          <a:xfrm xmlns:a="http://schemas.openxmlformats.org/drawingml/2006/main">
            <a:off x="8743950" y="1800225"/>
            <a:ext cx="2124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승인된 업무 사용자</a:t>
            </a:r>
          </a:p>
        </p:txBody>
      </p:sp>
      <p:sp>
        <p:nvSpPr>
          <p:cNvPr id="141" name="">
            <a:extLst xmlns:a="http://schemas.openxmlformats.org/drawingml/2006/main">
              <a:ext uri="{FF2B5EF4-FFF2-40B4-BE49-F238E27FC236}">
                <a16:creationId xmlns:a16="http://schemas.microsoft.com/office/drawing/2014/main" id="{3A7F2D2D-0119-4DD6-AFD9-1826F5CFDA6E}"/>
              </a:ext>
            </a:extLst>
          </p:cNvPr>
          <p:cNvSpPr>
            <a:spLocks xmlns:a="http://schemas.openxmlformats.org/drawingml/2006/main" noGrp="1"/>
          </p:cNvSpPr>
          <p:nvPr/>
        </p:nvSpPr>
        <p:spPr>
          <a:xfrm xmlns:a="http://schemas.openxmlformats.org/drawingml/2006/main">
            <a:off x="895350" y="3543300"/>
            <a:ext cx="1609725" cy="790575"/>
          </a:xfrm>
          <a:prstGeom xmlns:a="http://schemas.openxmlformats.org/drawingml/2006/main" prst="rect">
            <a:avLst/>
          </a:prstGeom>
          <a:noFill xmlns:a="http://schemas.openxmlformats.org/drawingml/2006/main"/>
          <a:ln xmlns:a="http://schemas.openxmlformats.org/drawingml/2006/main" w="14288">
            <a:solidFill>
              <a:srgbClr val="0F6A6C"/>
            </a:solidFill>
            <a:prstDash val="solid"/>
          </a:ln>
        </p:spPr>
        <p:txBody xmlns:a="http://schemas.openxmlformats.org/drawingml/2006/main">
          <a:bodyPr/>
          <a:p/>
        </p:txBody>
      </p:sp>
      <p:sp>
        <p:nvSpPr>
          <p:cNvPr id="142" name="PostgreSQL">
            <a:extLst xmlns:a="http://schemas.openxmlformats.org/drawingml/2006/main">
              <a:ext uri="{FF2B5EF4-FFF2-40B4-BE49-F238E27FC236}">
                <a16:creationId xmlns:a16="http://schemas.microsoft.com/office/drawing/2014/main" id="{DFFBBC3A-5F41-48E3-B4B0-EAAA61126110}"/>
              </a:ext>
            </a:extLst>
          </p:cNvPr>
          <p:cNvSpPr>
            <a:spLocks xmlns:a="http://schemas.openxmlformats.org/drawingml/2006/main" noGrp="1"/>
          </p:cNvSpPr>
          <p:nvPr/>
        </p:nvSpPr>
        <p:spPr>
          <a:xfrm xmlns:a="http://schemas.openxmlformats.org/drawingml/2006/main">
            <a:off x="1409700" y="3638550"/>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142D40"/>
                </a:solidFill>
                <a:latin typeface="Malgun Gothic"/>
                <a:ea typeface="Malgun Gothic"/>
                <a:cs typeface="Malgun Gothic"/>
              </a:defRPr>
            </a:pPr>
            <a:r>
              <a:rPr sz="1100" b="1">
                <a:solidFill>
                  <a:srgbClr val="3D4C57"/>
                </a:solidFill>
                <a:latin typeface="Malgun Gothic"/>
                <a:ea typeface="Malgun Gothic"/>
                <a:cs typeface="Malgun Gothic"/>
              </a:rPr>
              <a:t>PostgreSQL</a:t>
            </a:r>
          </a:p>
        </p:txBody>
      </p:sp>
      <p:sp>
        <p:nvSpPr>
          <p:cNvPr id="143" name="거래·결과 기록">
            <a:extLst xmlns:a="http://schemas.openxmlformats.org/drawingml/2006/main">
              <a:ext uri="{FF2B5EF4-FFF2-40B4-BE49-F238E27FC236}">
                <a16:creationId xmlns:a16="http://schemas.microsoft.com/office/drawing/2014/main" id="{25E1806A-5A34-4E79-B7F5-28F8EDB4E8C3}"/>
              </a:ext>
            </a:extLst>
          </p:cNvPr>
          <p:cNvSpPr>
            <a:spLocks xmlns:a="http://schemas.openxmlformats.org/drawingml/2006/main" noGrp="1"/>
          </p:cNvSpPr>
          <p:nvPr/>
        </p:nvSpPr>
        <p:spPr>
          <a:xfrm xmlns:a="http://schemas.openxmlformats.org/drawingml/2006/main">
            <a:off x="1009650" y="4038600"/>
            <a:ext cx="1390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거래·결과 기록</a:t>
            </a:r>
          </a:p>
        </p:txBody>
      </p:sp>
      <p:sp>
        <p:nvSpPr>
          <p:cNvPr id="144" name="">
            <a:extLst xmlns:a="http://schemas.openxmlformats.org/drawingml/2006/main">
              <a:ext uri="{FF2B5EF4-FFF2-40B4-BE49-F238E27FC236}">
                <a16:creationId xmlns:a16="http://schemas.microsoft.com/office/drawing/2014/main" id="{B9DB4288-F435-4999-BA30-F94A20CFCD09}"/>
              </a:ext>
            </a:extLst>
          </p:cNvPr>
          <p:cNvSpPr>
            <a:spLocks xmlns:a="http://schemas.openxmlformats.org/drawingml/2006/main" noGrp="1"/>
          </p:cNvSpPr>
          <p:nvPr/>
        </p:nvSpPr>
        <p:spPr>
          <a:xfrm xmlns:a="http://schemas.openxmlformats.org/drawingml/2006/main">
            <a:off x="2828925" y="3543300"/>
            <a:ext cx="876300" cy="790575"/>
          </a:xfrm>
          <a:prstGeom xmlns:a="http://schemas.openxmlformats.org/drawingml/2006/main" prst="rect">
            <a:avLst/>
          </a:prstGeom>
          <a:noFill xmlns:a="http://schemas.openxmlformats.org/drawingml/2006/main"/>
          <a:ln xmlns:a="http://schemas.openxmlformats.org/drawingml/2006/main" w="14288">
            <a:solidFill>
              <a:srgbClr val="0F6A6C"/>
            </a:solidFill>
            <a:prstDash val="solid"/>
          </a:ln>
        </p:spPr>
        <p:txBody xmlns:a="http://schemas.openxmlformats.org/drawingml/2006/main">
          <a:bodyPr/>
          <a:p/>
        </p:txBody>
      </p:sp>
      <p:sp>
        <p:nvSpPr>
          <p:cNvPr id="145" name="VPN">
            <a:extLst xmlns:a="http://schemas.openxmlformats.org/drawingml/2006/main">
              <a:ext uri="{FF2B5EF4-FFF2-40B4-BE49-F238E27FC236}">
                <a16:creationId xmlns:a16="http://schemas.microsoft.com/office/drawing/2014/main" id="{4A9D5906-339A-4253-A0CE-2831EE73A354}"/>
              </a:ext>
            </a:extLst>
          </p:cNvPr>
          <p:cNvSpPr>
            <a:spLocks xmlns:a="http://schemas.openxmlformats.org/drawingml/2006/main" noGrp="1"/>
          </p:cNvSpPr>
          <p:nvPr/>
        </p:nvSpPr>
        <p:spPr>
          <a:xfrm xmlns:a="http://schemas.openxmlformats.org/drawingml/2006/main">
            <a:off x="2933700" y="3705225"/>
            <a:ext cx="666750" cy="662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142D40"/>
                </a:solidFill>
                <a:latin typeface="Malgun Gothic"/>
                <a:ea typeface="Malgun Gothic"/>
                <a:cs typeface="Malgun Gothic"/>
              </a:defRPr>
            </a:pPr>
            <a:r>
              <a:rPr sz="1200" b="1">
                <a:solidFill>
                  <a:srgbClr val="1C242B"/>
                </a:solidFill>
                <a:latin typeface="Malgun Gothic"/>
                <a:ea typeface="Malgun Gothic"/>
                <a:cs typeface="Malgun Gothic"/>
              </a:rPr>
              <a:t>VPN</a:t>
            </a:r>
          </a:p>
          <a:p xmlns:a="http://schemas.openxmlformats.org/drawingml/2006/main">
            <a:pPr algn="ctr">
              <a:buNone/>
              <a:defRPr sz="1650" b="1">
                <a:solidFill>
                  <a:srgbClr val="142D40"/>
                </a:solidFill>
                <a:latin typeface="Malgun Gothic"/>
                <a:ea typeface="Malgun Gothic"/>
                <a:cs typeface="Malgun Gothic"/>
              </a:defRPr>
            </a:pPr>
            <a:r>
              <a:rPr sz="1200" b="1">
                <a:solidFill>
                  <a:srgbClr val="1C242B"/>
                </a:solidFill>
                <a:latin typeface="Malgun Gothic"/>
                <a:ea typeface="Malgun Gothic"/>
                <a:cs typeface="Malgun Gothic"/>
              </a:rPr>
              <a:t>관문</a:t>
            </a:r>
          </a:p>
        </p:txBody>
      </p:sp>
      <p:sp>
        <p:nvSpPr>
          <p:cNvPr id="146" name="">
            <a:extLst xmlns:a="http://schemas.openxmlformats.org/drawingml/2006/main">
              <a:ext uri="{FF2B5EF4-FFF2-40B4-BE49-F238E27FC236}">
                <a16:creationId xmlns:a16="http://schemas.microsoft.com/office/drawing/2014/main" id="{2CD768B6-AAAC-4E09-B966-6CBF8CC61E98}"/>
              </a:ext>
            </a:extLst>
          </p:cNvPr>
          <p:cNvSpPr>
            <a:spLocks xmlns:a="http://schemas.openxmlformats.org/drawingml/2006/main" noGrp="1"/>
          </p:cNvSpPr>
          <p:nvPr/>
        </p:nvSpPr>
        <p:spPr>
          <a:xfrm xmlns:a="http://schemas.openxmlformats.org/drawingml/2006/main">
            <a:off x="6210300" y="3543300"/>
            <a:ext cx="1724025" cy="790575"/>
          </a:xfrm>
          <a:prstGeom xmlns:a="http://schemas.openxmlformats.org/drawingml/2006/main" prst="rect">
            <a:avLst/>
          </a:prstGeom>
          <a:noFill xmlns:a="http://schemas.openxmlformats.org/drawingml/2006/main"/>
          <a:ln xmlns:a="http://schemas.openxmlformats.org/drawingml/2006/main" w="14288">
            <a:solidFill>
              <a:srgbClr val="0F6A6C"/>
            </a:solidFill>
            <a:prstDash val="solid"/>
          </a:ln>
        </p:spPr>
        <p:txBody xmlns:a="http://schemas.openxmlformats.org/drawingml/2006/main">
          <a:bodyPr/>
          <a:p/>
        </p:txBody>
      </p:sp>
      <p:sp>
        <p:nvSpPr>
          <p:cNvPr id="147" name="EC2 중계">
            <a:extLst xmlns:a="http://schemas.openxmlformats.org/drawingml/2006/main">
              <a:ext uri="{FF2B5EF4-FFF2-40B4-BE49-F238E27FC236}">
                <a16:creationId xmlns:a16="http://schemas.microsoft.com/office/drawing/2014/main" id="{4B175B8B-0183-45C7-9959-B1E2D6B2C1EC}"/>
              </a:ext>
            </a:extLst>
          </p:cNvPr>
          <p:cNvSpPr>
            <a:spLocks xmlns:a="http://schemas.openxmlformats.org/drawingml/2006/main" noGrp="1"/>
          </p:cNvSpPr>
          <p:nvPr/>
        </p:nvSpPr>
        <p:spPr>
          <a:xfrm xmlns:a="http://schemas.openxmlformats.org/drawingml/2006/main">
            <a:off x="6800850" y="3667125"/>
            <a:ext cx="1028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42D40"/>
                </a:solidFill>
                <a:latin typeface="Malgun Gothic"/>
                <a:ea typeface="Malgun Gothic"/>
                <a:cs typeface="Malgun Gothic"/>
              </a:defRPr>
            </a:pPr>
            <a:r>
              <a:rPr sz="1100" b="1">
                <a:solidFill>
                  <a:srgbClr val="3D4C57"/>
                </a:solidFill>
                <a:latin typeface="Malgun Gothic"/>
                <a:ea typeface="Malgun Gothic"/>
                <a:cs typeface="Malgun Gothic"/>
              </a:rPr>
              <a:t>EC2 중계</a:t>
            </a:r>
          </a:p>
        </p:txBody>
      </p:sp>
      <p:sp>
        <p:nvSpPr>
          <p:cNvPr id="148" name="Libreswan">
            <a:extLst xmlns:a="http://schemas.openxmlformats.org/drawingml/2006/main">
              <a:ext uri="{FF2B5EF4-FFF2-40B4-BE49-F238E27FC236}">
                <a16:creationId xmlns:a16="http://schemas.microsoft.com/office/drawing/2014/main" id="{95F1B066-4648-402D-B760-2778DE0CE20D}"/>
              </a:ext>
            </a:extLst>
          </p:cNvPr>
          <p:cNvSpPr>
            <a:spLocks xmlns:a="http://schemas.openxmlformats.org/drawingml/2006/main" noGrp="1"/>
          </p:cNvSpPr>
          <p:nvPr/>
        </p:nvSpPr>
        <p:spPr>
          <a:xfrm xmlns:a="http://schemas.openxmlformats.org/drawingml/2006/main">
            <a:off x="6800850" y="4019550"/>
            <a:ext cx="102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Libreswan</a:t>
            </a:r>
          </a:p>
        </p:txBody>
      </p:sp>
      <p:sp>
        <p:nvSpPr>
          <p:cNvPr id="149" name="">
            <a:extLst xmlns:a="http://schemas.openxmlformats.org/drawingml/2006/main">
              <a:ext uri="{FF2B5EF4-FFF2-40B4-BE49-F238E27FC236}">
                <a16:creationId xmlns:a16="http://schemas.microsoft.com/office/drawing/2014/main" id="{3805D1FF-6E7D-49C2-86C8-888A9C8DA1C7}"/>
              </a:ext>
            </a:extLst>
          </p:cNvPr>
          <p:cNvSpPr>
            <a:spLocks xmlns:a="http://schemas.openxmlformats.org/drawingml/2006/main" noGrp="1"/>
          </p:cNvSpPr>
          <p:nvPr/>
        </p:nvSpPr>
        <p:spPr>
          <a:xfrm xmlns:a="http://schemas.openxmlformats.org/drawingml/2006/main">
            <a:off x="8229600" y="3000375"/>
            <a:ext cx="3038475" cy="2371725"/>
          </a:xfrm>
          <a:prstGeom xmlns:a="http://schemas.openxmlformats.org/drawingml/2006/main" prst="rect">
            <a:avLst/>
          </a:prstGeom>
          <a:noFill xmlns:a="http://schemas.openxmlformats.org/drawingml/2006/main"/>
          <a:ln xmlns:a="http://schemas.openxmlformats.org/drawingml/2006/main" w="14288">
            <a:solidFill>
              <a:srgbClr val="0F6A6C"/>
            </a:solidFill>
            <a:prstDash val="solid"/>
          </a:ln>
        </p:spPr>
        <p:txBody xmlns:a="http://schemas.openxmlformats.org/drawingml/2006/main">
          <a:bodyPr/>
          <a:p/>
        </p:txBody>
      </p:sp>
      <p:sp>
        <p:nvSpPr>
          <p:cNvPr id="150" name="ROSA">
            <a:extLst xmlns:a="http://schemas.openxmlformats.org/drawingml/2006/main">
              <a:ext uri="{FF2B5EF4-FFF2-40B4-BE49-F238E27FC236}">
                <a16:creationId xmlns:a16="http://schemas.microsoft.com/office/drawing/2014/main" id="{F0068F51-1051-4D8A-8B31-19129BF3EC84}"/>
              </a:ext>
            </a:extLst>
          </p:cNvPr>
          <p:cNvSpPr>
            <a:spLocks xmlns:a="http://schemas.openxmlformats.org/drawingml/2006/main" noGrp="1"/>
          </p:cNvSpPr>
          <p:nvPr/>
        </p:nvSpPr>
        <p:spPr>
          <a:xfrm xmlns:a="http://schemas.openxmlformats.org/drawingml/2006/main">
            <a:off x="8848725" y="31242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ROSA</a:t>
            </a:r>
          </a:p>
        </p:txBody>
      </p:sp>
      <p:sp>
        <p:nvSpPr>
          <p:cNvPr id="151" name="">
            <a:extLst xmlns:a="http://schemas.openxmlformats.org/drawingml/2006/main">
              <a:ext uri="{FF2B5EF4-FFF2-40B4-BE49-F238E27FC236}">
                <a16:creationId xmlns:a16="http://schemas.microsoft.com/office/drawing/2014/main" id="{01D91FAE-D065-4B20-8EB8-CFF45A512BEB}"/>
              </a:ext>
            </a:extLst>
          </p:cNvPr>
          <p:cNvSpPr>
            <a:spLocks xmlns:a="http://schemas.openxmlformats.org/drawingml/2006/main" noGrp="1"/>
          </p:cNvSpPr>
          <p:nvPr/>
        </p:nvSpPr>
        <p:spPr>
          <a:xfrm xmlns:a="http://schemas.openxmlformats.org/drawingml/2006/main">
            <a:off x="8439150" y="3667125"/>
            <a:ext cx="2619375" cy="666750"/>
          </a:xfrm>
          <a:prstGeom xmlns:a="http://schemas.openxmlformats.org/drawingml/2006/main" prst="rect">
            <a:avLst/>
          </a:prstGeom>
          <a:noFill xmlns:a="http://schemas.openxmlformats.org/drawingml/2006/main"/>
          <a:ln xmlns:a="http://schemas.openxmlformats.org/drawingml/2006/main" w="14288">
            <a:solidFill>
              <a:srgbClr val="0F6A6C"/>
            </a:solidFill>
            <a:prstDash val="solid"/>
          </a:ln>
        </p:spPr>
        <p:txBody xmlns:a="http://schemas.openxmlformats.org/drawingml/2006/main">
          <a:bodyPr/>
          <a:p/>
        </p:txBody>
      </p:sp>
      <p:sp>
        <p:nvSpPr>
          <p:cNvPr id="152" name="거래 접수·기록">
            <a:extLst xmlns:a="http://schemas.openxmlformats.org/drawingml/2006/main">
              <a:ext uri="{FF2B5EF4-FFF2-40B4-BE49-F238E27FC236}">
                <a16:creationId xmlns:a16="http://schemas.microsoft.com/office/drawing/2014/main" id="{F110F498-630F-409B-A151-6F94E72A48E1}"/>
              </a:ext>
            </a:extLst>
          </p:cNvPr>
          <p:cNvSpPr>
            <a:spLocks xmlns:a="http://schemas.openxmlformats.org/drawingml/2006/main" noGrp="1"/>
          </p:cNvSpPr>
          <p:nvPr/>
        </p:nvSpPr>
        <p:spPr>
          <a:xfrm xmlns:a="http://schemas.openxmlformats.org/drawingml/2006/main">
            <a:off x="8572500" y="3743325"/>
            <a:ext cx="2352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거래 접수·기록</a:t>
            </a:r>
          </a:p>
        </p:txBody>
      </p:sp>
      <p:sp>
        <p:nvSpPr>
          <p:cNvPr id="153" name="transaction-api · 8000">
            <a:extLst xmlns:a="http://schemas.openxmlformats.org/drawingml/2006/main">
              <a:ext uri="{FF2B5EF4-FFF2-40B4-BE49-F238E27FC236}">
                <a16:creationId xmlns:a16="http://schemas.microsoft.com/office/drawing/2014/main" id="{60E647C9-E4B1-4BF9-A6D0-241018C91C10}"/>
              </a:ext>
            </a:extLst>
          </p:cNvPr>
          <p:cNvSpPr>
            <a:spLocks xmlns:a="http://schemas.openxmlformats.org/drawingml/2006/main" noGrp="1"/>
          </p:cNvSpPr>
          <p:nvPr/>
        </p:nvSpPr>
        <p:spPr>
          <a:xfrm xmlns:a="http://schemas.openxmlformats.org/drawingml/2006/main">
            <a:off x="8572500" y="4067175"/>
            <a:ext cx="2352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transaction-api · 8000</a:t>
            </a:r>
          </a:p>
        </p:txBody>
      </p:sp>
      <p:sp>
        <p:nvSpPr>
          <p:cNvPr id="154" name="">
            <a:extLst xmlns:a="http://schemas.openxmlformats.org/drawingml/2006/main">
              <a:ext uri="{FF2B5EF4-FFF2-40B4-BE49-F238E27FC236}">
                <a16:creationId xmlns:a16="http://schemas.microsoft.com/office/drawing/2014/main" id="{61E42932-9B1D-489C-9063-B5F242F4BD36}"/>
              </a:ext>
            </a:extLst>
          </p:cNvPr>
          <p:cNvSpPr>
            <a:spLocks xmlns:a="http://schemas.openxmlformats.org/drawingml/2006/main" noGrp="1"/>
          </p:cNvSpPr>
          <p:nvPr/>
        </p:nvSpPr>
        <p:spPr>
          <a:xfrm xmlns:a="http://schemas.openxmlformats.org/drawingml/2006/main">
            <a:off x="8439150" y="4676775"/>
            <a:ext cx="2619375" cy="571500"/>
          </a:xfrm>
          <a:prstGeom xmlns:a="http://schemas.openxmlformats.org/drawingml/2006/main" prst="rect">
            <a:avLst/>
          </a:prstGeom>
          <a:noFill xmlns:a="http://schemas.openxmlformats.org/drawingml/2006/main"/>
          <a:ln xmlns:a="http://schemas.openxmlformats.org/drawingml/2006/main" w="14288">
            <a:solidFill>
              <a:srgbClr val="0F6A6C"/>
            </a:solidFill>
            <a:prstDash val="solid"/>
          </a:ln>
        </p:spPr>
        <p:txBody xmlns:a="http://schemas.openxmlformats.org/drawingml/2006/main">
          <a:bodyPr/>
          <a:p/>
        </p:txBody>
      </p:sp>
      <p:sp>
        <p:nvSpPr>
          <p:cNvPr id="155" name="위험 판정  fds-engine">
            <a:extLst xmlns:a="http://schemas.openxmlformats.org/drawingml/2006/main">
              <a:ext uri="{FF2B5EF4-FFF2-40B4-BE49-F238E27FC236}">
                <a16:creationId xmlns:a16="http://schemas.microsoft.com/office/drawing/2014/main" id="{44081CD5-9201-4783-A48B-E4BFD58D4260}"/>
              </a:ext>
            </a:extLst>
          </p:cNvPr>
          <p:cNvSpPr>
            <a:spLocks xmlns:a="http://schemas.openxmlformats.org/drawingml/2006/main" noGrp="1"/>
          </p:cNvSpPr>
          <p:nvPr/>
        </p:nvSpPr>
        <p:spPr>
          <a:xfrm xmlns:a="http://schemas.openxmlformats.org/drawingml/2006/main">
            <a:off x="8572500" y="4724400"/>
            <a:ext cx="2352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142D40"/>
                </a:solidFill>
                <a:latin typeface="Malgun Gothic"/>
                <a:ea typeface="Malgun Gothic"/>
                <a:cs typeface="Malgun Gothic"/>
              </a:defRPr>
            </a:pPr>
            <a:r>
              <a:rPr sz="1200" b="1">
                <a:solidFill>
                  <a:srgbClr val="1C242B"/>
                </a:solidFill>
                <a:latin typeface="Malgun Gothic"/>
                <a:ea typeface="Malgun Gothic"/>
                <a:cs typeface="Malgun Gothic"/>
              </a:rPr>
              <a:t>위험 판정  fds-engine</a:t>
            </a:r>
          </a:p>
        </p:txBody>
      </p:sp>
      <p:sp>
        <p:nvSpPr>
          <p:cNvPr id="156" name="8001  ·  이재환">
            <a:extLst xmlns:a="http://schemas.openxmlformats.org/drawingml/2006/main">
              <a:ext uri="{FF2B5EF4-FFF2-40B4-BE49-F238E27FC236}">
                <a16:creationId xmlns:a16="http://schemas.microsoft.com/office/drawing/2014/main" id="{CED486AF-D9A6-456D-81FC-819BE27C0A44}"/>
              </a:ext>
            </a:extLst>
          </p:cNvPr>
          <p:cNvSpPr>
            <a:spLocks xmlns:a="http://schemas.openxmlformats.org/drawingml/2006/main" noGrp="1"/>
          </p:cNvSpPr>
          <p:nvPr/>
        </p:nvSpPr>
        <p:spPr>
          <a:xfrm xmlns:a="http://schemas.openxmlformats.org/drawingml/2006/main">
            <a:off x="8572500" y="5019675"/>
            <a:ext cx="23526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526675"/>
                </a:solidFill>
                <a:latin typeface="Malgun Gothic"/>
                <a:ea typeface="Malgun Gothic"/>
                <a:cs typeface="Malgun Gothic"/>
              </a:defRPr>
            </a:pPr>
            <a:r>
              <a:rPr sz="1350" b="0">
                <a:solidFill>
                  <a:srgbClr val="526675"/>
                </a:solidFill>
                <a:latin typeface="Malgun Gothic"/>
                <a:ea typeface="Malgun Gothic"/>
                <a:cs typeface="Malgun Gothic"/>
              </a:rPr>
              <a:t>8001  ·  이재환</a:t>
            </a:r>
          </a:p>
        </p:txBody>
      </p:sp>
      <p:cxnSp>
        <p:nvCxnSpPr>
          <p:cNvPr id="238" name=""/>
          <p:cNvCxnSpPr>
            <a:stCxn xmlns:a="http://schemas.openxmlformats.org/drawingml/2006/main" id="139" idx="2"/>
            <a:endCxn xmlns:a="http://schemas.openxmlformats.org/drawingml/2006/main" id="151" idx="0"/>
          </p:cNvCxnSpPr>
          <p:nvPr/>
        </p:nvCxnSpPr>
        <p:spPr>
          <a:xfrm xmlns:a="http://schemas.openxmlformats.org/drawingml/2006/main" flipH="1">
            <a:off x="9748838" y="2190750"/>
            <a:ext cx="57150" cy="1476375"/>
          </a:xfrm>
          <a:prstGeom xmlns:a="http://schemas.openxmlformats.org/drawingml/2006/main" prst="bentConnector4">
            <a:avLst>
              <a:gd name="adj1" fmla="val 0"/>
              <a:gd name="adj2" fmla="val 50000"/>
            </a:avLst>
          </a:prstGeom>
          <a:ln xmlns:a="http://schemas.openxmlformats.org/drawingml/2006/main" w="23813">
            <a:solidFill>
              <a:srgbClr val="0F6A6C"/>
            </a:solidFill>
            <a:prstDash val="solid"/>
            <a:tailEnd type="triangle" w="sm" len="sm"/>
          </a:ln>
        </p:spPr>
      </p:cxnSp>
      <p:cxnSp>
        <p:nvCxnSpPr>
          <p:cNvPr id="239" name=""/>
          <p:cNvCxnSpPr>
            <a:stCxn xmlns:a="http://schemas.openxmlformats.org/drawingml/2006/main" id="141" idx="3"/>
            <a:endCxn xmlns:a="http://schemas.openxmlformats.org/drawingml/2006/main" id="144" idx="1"/>
          </p:cNvCxnSpPr>
          <p:nvPr/>
        </p:nvCxnSpPr>
        <p:spPr>
          <a:xfrm xmlns:a="http://schemas.openxmlformats.org/drawingml/2006/main">
            <a:off x="2505075" y="3938588"/>
            <a:ext cx="323850" cy="0"/>
          </a:xfrm>
          <a:prstGeom xmlns:a="http://schemas.openxmlformats.org/drawingml/2006/main" prst="straightConnector1">
            <a:avLst/>
          </a:prstGeom>
          <a:ln xmlns:a="http://schemas.openxmlformats.org/drawingml/2006/main" w="23813">
            <a:solidFill>
              <a:srgbClr val="0F6A6C"/>
            </a:solidFill>
            <a:prstDash val="solid"/>
            <a:headEnd type="triangle" w="sm" len="sm"/>
            <a:tailEnd type="triangle" w="sm" len="sm"/>
          </a:ln>
        </p:spPr>
      </p:cxnSp>
      <p:cxnSp>
        <p:nvCxnSpPr>
          <p:cNvPr id="240" name=""/>
          <p:cNvCxnSpPr>
            <a:stCxn xmlns:a="http://schemas.openxmlformats.org/drawingml/2006/main" id="144" idx="3"/>
            <a:endCxn xmlns:a="http://schemas.openxmlformats.org/drawingml/2006/main" id="146" idx="1"/>
          </p:cNvCxnSpPr>
          <p:nvPr/>
        </p:nvCxnSpPr>
        <p:spPr>
          <a:xfrm xmlns:a="http://schemas.openxmlformats.org/drawingml/2006/main">
            <a:off x="3705225" y="3938588"/>
            <a:ext cx="2505075" cy="0"/>
          </a:xfrm>
          <a:prstGeom xmlns:a="http://schemas.openxmlformats.org/drawingml/2006/main" prst="straightConnector1">
            <a:avLst/>
          </a:prstGeom>
          <a:ln xmlns:a="http://schemas.openxmlformats.org/drawingml/2006/main" w="23813">
            <a:solidFill>
              <a:srgbClr val="0F6A6C"/>
            </a:solidFill>
            <a:prstDash val="solid"/>
            <a:headEnd type="triangle" w="sm" len="sm"/>
            <a:tailEnd type="triangle" w="sm" len="sm"/>
          </a:ln>
        </p:spPr>
      </p:cxnSp>
      <p:cxnSp>
        <p:nvCxnSpPr>
          <p:cNvPr id="241" name=""/>
          <p:cNvCxnSpPr>
            <a:stCxn xmlns:a="http://schemas.openxmlformats.org/drawingml/2006/main" id="146" idx="3"/>
            <a:endCxn xmlns:a="http://schemas.openxmlformats.org/drawingml/2006/main" id="151" idx="1"/>
          </p:cNvCxnSpPr>
          <p:nvPr/>
        </p:nvCxnSpPr>
        <p:spPr>
          <a:xfrm xmlns:a="http://schemas.openxmlformats.org/drawingml/2006/main">
            <a:off x="7934325" y="3938588"/>
            <a:ext cx="504825" cy="61913"/>
          </a:xfrm>
          <a:prstGeom xmlns:a="http://schemas.openxmlformats.org/drawingml/2006/main" prst="straightConnector1">
            <a:avLst/>
          </a:prstGeom>
          <a:ln xmlns:a="http://schemas.openxmlformats.org/drawingml/2006/main" w="23813">
            <a:solidFill>
              <a:srgbClr val="0F6A6C"/>
            </a:solidFill>
            <a:prstDash val="solid"/>
            <a:headEnd type="triangle" w="sm" len="sm"/>
            <a:tailEnd type="triangle" w="sm" len="sm"/>
          </a:ln>
        </p:spPr>
      </p:cxnSp>
      <p:cxnSp>
        <p:nvCxnSpPr>
          <p:cNvPr id="242" name=""/>
          <p:cNvCxnSpPr>
            <a:stCxn xmlns:a="http://schemas.openxmlformats.org/drawingml/2006/main" id="151" idx="2"/>
            <a:endCxn xmlns:a="http://schemas.openxmlformats.org/drawingml/2006/main" id="154" idx="0"/>
          </p:cNvCxnSpPr>
          <p:nvPr/>
        </p:nvCxnSpPr>
        <p:spPr>
          <a:xfrm xmlns:a="http://schemas.openxmlformats.org/drawingml/2006/main">
            <a:off x="9748838" y="4333875"/>
            <a:ext cx="0" cy="342900"/>
          </a:xfrm>
          <a:prstGeom xmlns:a="http://schemas.openxmlformats.org/drawingml/2006/main" prst="straightConnector1">
            <a:avLst/>
          </a:prstGeom>
          <a:ln xmlns:a="http://schemas.openxmlformats.org/drawingml/2006/main" w="23813">
            <a:solidFill>
              <a:srgbClr val="0F6A6C"/>
            </a:solidFill>
            <a:prstDash val="solid"/>
            <a:headEnd type="triangle" w="sm" len="sm"/>
            <a:tailEnd type="triangle" w="sm" len="sm"/>
          </a:ln>
        </p:spPr>
      </p:cxnSp>
      <p:sp>
        <p:nvSpPr>
          <p:cNvPr id="162" name="암호화 연결">
            <a:extLst xmlns:a="http://schemas.openxmlformats.org/drawingml/2006/main">
              <a:ext uri="{FF2B5EF4-FFF2-40B4-BE49-F238E27FC236}">
                <a16:creationId xmlns:a16="http://schemas.microsoft.com/office/drawing/2014/main" id="{825B4B6C-5371-461A-B3AD-7F8A3935883A}"/>
              </a:ext>
            </a:extLst>
          </p:cNvPr>
          <p:cNvSpPr>
            <a:spLocks xmlns:a="http://schemas.openxmlformats.org/drawingml/2006/main" noGrp="1"/>
          </p:cNvSpPr>
          <p:nvPr/>
        </p:nvSpPr>
        <p:spPr>
          <a:xfrm xmlns:a="http://schemas.openxmlformats.org/drawingml/2006/main">
            <a:off x="4095750" y="3238500"/>
            <a:ext cx="1724025" cy="747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0F6A6C"/>
                </a:solidFill>
                <a:latin typeface="Malgun Gothic"/>
                <a:ea typeface="Malgun Gothic"/>
                <a:cs typeface="Malgun Gothic"/>
              </a:defRPr>
            </a:pPr>
            <a:r>
              <a:rPr sz="1200" b="0">
                <a:solidFill>
                  <a:srgbClr val="1C242B"/>
                </a:solidFill>
                <a:latin typeface="Malgun Gothic"/>
                <a:ea typeface="Malgun Gothic"/>
                <a:cs typeface="Malgun Gothic"/>
              </a:rPr>
              <a:t>암호화 연결</a:t>
            </a:r>
          </a:p>
          <a:p xmlns:a="http://schemas.openxmlformats.org/drawingml/2006/main">
            <a:pPr algn="ctr">
              <a:buNone/>
              <a:defRPr sz="1650" b="0">
                <a:solidFill>
                  <a:srgbClr val="0F6A6C"/>
                </a:solidFill>
                <a:latin typeface="Malgun Gothic"/>
                <a:ea typeface="Malgun Gothic"/>
                <a:cs typeface="Malgun Gothic"/>
              </a:defRPr>
            </a:pPr>
            <a:r>
              <a:rPr sz="1200" b="0">
                <a:solidFill>
                  <a:srgbClr val="1C242B"/>
                </a:solidFill>
                <a:latin typeface="Malgun Gothic"/>
                <a:ea typeface="Malgun Gothic"/>
                <a:cs typeface="Malgun Gothic"/>
              </a:rPr>
              <a:t>IKEv2 / IPsec</a:t>
            </a:r>
          </a:p>
        </p:txBody>
      </p:sp>
      <p:sp>
        <p:nvSpPr>
          <p:cNvPr id="163" name="10.1.93.55 : 5432">
            <a:extLst xmlns:a="http://schemas.openxmlformats.org/drawingml/2006/main">
              <a:ext uri="{FF2B5EF4-FFF2-40B4-BE49-F238E27FC236}">
                <a16:creationId xmlns:a16="http://schemas.microsoft.com/office/drawing/2014/main" id="{CF2A7030-6DE9-4451-8A5F-EF0A089C25ED}"/>
              </a:ext>
            </a:extLst>
          </p:cNvPr>
          <p:cNvSpPr>
            <a:spLocks xmlns:a="http://schemas.openxmlformats.org/drawingml/2006/main" noGrp="1"/>
          </p:cNvSpPr>
          <p:nvPr/>
        </p:nvSpPr>
        <p:spPr>
          <a:xfrm xmlns:a="http://schemas.openxmlformats.org/drawingml/2006/main">
            <a:off x="904875" y="4457700"/>
            <a:ext cx="18002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10.1.93.55 : 5432</a:t>
            </a:r>
          </a:p>
        </p:txBody>
      </p:sp>
      <p:sp>
        <p:nvSpPr>
          <p:cNvPr id="164" name="vpn-gw01">
            <a:extLst xmlns:a="http://schemas.openxmlformats.org/drawingml/2006/main">
              <a:ext uri="{FF2B5EF4-FFF2-40B4-BE49-F238E27FC236}">
                <a16:creationId xmlns:a16="http://schemas.microsoft.com/office/drawing/2014/main" id="{483D43F8-B23C-4B5A-890D-BEE6B92BB253}"/>
              </a:ext>
            </a:extLst>
          </p:cNvPr>
          <p:cNvSpPr>
            <a:spLocks xmlns:a="http://schemas.openxmlformats.org/drawingml/2006/main" noGrp="1"/>
          </p:cNvSpPr>
          <p:nvPr/>
        </p:nvSpPr>
        <p:spPr>
          <a:xfrm xmlns:a="http://schemas.openxmlformats.org/drawingml/2006/main">
            <a:off x="2752725" y="4457700"/>
            <a:ext cx="1085850" cy="662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526675"/>
                </a:solidFill>
                <a:latin typeface="Malgun Gothic"/>
                <a:ea typeface="Malgun Gothic"/>
                <a:cs typeface="Malgun Gothic"/>
              </a:defRPr>
            </a:pPr>
            <a:r>
              <a:rPr sz="1350" b="0">
                <a:solidFill>
                  <a:srgbClr val="526675"/>
                </a:solidFill>
                <a:latin typeface="Malgun Gothic"/>
                <a:ea typeface="Malgun Gothic"/>
                <a:cs typeface="Malgun Gothic"/>
              </a:rPr>
              <a:t>vpn-gw01</a:t>
            </a:r>
          </a:p>
          <a:p xmlns:a="http://schemas.openxmlformats.org/drawingml/2006/main">
            <a:pPr algn="ctr">
              <a:buNone/>
              <a:defRPr sz="1350" b="0">
                <a:solidFill>
                  <a:srgbClr val="526675"/>
                </a:solidFill>
                <a:latin typeface="Malgun Gothic"/>
                <a:ea typeface="Malgun Gothic"/>
                <a:cs typeface="Malgun Gothic"/>
              </a:defRPr>
            </a:pPr>
            <a:r>
              <a:rPr sz="1350" b="0">
                <a:solidFill>
                  <a:srgbClr val="526675"/>
                </a:solidFill>
                <a:latin typeface="Malgun Gothic"/>
                <a:ea typeface="Malgun Gothic"/>
                <a:cs typeface="Malgun Gothic"/>
              </a:rPr>
              <a:t>10.1.93.51</a:t>
            </a:r>
          </a:p>
        </p:txBody>
      </p:sp>
      <p:sp>
        <p:nvSpPr>
          <p:cNvPr id="165" name="10.20.110.10 + 공인 IP">
            <a:extLst xmlns:a="http://schemas.openxmlformats.org/drawingml/2006/main">
              <a:ext uri="{FF2B5EF4-FFF2-40B4-BE49-F238E27FC236}">
                <a16:creationId xmlns:a16="http://schemas.microsoft.com/office/drawing/2014/main" id="{6EA81C0D-4A9D-4E21-B0F9-53DC006D20C4}"/>
              </a:ext>
            </a:extLst>
          </p:cNvPr>
          <p:cNvSpPr>
            <a:spLocks xmlns:a="http://schemas.openxmlformats.org/drawingml/2006/main" noGrp="1"/>
          </p:cNvSpPr>
          <p:nvPr/>
        </p:nvSpPr>
        <p:spPr>
          <a:xfrm xmlns:a="http://schemas.openxmlformats.org/drawingml/2006/main">
            <a:off x="6200775" y="4457700"/>
            <a:ext cx="1962150" cy="7383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26675"/>
                </a:solidFill>
                <a:latin typeface="Malgun Gothic"/>
                <a:ea typeface="Malgun Gothic"/>
                <a:cs typeface="Malgun Gothic"/>
              </a:defRPr>
            </a:pPr>
            <a:r>
              <a:rPr sz="1350" b="0">
                <a:solidFill>
                  <a:srgbClr val="526675"/>
                </a:solidFill>
                <a:latin typeface="Malgun Gothic"/>
                <a:ea typeface="Malgun Gothic"/>
                <a:cs typeface="Malgun Gothic"/>
              </a:rPr>
              <a:t>10.20.110.10 + 공인 IP</a:t>
            </a:r>
          </a:p>
          <a:p xmlns:a="http://schemas.openxmlformats.org/drawingml/2006/main">
            <a:pPr algn="l">
              <a:buNone/>
              <a:defRPr sz="1350" b="0">
                <a:solidFill>
                  <a:srgbClr val="526675"/>
                </a:solidFill>
                <a:latin typeface="Malgun Gothic"/>
                <a:ea typeface="Malgun Gothic"/>
                <a:cs typeface="Malgun Gothic"/>
              </a:defRPr>
            </a:pPr>
            <a:r>
              <a:rPr sz="1350" b="0">
                <a:solidFill>
                  <a:srgbClr val="526675"/>
                </a:solidFill>
                <a:latin typeface="Malgun Gothic"/>
                <a:ea typeface="Malgun Gothic"/>
                <a:cs typeface="Malgun Gothic"/>
              </a:rPr>
              <a:t>생성 이하영 / VPN 이재환</a:t>
            </a:r>
          </a:p>
        </p:txBody>
      </p:sp>
      <p:sp>
        <p:nvSpPr>
          <p:cNvPr id="166" name="연결·복구  이재환">
            <a:extLst xmlns:a="http://schemas.openxmlformats.org/drawingml/2006/main">
              <a:ext uri="{FF2B5EF4-FFF2-40B4-BE49-F238E27FC236}">
                <a16:creationId xmlns:a16="http://schemas.microsoft.com/office/drawing/2014/main" id="{0E968B6C-2637-4FC8-917F-DAA146A8F3C3}"/>
              </a:ext>
            </a:extLst>
          </p:cNvPr>
          <p:cNvSpPr>
            <a:spLocks xmlns:a="http://schemas.openxmlformats.org/drawingml/2006/main" noGrp="1"/>
          </p:cNvSpPr>
          <p:nvPr/>
        </p:nvSpPr>
        <p:spPr>
          <a:xfrm xmlns:a="http://schemas.openxmlformats.org/drawingml/2006/main">
            <a:off x="895350" y="5200650"/>
            <a:ext cx="2724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142D40"/>
                </a:solidFill>
                <a:latin typeface="Malgun Gothic"/>
                <a:ea typeface="Malgun Gothic"/>
                <a:cs typeface="Malgun Gothic"/>
              </a:defRPr>
            </a:pPr>
            <a:r>
              <a:rPr sz="1200" b="1">
                <a:solidFill>
                  <a:srgbClr val="1C242B"/>
                </a:solidFill>
                <a:latin typeface="Malgun Gothic"/>
                <a:ea typeface="Malgun Gothic"/>
                <a:cs typeface="Malgun Gothic"/>
              </a:rPr>
              <a:t>연결·복구  이재환</a:t>
            </a:r>
          </a:p>
        </p:txBody>
      </p:sp>
      <p:sp>
        <p:nvSpPr>
          <p:cNvPr id="167" name="자원 생성·플랫폼">
            <a:extLst xmlns:a="http://schemas.openxmlformats.org/drawingml/2006/main">
              <a:ext uri="{FF2B5EF4-FFF2-40B4-BE49-F238E27FC236}">
                <a16:creationId xmlns:a16="http://schemas.microsoft.com/office/drawing/2014/main" id="{1B4F1248-C173-4AF3-B640-9EDA7B47BB4B}"/>
              </a:ext>
            </a:extLst>
          </p:cNvPr>
          <p:cNvSpPr>
            <a:spLocks xmlns:a="http://schemas.openxmlformats.org/drawingml/2006/main" noGrp="1"/>
          </p:cNvSpPr>
          <p:nvPr/>
        </p:nvSpPr>
        <p:spPr>
          <a:xfrm xmlns:a="http://schemas.openxmlformats.org/drawingml/2006/main">
            <a:off x="6657975" y="1724025"/>
            <a:ext cx="1752600" cy="6431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142D40"/>
                </a:solidFill>
                <a:latin typeface="Malgun Gothic"/>
                <a:ea typeface="Malgun Gothic"/>
                <a:cs typeface="Malgun Gothic"/>
              </a:defRPr>
            </a:pPr>
            <a:r>
              <a:rPr sz="1100" b="1">
                <a:solidFill>
                  <a:srgbClr val="3D4C57"/>
                </a:solidFill>
                <a:latin typeface="Malgun Gothic"/>
                <a:ea typeface="Malgun Gothic"/>
                <a:cs typeface="Malgun Gothic"/>
              </a:rPr>
              <a:t>인프라·플랫폼</a:t>
            </a:r>
          </a:p>
          <a:p xmlns:a="http://schemas.openxmlformats.org/drawingml/2006/main">
            <a:pPr algn="l">
              <a:buNone/>
              <a:defRPr sz="1500" b="1">
                <a:solidFill>
                  <a:srgbClr val="142D40"/>
                </a:solidFill>
                <a:latin typeface="Malgun Gothic"/>
                <a:ea typeface="Malgun Gothic"/>
                <a:cs typeface="Malgun Gothic"/>
              </a:defRPr>
            </a:pPr>
            <a:r>
              <a:rPr sz="1100" b="1">
                <a:solidFill>
                  <a:srgbClr val="3D4C57"/>
                </a:solidFill>
                <a:latin typeface="Malgun Gothic"/>
                <a:ea typeface="Malgun Gothic"/>
                <a:cs typeface="Malgun Gothic"/>
              </a:rPr>
              <a:t>이하영</a:t>
            </a:r>
          </a:p>
        </p:txBody>
      </p:sp>
      <p:sp>
        <p:nvSpPr>
          <p:cNvPr id="168" name="P0 실선: 설계상 필수 경로    판정 서비스의 DB 직접 접근 차단">
            <a:extLst xmlns:a="http://schemas.openxmlformats.org/drawingml/2006/main">
              <a:ext uri="{FF2B5EF4-FFF2-40B4-BE49-F238E27FC236}">
                <a16:creationId xmlns:a16="http://schemas.microsoft.com/office/drawing/2014/main" id="{503C6C5A-C852-4787-A39B-942C2369A806}"/>
              </a:ext>
            </a:extLst>
          </p:cNvPr>
          <p:cNvSpPr>
            <a:spLocks xmlns:a="http://schemas.openxmlformats.org/drawingml/2006/main" noGrp="1"/>
          </p:cNvSpPr>
          <p:nvPr/>
        </p:nvSpPr>
        <p:spPr>
          <a:xfrm xmlns:a="http://schemas.openxmlformats.org/drawingml/2006/main">
            <a:off x="685800" y="59245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0F6A6C"/>
                </a:solidFill>
                <a:latin typeface="Malgun Gothic"/>
                <a:ea typeface="Malgun Gothic"/>
                <a:cs typeface="Malgun Gothic"/>
              </a:defRPr>
            </a:pPr>
            <a:r>
              <a:rPr sz="1200" b="1">
                <a:solidFill>
                  <a:srgbClr val="3D4C57"/>
                </a:solidFill>
                <a:latin typeface="Malgun Gothic"/>
                <a:ea typeface="Malgun Gothic"/>
                <a:cs typeface="Malgun Gothic"/>
              </a:rPr>
              <a:t>P0 필수 경로. 분석 서비스는 DB 송신 차단 + DB 접속정보 미부여</a:t>
            </a:r>
          </a:p>
        </p:txBody>
      </p:sp>
      <p:sp>
        <p:nvSpPr>
          <p:cNvPr id="169" name="실제 연결·차단·복구 결과로 검증합니다. P1 운영 확장은 별도 도입 결정 후 진행합니다">
            <a:extLst xmlns:a="http://schemas.openxmlformats.org/drawingml/2006/main">
              <a:ext uri="{FF2B5EF4-FFF2-40B4-BE49-F238E27FC236}">
                <a16:creationId xmlns:a16="http://schemas.microsoft.com/office/drawing/2014/main" id="{6BDA12E1-8035-4B59-B765-9E36AC146BE3}"/>
              </a:ext>
            </a:extLst>
          </p:cNvPr>
          <p:cNvSpPr>
            <a:spLocks xmlns:a="http://schemas.openxmlformats.org/drawingml/2006/main" noGrp="1"/>
          </p:cNvSpPr>
          <p:nvPr/>
        </p:nvSpPr>
        <p:spPr>
          <a:xfrm xmlns:a="http://schemas.openxmlformats.org/drawingml/2006/main">
            <a:off x="685800" y="63150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26675"/>
                </a:solidFill>
                <a:latin typeface="Malgun Gothic"/>
                <a:ea typeface="Malgun Gothic"/>
                <a:cs typeface="Malgun Gothic"/>
              </a:defRPr>
            </a:pPr>
            <a:r>
              <a:rPr sz="1425" b="0">
                <a:solidFill>
                  <a:srgbClr val="526675"/>
                </a:solidFill>
                <a:latin typeface="Malgun Gothic"/>
                <a:ea typeface="Malgun Gothic"/>
                <a:cs typeface="Malgun Gothic"/>
              </a:rPr>
              <a:t>서비스별 통신 정책으로 구분합니다. 실제 DB 출발지·허용·차단·복구를 함께 검증합니다</a:t>
            </a:r>
          </a:p>
        </p:txBody>
      </p:sp>
      <p:sp>
        <p:nvSpPr>
          <p:cNvPr id="208" name="시험 출발지·승인 사설 경로">
            <a:extLst xmlns:a="http://schemas.openxmlformats.org/drawingml/2006/main">
              <a:ext uri="{FF2B5EF4-FFF2-40B4-BE49-F238E27FC236}">
                <a16:creationId xmlns:a16="http://schemas.microsoft.com/office/drawing/2014/main" id="{7DC9102C-6206-4F17-943C-C5C66176088B}"/>
              </a:ext>
            </a:extLst>
          </p:cNvPr>
          <p:cNvSpPr>
            <a:spLocks xmlns:a="http://schemas.openxmlformats.org/drawingml/2006/main" noGrp="1"/>
          </p:cNvSpPr>
          <p:nvPr/>
        </p:nvSpPr>
        <p:spPr>
          <a:xfrm xmlns:a="http://schemas.openxmlformats.org/drawingml/2006/main">
            <a:off x="685800" y="1724025"/>
            <a:ext cx="49815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9A651A"/>
                </a:solidFill>
                <a:latin typeface="Malgun Gothic"/>
                <a:ea typeface="Malgun Gothic"/>
                <a:cs typeface="Malgun Gothic"/>
              </a:defRPr>
            </a:pPr>
            <a:r>
              <a:rPr sz="1575" b="1">
                <a:solidFill>
                  <a:srgbClr val="9A651A"/>
                </a:solidFill>
                <a:latin typeface="Malgun Gothic"/>
                <a:ea typeface="Malgun Gothic"/>
                <a:cs typeface="Malgun Gothic"/>
              </a:rPr>
              <a:t>시험 출발지·승인 사설 경로</a:t>
            </a:r>
          </a:p>
          <a:p xmlns:a="http://schemas.openxmlformats.org/drawingml/2006/main">
            <a:pPr algn="l">
              <a:defRPr sz="1575" b="1">
                <a:solidFill>
                  <a:srgbClr val="9A651A"/>
                </a:solidFill>
                <a:latin typeface="Malgun Gothic"/>
                <a:ea typeface="Malgun Gothic"/>
                <a:cs typeface="Malgun Gothic"/>
              </a:defRPr>
            </a:pPr>
            <a:r>
              <a:rPr sz="1575" b="1">
                <a:solidFill>
                  <a:srgbClr val="9A651A"/>
                </a:solidFill>
                <a:latin typeface="Malgun Gothic"/>
                <a:ea typeface="Malgun Gothic"/>
                <a:cs typeface="Malgun Gothic"/>
              </a:rPr>
              <a:t>이름 조회(DNS)·TLS 확정 필요</a:t>
            </a:r>
          </a:p>
        </p:txBody>
      </p:sp>
      <p:sp xmlns:a="http://schemas.openxmlformats.org/drawingml/2006/main">
        <p:nvSpPr>
          <p:cNvPr id="243" name="Rectangle 242"/>
          <p:cNvSpPr/>
          <p:nvPr/>
        </p:nvSpPr>
        <p:spPr>
          <a:xfrm>
            <a:off x="0" y="0"/>
            <a:ext cx="12191695" cy="73152"/>
          </a:xfrm>
          <a:prstGeom prst="rect">
            <a:avLst/>
          </a:prstGeom>
          <a:solidFill>
            <a:srgbClr val="14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4" name="Rectangle 243"/>
          <p:cNvSpPr/>
          <p:nvPr/>
        </p:nvSpPr>
        <p:spPr>
          <a:xfrm>
            <a:off x="0" y="73152"/>
            <a:ext cx="73152" cy="6784848"/>
          </a:xfrm>
          <a:prstGeom prst="rect">
            <a:avLst/>
          </a:prstGeom>
          <a:solidFill>
            <a:srgbClr val="1F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5" name="Rounded Rectangle 244"/>
          <p:cNvSpPr/>
          <p:nvPr/>
        </p:nvSpPr>
        <p:spPr>
          <a:xfrm>
            <a:off x="9646920" y="146304"/>
            <a:ext cx="2240280" cy="237744"/>
          </a:xfrm>
          <a:prstGeom prst="roundRect">
            <a:avLst>
              <a:gd name="adj" fmla="val 50000"/>
            </a:avLst>
          </a:prstGeom>
          <a:solidFill>
            <a:srgbClr val="FFFFFF"/>
          </a:solidFill>
          <a:ln w="12700">
            <a:solidFill>
              <a:srgbClr val="1F8A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8A8A"/>
                </a:solidFill>
                <a:latin typeface="Malgun Gothic"/>
                <a:ea typeface="Malgun Gothic"/>
                <a:cs typeface="Malgun Gothic"/>
              </a:rPr>
              <a:t>부록  업무 연결</a:t>
            </a:r>
          </a:p>
        </p:txBody>
      </p:sp>
    </p:spTree>
    <p:extLst>
      <p:ext uri="{BB962C8B-B14F-4D97-AF65-F5344CB8AC3E}">
        <p14:creationId xmlns:p14="http://schemas.microsoft.com/office/powerpoint/2010/main" val="179224385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4e1a6bd3d4ed4b48"/>
          <a:stretch xmlns:a="http://schemas.openxmlformats.org/drawingml/2006/main"/>
        </p:blipFill>
        <p:spPr>
          <a:xfrm xmlns:a="http://schemas.openxmlformats.org/drawingml/2006/main">
            <a:off x="838200" y="2266950"/>
            <a:ext cx="371475" cy="371475"/>
          </a:xfrm>
          <a:prstGeom xmlns:a="http://schemas.openxmlformats.org/drawingml/2006/main" prst="rect">
            <a:avLst/>
          </a:prstGeom>
        </p:spPr>
      </p:pic>
      <p:pic>
        <p:nvPicPr>
          <p:cNvPr id="236" name=""/>
          <p:cNvPicPr>
            <a:picLocks xmlns:a="http://schemas.openxmlformats.org/drawingml/2006/main" noChangeAspect="1"/>
          </p:cNvPicPr>
          <p:nvPr/>
        </p:nvPicPr>
        <p:blipFill>
          <a:blip xmlns:r="http://schemas.openxmlformats.org/officeDocument/2006/relationships" xmlns:a="http://schemas.openxmlformats.org/drawingml/2006/main" r:embed="R25eaec4a936547e7"/>
          <a:stretch xmlns:a="http://schemas.openxmlformats.org/drawingml/2006/main"/>
        </p:blipFill>
        <p:spPr>
          <a:xfrm xmlns:a="http://schemas.openxmlformats.org/drawingml/2006/main">
            <a:off x="3762375" y="2266950"/>
            <a:ext cx="371475" cy="371475"/>
          </a:xfrm>
          <a:prstGeom xmlns:a="http://schemas.openxmlformats.org/drawingml/2006/main" prst="rect">
            <a:avLst/>
          </a:prstGeom>
        </p:spPr>
      </p:pic>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f2f595cde4c64126"/>
          <a:stretch xmlns:a="http://schemas.openxmlformats.org/drawingml/2006/main"/>
        </p:blipFill>
        <p:spPr>
          <a:xfrm xmlns:a="http://schemas.openxmlformats.org/drawingml/2006/main">
            <a:off x="6867525" y="2266950"/>
            <a:ext cx="400050" cy="400050"/>
          </a:xfrm>
          <a:prstGeom xmlns:a="http://schemas.openxmlformats.org/drawingml/2006/main" prst="rect">
            <a:avLst/>
          </a:prstGeom>
        </p:spPr>
      </p:pic>
      <p:pic>
        <p:nvPicPr>
          <p:cNvPr id="238" name=""/>
          <p:cNvPicPr>
            <a:picLocks xmlns:a="http://schemas.openxmlformats.org/drawingml/2006/main" noChangeAspect="1"/>
          </p:cNvPicPr>
          <p:nvPr/>
        </p:nvPicPr>
        <p:blipFill>
          <a:blip xmlns:r="http://schemas.openxmlformats.org/officeDocument/2006/relationships" xmlns:a="http://schemas.openxmlformats.org/drawingml/2006/main" r:embed="R57795d3ecee74c68"/>
          <a:stretch xmlns:a="http://schemas.openxmlformats.org/drawingml/2006/main"/>
        </p:blipFill>
        <p:spPr>
          <a:xfrm xmlns:a="http://schemas.openxmlformats.org/drawingml/2006/main">
            <a:off x="9915525" y="2266950"/>
            <a:ext cx="361950" cy="361950"/>
          </a:xfrm>
          <a:prstGeom xmlns:a="http://schemas.openxmlformats.org/drawingml/2006/main" prst="rect">
            <a:avLst/>
          </a:prstGeom>
        </p:spPr>
      </p:pic>
      <p:sp>
        <p:nvSpPr>
          <p:cNvPr id="149" name="전체 아키텍처 ② 배포·관리">
            <a:extLst xmlns:a="http://schemas.openxmlformats.org/drawingml/2006/main">
              <a:ext uri="{FF2B5EF4-FFF2-40B4-BE49-F238E27FC236}">
                <a16:creationId xmlns:a16="http://schemas.microsoft.com/office/drawing/2014/main" id="{4684AE54-6E4D-4F6E-BE4E-5AC51D7325C8}"/>
              </a:ext>
            </a:extLst>
          </p:cNvPr>
          <p:cNvSpPr>
            <a:spLocks xmlns:a="http://schemas.openxmlformats.org/drawingml/2006/main" noGrp="1"/>
          </p:cNvSpPr>
          <p:nvPr/>
        </p:nvSpPr>
        <p:spPr>
          <a:xfrm xmlns:a="http://schemas.openxmlformats.org/drawingml/2006/main">
            <a:off x="685800" y="40957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1">
                <a:solidFill>
                  <a:srgbClr val="142D40"/>
                </a:solidFill>
                <a:latin typeface="Malgun Gothic"/>
                <a:ea typeface="Malgun Gothic"/>
                <a:cs typeface="Malgun Gothic"/>
              </a:defRPr>
            </a:pPr>
            <a:r>
              <a:rPr sz="2400" b="1">
                <a:solidFill>
                  <a:srgbClr val="1C242B"/>
                </a:solidFill>
                <a:latin typeface="Malgun Gothic"/>
                <a:ea typeface="Malgun Gothic"/>
                <a:cs typeface="Malgun Gothic"/>
              </a:rPr>
              <a:t>전체 아키텍처 ② 배포·관리</a:t>
            </a:r>
          </a:p>
        </p:txBody>
      </p:sp>
      <p:sp>
        <p:nvSpPr>
          <p:cNvPr id="150" name="이미지 공급과 배포 명령을 구분하고, 실제 관리 접속·인증 조건을 함께 검증합니다">
            <a:extLst xmlns:a="http://schemas.openxmlformats.org/drawingml/2006/main">
              <a:ext uri="{FF2B5EF4-FFF2-40B4-BE49-F238E27FC236}">
                <a16:creationId xmlns:a16="http://schemas.microsoft.com/office/drawing/2014/main" id="{AA638A50-8FB2-4A18-9957-766C79390E54}"/>
              </a:ext>
            </a:extLst>
          </p:cNvPr>
          <p:cNvSpPr>
            <a:spLocks xmlns:a="http://schemas.openxmlformats.org/drawingml/2006/main" noGrp="1"/>
          </p:cNvSpPr>
          <p:nvPr/>
        </p:nvSpPr>
        <p:spPr>
          <a:xfrm xmlns:a="http://schemas.openxmlformats.org/drawingml/2006/main">
            <a:off x="685800" y="10763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26675"/>
                </a:solidFill>
                <a:latin typeface="Malgun Gothic"/>
                <a:ea typeface="Malgun Gothic"/>
                <a:cs typeface="Malgun Gothic"/>
              </a:defRPr>
            </a:pPr>
            <a:r>
              <a:rPr sz="1400" b="0">
                <a:solidFill>
                  <a:srgbClr val="3D4C57"/>
                </a:solidFill>
                <a:latin typeface="Malgun Gothic"/>
                <a:ea typeface="Malgun Gothic"/>
                <a:cs typeface="Malgun Gothic"/>
              </a:rPr>
              <a:t>이미지 공급과 배포 명령을 구분하고, 실제 관리 접속·인증 조건을 함께 검증합니다</a:t>
            </a:r>
          </a:p>
        </p:txBody>
      </p:sp>
      <p:sp>
        <p:nvSpPr>
          <p:cNvPr id="151" name="부록  11">
            <a:extLst xmlns:a="http://schemas.openxmlformats.org/drawingml/2006/main">
              <a:ext uri="{FF2B5EF4-FFF2-40B4-BE49-F238E27FC236}">
                <a16:creationId xmlns:a16="http://schemas.microsoft.com/office/drawing/2014/main" id="{DC34CDCE-F276-4E14-BDFD-1D96ADB8D102}"/>
              </a:ext>
            </a:extLst>
          </p:cNvPr>
          <p:cNvSpPr>
            <a:spLocks xmlns:a="http://schemas.openxmlformats.org/drawingml/2006/main" noGrp="1"/>
          </p:cNvSpPr>
          <p:nvPr/>
        </p:nvSpPr>
        <p:spPr>
          <a:xfrm xmlns:a="http://schemas.openxmlformats.org/drawingml/2006/main">
            <a:off x="-27432000" y="-27432000"/>
            <a:ext cx="2240280" cy="2377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26675"/>
                </a:solidFill>
                <a:latin typeface="Malgun Gothic"/>
                <a:ea typeface="Malgun Gothic"/>
                <a:cs typeface="Malgun Gothic"/>
              </a:defRPr>
            </a:pPr>
            <a:r>
              <a:rPr sz="1200" b="0">
                <a:solidFill>
                  <a:srgbClr val="526675"/>
                </a:solidFill>
                <a:latin typeface="Malgun Gothic"/>
                <a:ea typeface="Malgun Gothic"/>
                <a:cs typeface="Malgun Gothic"/>
              </a:rPr>
              <a:t>부록  11</a:t>
            </a:r>
          </a:p>
        </p:txBody>
      </p:sp>
      <p:sp>
        <p:nvSpPr>
          <p:cNvPr id="152" name="">
            <a:extLst xmlns:a="http://schemas.openxmlformats.org/drawingml/2006/main">
              <a:ext uri="{FF2B5EF4-FFF2-40B4-BE49-F238E27FC236}">
                <a16:creationId xmlns:a16="http://schemas.microsoft.com/office/drawing/2014/main" id="{5777DD64-A0A4-492B-B4E9-978C813858F7}"/>
              </a:ext>
            </a:extLst>
          </p:cNvPr>
          <p:cNvSpPr>
            <a:spLocks xmlns:a="http://schemas.openxmlformats.org/drawingml/2006/main" noGrp="1"/>
          </p:cNvSpPr>
          <p:nvPr/>
        </p:nvSpPr>
        <p:spPr>
          <a:xfrm xmlns:a="http://schemas.openxmlformats.org/drawingml/2006/main">
            <a:off x="685800" y="2105025"/>
            <a:ext cx="2009775" cy="1514475"/>
          </a:xfrm>
          <a:prstGeom xmlns:a="http://schemas.openxmlformats.org/drawingml/2006/main" prst="rect">
            <a:avLst/>
          </a:prstGeom>
          <a:noFill xmlns:a="http://schemas.openxmlformats.org/drawingml/2006/main"/>
          <a:ln xmlns:a="http://schemas.openxmlformats.org/drawingml/2006/main" w="14288">
            <a:solidFill>
              <a:srgbClr val="0F6A6C"/>
            </a:solidFill>
            <a:prstDash val="solid"/>
          </a:ln>
        </p:spPr>
        <p:txBody xmlns:a="http://schemas.openxmlformats.org/drawingml/2006/main">
          <a:bodyPr/>
          <a:p/>
        </p:txBody>
      </p:sp>
      <p:sp>
        <p:nvSpPr>
          <p:cNvPr id="153" name="소스·변경 기록">
            <a:extLst xmlns:a="http://schemas.openxmlformats.org/drawingml/2006/main">
              <a:ext uri="{FF2B5EF4-FFF2-40B4-BE49-F238E27FC236}">
                <a16:creationId xmlns:a16="http://schemas.microsoft.com/office/drawing/2014/main" id="{9DC204BC-C720-43CA-8642-9FB89A9A86D0}"/>
              </a:ext>
            </a:extLst>
          </p:cNvPr>
          <p:cNvSpPr>
            <a:spLocks xmlns:a="http://schemas.openxmlformats.org/drawingml/2006/main" noGrp="1"/>
          </p:cNvSpPr>
          <p:nvPr/>
        </p:nvSpPr>
        <p:spPr>
          <a:xfrm xmlns:a="http://schemas.openxmlformats.org/drawingml/2006/main">
            <a:off x="1333500" y="2257425"/>
            <a:ext cx="1257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소스·변경 기록</a:t>
            </a:r>
          </a:p>
        </p:txBody>
      </p:sp>
      <p:sp>
        <p:nvSpPr>
          <p:cNvPr id="154" name="GitHub">
            <a:extLst xmlns:a="http://schemas.openxmlformats.org/drawingml/2006/main">
              <a:ext uri="{FF2B5EF4-FFF2-40B4-BE49-F238E27FC236}">
                <a16:creationId xmlns:a16="http://schemas.microsoft.com/office/drawing/2014/main" id="{1C67B5A6-21B6-4917-B971-FB568D2EC0F0}"/>
              </a:ext>
            </a:extLst>
          </p:cNvPr>
          <p:cNvSpPr>
            <a:spLocks xmlns:a="http://schemas.openxmlformats.org/drawingml/2006/main" noGrp="1"/>
          </p:cNvSpPr>
          <p:nvPr/>
        </p:nvSpPr>
        <p:spPr>
          <a:xfrm xmlns:a="http://schemas.openxmlformats.org/drawingml/2006/main">
            <a:off x="857250" y="2962275"/>
            <a:ext cx="1609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GitHub</a:t>
            </a:r>
          </a:p>
        </p:txBody>
      </p:sp>
      <p:sp>
        <p:nvSpPr>
          <p:cNvPr id="155" name="이권욱 총괄">
            <a:extLst xmlns:a="http://schemas.openxmlformats.org/drawingml/2006/main">
              <a:ext uri="{FF2B5EF4-FFF2-40B4-BE49-F238E27FC236}">
                <a16:creationId xmlns:a16="http://schemas.microsoft.com/office/drawing/2014/main" id="{558C5FDB-2FA2-4E3E-9C50-6B0BC638A9A3}"/>
              </a:ext>
            </a:extLst>
          </p:cNvPr>
          <p:cNvSpPr>
            <a:spLocks xmlns:a="http://schemas.openxmlformats.org/drawingml/2006/main" noGrp="1"/>
          </p:cNvSpPr>
          <p:nvPr/>
        </p:nvSpPr>
        <p:spPr>
          <a:xfrm xmlns:a="http://schemas.openxmlformats.org/drawingml/2006/main">
            <a:off x="857250" y="3314700"/>
            <a:ext cx="16097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42D40"/>
                </a:solidFill>
                <a:latin typeface="Malgun Gothic"/>
                <a:ea typeface="Malgun Gothic"/>
                <a:cs typeface="Malgun Gothic"/>
              </a:defRPr>
            </a:pPr>
            <a:r>
              <a:rPr sz="1100" b="0">
                <a:solidFill>
                  <a:srgbClr val="3D4C57"/>
                </a:solidFill>
                <a:latin typeface="Malgun Gothic"/>
                <a:ea typeface="Malgun Gothic"/>
                <a:cs typeface="Malgun Gothic"/>
              </a:rPr>
              <a:t>이권욱 총괄</a:t>
            </a:r>
          </a:p>
        </p:txBody>
      </p:sp>
      <p:sp>
        <p:nvSpPr>
          <p:cNvPr id="156" name="">
            <a:extLst xmlns:a="http://schemas.openxmlformats.org/drawingml/2006/main">
              <a:ext uri="{FF2B5EF4-FFF2-40B4-BE49-F238E27FC236}">
                <a16:creationId xmlns:a16="http://schemas.microsoft.com/office/drawing/2014/main" id="{4ED7BA2C-BF76-461D-B75F-E8E3EA53DAC8}"/>
              </a:ext>
            </a:extLst>
          </p:cNvPr>
          <p:cNvSpPr>
            <a:spLocks xmlns:a="http://schemas.openxmlformats.org/drawingml/2006/main" noGrp="1"/>
          </p:cNvSpPr>
          <p:nvPr/>
        </p:nvSpPr>
        <p:spPr>
          <a:xfrm xmlns:a="http://schemas.openxmlformats.org/drawingml/2006/main">
            <a:off x="3609975" y="2105025"/>
            <a:ext cx="2105025" cy="1514475"/>
          </a:xfrm>
          <a:prstGeom xmlns:a="http://schemas.openxmlformats.org/drawingml/2006/main" prst="rect">
            <a:avLst/>
          </a:prstGeom>
          <a:noFill xmlns:a="http://schemas.openxmlformats.org/drawingml/2006/main"/>
          <a:ln xmlns:a="http://schemas.openxmlformats.org/drawingml/2006/main" w="14288">
            <a:solidFill>
              <a:srgbClr val="0F6A6C"/>
            </a:solidFill>
            <a:prstDash val="solid"/>
          </a:ln>
        </p:spPr>
        <p:txBody xmlns:a="http://schemas.openxmlformats.org/drawingml/2006/main">
          <a:bodyPr/>
          <a:p/>
        </p:txBody>
      </p:sp>
      <p:sp>
        <p:nvSpPr>
          <p:cNvPr id="157" name="검사·이미지 생성">
            <a:extLst xmlns:a="http://schemas.openxmlformats.org/drawingml/2006/main">
              <a:ext uri="{FF2B5EF4-FFF2-40B4-BE49-F238E27FC236}">
                <a16:creationId xmlns:a16="http://schemas.microsoft.com/office/drawing/2014/main" id="{0C7326BD-900E-4BC2-B4DF-9B67DBBAB52B}"/>
              </a:ext>
            </a:extLst>
          </p:cNvPr>
          <p:cNvSpPr>
            <a:spLocks xmlns:a="http://schemas.openxmlformats.org/drawingml/2006/main" noGrp="1"/>
          </p:cNvSpPr>
          <p:nvPr/>
        </p:nvSpPr>
        <p:spPr>
          <a:xfrm xmlns:a="http://schemas.openxmlformats.org/drawingml/2006/main">
            <a:off x="4257675" y="2257425"/>
            <a:ext cx="13430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검사·이미지 생성</a:t>
            </a:r>
          </a:p>
        </p:txBody>
      </p:sp>
      <p:sp>
        <p:nvSpPr>
          <p:cNvPr id="158" name="Actions + Runner">
            <a:extLst xmlns:a="http://schemas.openxmlformats.org/drawingml/2006/main">
              <a:ext uri="{FF2B5EF4-FFF2-40B4-BE49-F238E27FC236}">
                <a16:creationId xmlns:a16="http://schemas.microsoft.com/office/drawing/2014/main" id="{EF03FDB1-8004-4FF2-BE9D-FFCEF0375CA6}"/>
              </a:ext>
            </a:extLst>
          </p:cNvPr>
          <p:cNvSpPr>
            <a:spLocks xmlns:a="http://schemas.openxmlformats.org/drawingml/2006/main" noGrp="1"/>
          </p:cNvSpPr>
          <p:nvPr/>
        </p:nvSpPr>
        <p:spPr>
          <a:xfrm xmlns:a="http://schemas.openxmlformats.org/drawingml/2006/main">
            <a:off x="3771900" y="2962275"/>
            <a:ext cx="1809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Actions + Runner</a:t>
            </a:r>
          </a:p>
        </p:txBody>
      </p:sp>
      <p:sp>
        <p:nvSpPr>
          <p:cNvPr id="159" name="이권욱 구현">
            <a:extLst xmlns:a="http://schemas.openxmlformats.org/drawingml/2006/main">
              <a:ext uri="{FF2B5EF4-FFF2-40B4-BE49-F238E27FC236}">
                <a16:creationId xmlns:a16="http://schemas.microsoft.com/office/drawing/2014/main" id="{F38332EF-26CB-4875-80D8-E53A1AAD82AA}"/>
              </a:ext>
            </a:extLst>
          </p:cNvPr>
          <p:cNvSpPr>
            <a:spLocks xmlns:a="http://schemas.openxmlformats.org/drawingml/2006/main" noGrp="1"/>
          </p:cNvSpPr>
          <p:nvPr/>
        </p:nvSpPr>
        <p:spPr>
          <a:xfrm xmlns:a="http://schemas.openxmlformats.org/drawingml/2006/main">
            <a:off x="3771900" y="331470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42D40"/>
                </a:solidFill>
                <a:latin typeface="Malgun Gothic"/>
                <a:ea typeface="Malgun Gothic"/>
                <a:cs typeface="Malgun Gothic"/>
              </a:defRPr>
            </a:pPr>
            <a:r>
              <a:rPr sz="1100" b="0">
                <a:solidFill>
                  <a:srgbClr val="3D4C57"/>
                </a:solidFill>
                <a:latin typeface="Malgun Gothic"/>
                <a:ea typeface="Malgun Gothic"/>
                <a:cs typeface="Malgun Gothic"/>
              </a:rPr>
              <a:t>이권욱 구현</a:t>
            </a:r>
          </a:p>
        </p:txBody>
      </p:sp>
      <p:sp>
        <p:nvSpPr>
          <p:cNvPr id="160" name="">
            <a:extLst xmlns:a="http://schemas.openxmlformats.org/drawingml/2006/main">
              <a:ext uri="{FF2B5EF4-FFF2-40B4-BE49-F238E27FC236}">
                <a16:creationId xmlns:a16="http://schemas.microsoft.com/office/drawing/2014/main" id="{D9CA9892-51EB-42B0-9010-9DA998B23496}"/>
              </a:ext>
            </a:extLst>
          </p:cNvPr>
          <p:cNvSpPr>
            <a:spLocks xmlns:a="http://schemas.openxmlformats.org/drawingml/2006/main" noGrp="1"/>
          </p:cNvSpPr>
          <p:nvPr/>
        </p:nvSpPr>
        <p:spPr>
          <a:xfrm xmlns:a="http://schemas.openxmlformats.org/drawingml/2006/main">
            <a:off x="6715125" y="2105025"/>
            <a:ext cx="2038350" cy="1514475"/>
          </a:xfrm>
          <a:prstGeom xmlns:a="http://schemas.openxmlformats.org/drawingml/2006/main" prst="rect">
            <a:avLst/>
          </a:prstGeom>
          <a:noFill xmlns:a="http://schemas.openxmlformats.org/drawingml/2006/main"/>
          <a:ln xmlns:a="http://schemas.openxmlformats.org/drawingml/2006/main" w="14288">
            <a:solidFill>
              <a:srgbClr val="0F6A6C"/>
            </a:solidFill>
            <a:prstDash val="solid"/>
          </a:ln>
        </p:spPr>
        <p:txBody xmlns:a="http://schemas.openxmlformats.org/drawingml/2006/main">
          <a:bodyPr/>
          <a:p/>
        </p:txBody>
      </p:sp>
      <p:sp>
        <p:nvSpPr>
          <p:cNvPr id="161" name="이미지 저장소">
            <a:extLst xmlns:a="http://schemas.openxmlformats.org/drawingml/2006/main">
              <a:ext uri="{FF2B5EF4-FFF2-40B4-BE49-F238E27FC236}">
                <a16:creationId xmlns:a16="http://schemas.microsoft.com/office/drawing/2014/main" id="{48818922-19AE-4244-9090-11047D79D607}"/>
              </a:ext>
            </a:extLst>
          </p:cNvPr>
          <p:cNvSpPr>
            <a:spLocks xmlns:a="http://schemas.openxmlformats.org/drawingml/2006/main" noGrp="1"/>
          </p:cNvSpPr>
          <p:nvPr/>
        </p:nvSpPr>
        <p:spPr>
          <a:xfrm xmlns:a="http://schemas.openxmlformats.org/drawingml/2006/main">
            <a:off x="7381875" y="2257425"/>
            <a:ext cx="12668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이미지 저장소</a:t>
            </a:r>
          </a:p>
        </p:txBody>
      </p:sp>
      <p:sp>
        <p:nvSpPr>
          <p:cNvPr id="162" name="Harbor 재사용 후보">
            <a:extLst xmlns:a="http://schemas.openxmlformats.org/drawingml/2006/main">
              <a:ext uri="{FF2B5EF4-FFF2-40B4-BE49-F238E27FC236}">
                <a16:creationId xmlns:a16="http://schemas.microsoft.com/office/drawing/2014/main" id="{381F1C62-A400-4579-AEA9-1F32DE14F728}"/>
              </a:ext>
            </a:extLst>
          </p:cNvPr>
          <p:cNvSpPr>
            <a:spLocks xmlns:a="http://schemas.openxmlformats.org/drawingml/2006/main" noGrp="1"/>
          </p:cNvSpPr>
          <p:nvPr/>
        </p:nvSpPr>
        <p:spPr>
          <a:xfrm xmlns:a="http://schemas.openxmlformats.org/drawingml/2006/main">
            <a:off x="6867525" y="2905125"/>
            <a:ext cx="1752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9A651A"/>
                </a:solidFill>
                <a:latin typeface="Malgun Gothic"/>
                <a:ea typeface="Malgun Gothic"/>
                <a:cs typeface="Malgun Gothic"/>
              </a:defRPr>
            </a:pPr>
            <a:r>
              <a:rPr sz="1100" b="0">
                <a:solidFill>
                  <a:srgbClr val="3D4C57"/>
                </a:solidFill>
                <a:latin typeface="Malgun Gothic"/>
                <a:ea typeface="Malgun Gothic"/>
                <a:cs typeface="Malgun Gothic"/>
              </a:rPr>
              <a:t>Harbor 재사용 후보</a:t>
            </a:r>
          </a:p>
        </p:txBody>
      </p:sp>
      <p:sp>
        <p:nvSpPr>
          <p:cNvPr id="163" name="선택 이권욱">
            <a:extLst xmlns:a="http://schemas.openxmlformats.org/drawingml/2006/main">
              <a:ext uri="{FF2B5EF4-FFF2-40B4-BE49-F238E27FC236}">
                <a16:creationId xmlns:a16="http://schemas.microsoft.com/office/drawing/2014/main" id="{2DFAD256-8548-46D3-A7AE-81C6103F0F59}"/>
              </a:ext>
            </a:extLst>
          </p:cNvPr>
          <p:cNvSpPr>
            <a:spLocks xmlns:a="http://schemas.openxmlformats.org/drawingml/2006/main" noGrp="1"/>
          </p:cNvSpPr>
          <p:nvPr/>
        </p:nvSpPr>
        <p:spPr>
          <a:xfrm xmlns:a="http://schemas.openxmlformats.org/drawingml/2006/main">
            <a:off x="6867525" y="3190875"/>
            <a:ext cx="1752600" cy="5097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526675"/>
                </a:solidFill>
                <a:latin typeface="Malgun Gothic"/>
                <a:ea typeface="Malgun Gothic"/>
                <a:cs typeface="Malgun Gothic"/>
              </a:defRPr>
            </a:pPr>
            <a:r>
              <a:rPr sz="1275" b="0">
                <a:solidFill>
                  <a:srgbClr val="526675"/>
                </a:solidFill>
                <a:latin typeface="Malgun Gothic"/>
                <a:ea typeface="Malgun Gothic"/>
                <a:cs typeface="Malgun Gothic"/>
              </a:rPr>
              <a:t>선택 이권욱</a:t>
            </a:r>
          </a:p>
          <a:p xmlns:a="http://schemas.openxmlformats.org/drawingml/2006/main">
            <a:pPr algn="l">
              <a:buNone/>
              <a:defRPr sz="1275" b="0">
                <a:solidFill>
                  <a:srgbClr val="526675"/>
                </a:solidFill>
                <a:latin typeface="Malgun Gothic"/>
                <a:ea typeface="Malgun Gothic"/>
                <a:cs typeface="Malgun Gothic"/>
              </a:defRPr>
            </a:pPr>
            <a:r>
              <a:rPr sz="1275" b="0">
                <a:solidFill>
                  <a:srgbClr val="526675"/>
                </a:solidFill>
                <a:latin typeface="Malgun Gothic"/>
                <a:ea typeface="Malgun Gothic"/>
                <a:cs typeface="Malgun Gothic"/>
              </a:rPr>
              <a:t>연계 이하영</a:t>
            </a:r>
          </a:p>
        </p:txBody>
      </p:sp>
      <p:sp>
        <p:nvSpPr>
          <p:cNvPr id="164" name="">
            <a:extLst xmlns:a="http://schemas.openxmlformats.org/drawingml/2006/main">
              <a:ext uri="{FF2B5EF4-FFF2-40B4-BE49-F238E27FC236}">
                <a16:creationId xmlns:a16="http://schemas.microsoft.com/office/drawing/2014/main" id="{C9AFCB79-EBE8-4D13-9CC0-3549A1837791}"/>
              </a:ext>
            </a:extLst>
          </p:cNvPr>
          <p:cNvSpPr>
            <a:spLocks xmlns:a="http://schemas.openxmlformats.org/drawingml/2006/main" noGrp="1"/>
          </p:cNvSpPr>
          <p:nvPr/>
        </p:nvSpPr>
        <p:spPr>
          <a:xfrm xmlns:a="http://schemas.openxmlformats.org/drawingml/2006/main">
            <a:off x="9763125" y="2105025"/>
            <a:ext cx="1743075" cy="1514475"/>
          </a:xfrm>
          <a:prstGeom xmlns:a="http://schemas.openxmlformats.org/drawingml/2006/main" prst="rect">
            <a:avLst/>
          </a:prstGeom>
          <a:noFill xmlns:a="http://schemas.openxmlformats.org/drawingml/2006/main"/>
          <a:ln xmlns:a="http://schemas.openxmlformats.org/drawingml/2006/main" w="14288">
            <a:solidFill>
              <a:srgbClr val="0F6A6C"/>
            </a:solidFill>
            <a:prstDash val="solid"/>
          </a:ln>
        </p:spPr>
        <p:txBody xmlns:a="http://schemas.openxmlformats.org/drawingml/2006/main">
          <a:bodyPr/>
          <a:p/>
        </p:txBody>
      </p:sp>
      <p:sp>
        <p:nvSpPr>
          <p:cNvPr id="165" name="업무 실행">
            <a:extLst xmlns:a="http://schemas.openxmlformats.org/drawingml/2006/main">
              <a:ext uri="{FF2B5EF4-FFF2-40B4-BE49-F238E27FC236}">
                <a16:creationId xmlns:a16="http://schemas.microsoft.com/office/drawing/2014/main" id="{B53F40B0-8351-491F-B99C-F10B22C90386}"/>
              </a:ext>
            </a:extLst>
          </p:cNvPr>
          <p:cNvSpPr>
            <a:spLocks xmlns:a="http://schemas.openxmlformats.org/drawingml/2006/main" noGrp="1"/>
          </p:cNvSpPr>
          <p:nvPr/>
        </p:nvSpPr>
        <p:spPr>
          <a:xfrm xmlns:a="http://schemas.openxmlformats.org/drawingml/2006/main">
            <a:off x="10353675" y="2257425"/>
            <a:ext cx="10572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업무 실행</a:t>
            </a:r>
          </a:p>
        </p:txBody>
      </p:sp>
      <p:sp>
        <p:nvSpPr>
          <p:cNvPr id="166" name="ROSA">
            <a:extLst xmlns:a="http://schemas.openxmlformats.org/drawingml/2006/main">
              <a:ext uri="{FF2B5EF4-FFF2-40B4-BE49-F238E27FC236}">
                <a16:creationId xmlns:a16="http://schemas.microsoft.com/office/drawing/2014/main" id="{BDB8A31B-53DA-4A77-AEEB-C0A247A83B4C}"/>
              </a:ext>
            </a:extLst>
          </p:cNvPr>
          <p:cNvSpPr>
            <a:spLocks xmlns:a="http://schemas.openxmlformats.org/drawingml/2006/main" noGrp="1"/>
          </p:cNvSpPr>
          <p:nvPr/>
        </p:nvSpPr>
        <p:spPr>
          <a:xfrm xmlns:a="http://schemas.openxmlformats.org/drawingml/2006/main">
            <a:off x="9925050" y="2886075"/>
            <a:ext cx="1466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ROSA</a:t>
            </a:r>
          </a:p>
        </p:txBody>
      </p:sp>
      <p:sp>
        <p:nvSpPr>
          <p:cNvPr id="167" name="플랫폼 이하영">
            <a:extLst xmlns:a="http://schemas.openxmlformats.org/drawingml/2006/main">
              <a:ext uri="{FF2B5EF4-FFF2-40B4-BE49-F238E27FC236}">
                <a16:creationId xmlns:a16="http://schemas.microsoft.com/office/drawing/2014/main" id="{B975DA5E-2C52-40E9-A276-26CDF429BE62}"/>
              </a:ext>
            </a:extLst>
          </p:cNvPr>
          <p:cNvSpPr>
            <a:spLocks xmlns:a="http://schemas.openxmlformats.org/drawingml/2006/main" noGrp="1"/>
          </p:cNvSpPr>
          <p:nvPr/>
        </p:nvSpPr>
        <p:spPr>
          <a:xfrm xmlns:a="http://schemas.openxmlformats.org/drawingml/2006/main">
            <a:off x="9925050" y="3190875"/>
            <a:ext cx="1466850" cy="5097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526675"/>
                </a:solidFill>
                <a:latin typeface="Malgun Gothic"/>
                <a:ea typeface="Malgun Gothic"/>
                <a:cs typeface="Malgun Gothic"/>
              </a:defRPr>
            </a:pPr>
            <a:r>
              <a:rPr sz="1275" b="0">
                <a:solidFill>
                  <a:srgbClr val="526675"/>
                </a:solidFill>
                <a:latin typeface="Malgun Gothic"/>
                <a:ea typeface="Malgun Gothic"/>
                <a:cs typeface="Malgun Gothic"/>
              </a:rPr>
              <a:t>플랫폼 이하영</a:t>
            </a:r>
          </a:p>
          <a:p xmlns:a="http://schemas.openxmlformats.org/drawingml/2006/main">
            <a:pPr algn="l">
              <a:buNone/>
              <a:defRPr sz="1275" b="0">
                <a:solidFill>
                  <a:srgbClr val="526675"/>
                </a:solidFill>
                <a:latin typeface="Malgun Gothic"/>
                <a:ea typeface="Malgun Gothic"/>
                <a:cs typeface="Malgun Gothic"/>
              </a:defRPr>
            </a:pPr>
            <a:r>
              <a:rPr sz="1275" b="0">
                <a:solidFill>
                  <a:srgbClr val="526675"/>
                </a:solidFill>
                <a:latin typeface="Malgun Gothic"/>
                <a:ea typeface="Malgun Gothic"/>
                <a:cs typeface="Malgun Gothic"/>
              </a:rPr>
              <a:t>앱 이재환</a:t>
            </a:r>
          </a:p>
        </p:txBody>
      </p:sp>
      <p:cxnSp>
        <p:nvCxnSpPr>
          <p:cNvPr id="258" name=""/>
          <p:cNvCxnSpPr>
            <a:stCxn xmlns:a="http://schemas.openxmlformats.org/drawingml/2006/main" id="152" idx="3"/>
            <a:endCxn xmlns:a="http://schemas.openxmlformats.org/drawingml/2006/main" id="156" idx="1"/>
          </p:cNvCxnSpPr>
          <p:nvPr/>
        </p:nvCxnSpPr>
        <p:spPr>
          <a:xfrm xmlns:a="http://schemas.openxmlformats.org/drawingml/2006/main">
            <a:off x="2695575" y="2862263"/>
            <a:ext cx="914400" cy="0"/>
          </a:xfrm>
          <a:prstGeom xmlns:a="http://schemas.openxmlformats.org/drawingml/2006/main" prst="straightConnector1">
            <a:avLst/>
          </a:prstGeom>
          <a:ln xmlns:a="http://schemas.openxmlformats.org/drawingml/2006/main" w="23813">
            <a:solidFill>
              <a:srgbClr val="2674B8"/>
            </a:solidFill>
            <a:prstDash val="solid"/>
            <a:tailEnd type="triangle" w="sm" len="sm"/>
          </a:ln>
        </p:spPr>
      </p:cxnSp>
      <p:cxnSp>
        <p:nvCxnSpPr>
          <p:cNvPr id="259" name=""/>
          <p:cNvCxnSpPr>
            <a:stCxn xmlns:a="http://schemas.openxmlformats.org/drawingml/2006/main" id="156" idx="3"/>
            <a:endCxn xmlns:a="http://schemas.openxmlformats.org/drawingml/2006/main" id="160" idx="1"/>
          </p:cNvCxnSpPr>
          <p:nvPr/>
        </p:nvCxnSpPr>
        <p:spPr>
          <a:xfrm xmlns:a="http://schemas.openxmlformats.org/drawingml/2006/main">
            <a:off x="5715000" y="2862263"/>
            <a:ext cx="1000125" cy="0"/>
          </a:xfrm>
          <a:prstGeom xmlns:a="http://schemas.openxmlformats.org/drawingml/2006/main" prst="straightConnector1">
            <a:avLst/>
          </a:prstGeom>
          <a:ln xmlns:a="http://schemas.openxmlformats.org/drawingml/2006/main" w="23813">
            <a:solidFill>
              <a:srgbClr val="2674B8"/>
            </a:solidFill>
            <a:prstDash val="solid"/>
            <a:tailEnd type="triangle" w="sm" len="sm"/>
          </a:ln>
        </p:spPr>
      </p:cxnSp>
      <p:cxnSp>
        <p:nvCxnSpPr>
          <p:cNvPr id="260" name=""/>
          <p:cNvCxnSpPr>
            <a:stCxn xmlns:a="http://schemas.openxmlformats.org/drawingml/2006/main" id="160" idx="3"/>
            <a:endCxn xmlns:a="http://schemas.openxmlformats.org/drawingml/2006/main" id="164" idx="1"/>
          </p:cNvCxnSpPr>
          <p:nvPr/>
        </p:nvCxnSpPr>
        <p:spPr>
          <a:xfrm xmlns:a="http://schemas.openxmlformats.org/drawingml/2006/main">
            <a:off x="8753475" y="2862263"/>
            <a:ext cx="1009650" cy="0"/>
          </a:xfrm>
          <a:prstGeom xmlns:a="http://schemas.openxmlformats.org/drawingml/2006/main" prst="straightConnector1">
            <a:avLst/>
          </a:prstGeom>
          <a:ln xmlns:a="http://schemas.openxmlformats.org/drawingml/2006/main" w="23813">
            <a:solidFill>
              <a:srgbClr val="2674B8"/>
            </a:solidFill>
            <a:prstDash val="solid"/>
            <a:tailEnd type="triangle" w="sm" len="sm"/>
          </a:ln>
        </p:spPr>
      </p:cxnSp>
      <p:cxnSp>
        <p:nvCxnSpPr>
          <p:cNvPr id="261" name=""/>
          <p:cNvCxnSpPr>
            <a:stCxn xmlns:a="http://schemas.openxmlformats.org/drawingml/2006/main" id="156" idx="2"/>
            <a:endCxn xmlns:a="http://schemas.openxmlformats.org/drawingml/2006/main" id="164" idx="2"/>
          </p:cNvCxnSpPr>
          <p:nvPr/>
        </p:nvCxnSpPr>
        <p:spPr>
          <a:xfrm xmlns:a="http://schemas.openxmlformats.org/drawingml/2006/main">
            <a:off x="4662488" y="3619500"/>
            <a:ext cx="5972175" cy="228600"/>
          </a:xfrm>
          <a:prstGeom xmlns:a="http://schemas.openxmlformats.org/drawingml/2006/main" prst="bentConnector4">
            <a:avLst/>
          </a:prstGeom>
          <a:ln xmlns:a="http://schemas.openxmlformats.org/drawingml/2006/main" w="23813">
            <a:solidFill>
              <a:srgbClr val="0F6A6C"/>
            </a:solidFill>
            <a:prstDash val="solid"/>
            <a:tailEnd type="triangle" w="sm" len="sm"/>
          </a:ln>
        </p:spPr>
      </p:cxnSp>
      <p:sp>
        <p:nvSpPr>
          <p:cNvPr id="172" name="변경 입력">
            <a:extLst xmlns:a="http://schemas.openxmlformats.org/drawingml/2006/main">
              <a:ext uri="{FF2B5EF4-FFF2-40B4-BE49-F238E27FC236}">
                <a16:creationId xmlns:a16="http://schemas.microsoft.com/office/drawing/2014/main" id="{ED992FE2-09EB-48C9-9710-C13D5D9ADAD5}"/>
              </a:ext>
            </a:extLst>
          </p:cNvPr>
          <p:cNvSpPr>
            <a:spLocks xmlns:a="http://schemas.openxmlformats.org/drawingml/2006/main" noGrp="1"/>
          </p:cNvSpPr>
          <p:nvPr/>
        </p:nvSpPr>
        <p:spPr>
          <a:xfrm xmlns:a="http://schemas.openxmlformats.org/drawingml/2006/main">
            <a:off x="2705100" y="2290572"/>
            <a:ext cx="8953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2674B8"/>
                </a:solidFill>
                <a:latin typeface="Malgun Gothic"/>
                <a:ea typeface="Malgun Gothic"/>
                <a:cs typeface="Malgun Gothic"/>
              </a:defRPr>
            </a:pPr>
            <a:r>
              <a:rPr sz="1100" b="0">
                <a:solidFill>
                  <a:srgbClr val="3D4C57"/>
                </a:solidFill>
                <a:latin typeface="Malgun Gothic"/>
                <a:ea typeface="Malgun Gothic"/>
                <a:cs typeface="Malgun Gothic"/>
              </a:rPr>
              <a:t>변경 입력</a:t>
            </a:r>
          </a:p>
        </p:txBody>
      </p:sp>
      <p:sp>
        <p:nvSpPr>
          <p:cNvPr id="173" name="검사 후 등록">
            <a:extLst xmlns:a="http://schemas.openxmlformats.org/drawingml/2006/main">
              <a:ext uri="{FF2B5EF4-FFF2-40B4-BE49-F238E27FC236}">
                <a16:creationId xmlns:a16="http://schemas.microsoft.com/office/drawing/2014/main" id="{26999A5A-459E-4565-86DE-F25AED7AB4D7}"/>
              </a:ext>
            </a:extLst>
          </p:cNvPr>
          <p:cNvSpPr>
            <a:spLocks xmlns:a="http://schemas.openxmlformats.org/drawingml/2006/main" noGrp="1"/>
          </p:cNvSpPr>
          <p:nvPr/>
        </p:nvSpPr>
        <p:spPr>
          <a:xfrm xmlns:a="http://schemas.openxmlformats.org/drawingml/2006/main">
            <a:off x="5734050" y="2290572"/>
            <a:ext cx="9715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2674B8"/>
                </a:solidFill>
                <a:latin typeface="Malgun Gothic"/>
                <a:ea typeface="Malgun Gothic"/>
                <a:cs typeface="Malgun Gothic"/>
              </a:defRPr>
            </a:pPr>
            <a:r>
              <a:rPr sz="1100" b="0">
                <a:solidFill>
                  <a:srgbClr val="3D4C57"/>
                </a:solidFill>
                <a:latin typeface="Malgun Gothic"/>
                <a:ea typeface="Malgun Gothic"/>
                <a:cs typeface="Malgun Gothic"/>
              </a:rPr>
              <a:t>검사 후 등록</a:t>
            </a:r>
          </a:p>
        </p:txBody>
      </p:sp>
      <p:sp>
        <p:nvSpPr>
          <p:cNvPr id="174" name="이미지 공급">
            <a:extLst xmlns:a="http://schemas.openxmlformats.org/drawingml/2006/main">
              <a:ext uri="{FF2B5EF4-FFF2-40B4-BE49-F238E27FC236}">
                <a16:creationId xmlns:a16="http://schemas.microsoft.com/office/drawing/2014/main" id="{C9C52C69-A3DC-43DB-9A7B-9E02B3B6EE02}"/>
              </a:ext>
            </a:extLst>
          </p:cNvPr>
          <p:cNvSpPr>
            <a:spLocks xmlns:a="http://schemas.openxmlformats.org/drawingml/2006/main" noGrp="1"/>
          </p:cNvSpPr>
          <p:nvPr/>
        </p:nvSpPr>
        <p:spPr>
          <a:xfrm xmlns:a="http://schemas.openxmlformats.org/drawingml/2006/main">
            <a:off x="8772525" y="2290572"/>
            <a:ext cx="981075"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2674B8"/>
                </a:solidFill>
                <a:latin typeface="Malgun Gothic"/>
                <a:ea typeface="Malgun Gothic"/>
                <a:cs typeface="Malgun Gothic"/>
              </a:defRPr>
            </a:pPr>
            <a:r>
              <a:rPr sz="1100" b="0">
                <a:solidFill>
                  <a:srgbClr val="3D4C57"/>
                </a:solidFill>
                <a:latin typeface="Malgun Gothic"/>
                <a:ea typeface="Malgun Gothic"/>
                <a:cs typeface="Malgun Gothic"/>
              </a:rPr>
              <a:t>이미지 공급</a:t>
            </a:r>
          </a:p>
        </p:txBody>
      </p:sp>
      <p:sp>
        <p:nvSpPr>
          <p:cNvPr id="175" name="Runner 직접 배포·복구: 정상 배포 / 검사 실패 차단 / 이전 승인 이미지 복구">
            <a:extLst xmlns:a="http://schemas.openxmlformats.org/drawingml/2006/main">
              <a:ext uri="{FF2B5EF4-FFF2-40B4-BE49-F238E27FC236}">
                <a16:creationId xmlns:a16="http://schemas.microsoft.com/office/drawing/2014/main" id="{7C2DF3E0-C768-4AF5-98D0-D38A22792B4D}"/>
              </a:ext>
            </a:extLst>
          </p:cNvPr>
          <p:cNvSpPr>
            <a:spLocks xmlns:a="http://schemas.openxmlformats.org/drawingml/2006/main" noGrp="1"/>
          </p:cNvSpPr>
          <p:nvPr/>
        </p:nvSpPr>
        <p:spPr>
          <a:xfrm xmlns:a="http://schemas.openxmlformats.org/drawingml/2006/main">
            <a:off x="2695575" y="4229100"/>
            <a:ext cx="8743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25" b="1">
                <a:solidFill>
                  <a:srgbClr val="0F6A6C"/>
                </a:solidFill>
                <a:latin typeface="Malgun Gothic"/>
                <a:ea typeface="Malgun Gothic"/>
                <a:cs typeface="Malgun Gothic"/>
              </a:defRPr>
            </a:pPr>
            <a:r>
              <a:rPr sz="1725" b="1">
                <a:solidFill>
                  <a:srgbClr val="0F6A6C"/>
                </a:solidFill>
                <a:latin typeface="Malgun Gothic"/>
                <a:ea typeface="Malgun Gothic"/>
                <a:cs typeface="Malgun Gothic"/>
              </a:rPr>
              <a:t>Runner 직접 배포·복구: 정상 배포 / 검사 실패 차단 / 이전 승인 이미지 복구</a:t>
            </a:r>
          </a:p>
        </p:txBody>
      </p:sp>
      <p:sp>
        <p:nvSpPr>
          <p:cNvPr id="176" name="">
            <a:extLst xmlns:a="http://schemas.openxmlformats.org/drawingml/2006/main">
              <a:ext uri="{FF2B5EF4-FFF2-40B4-BE49-F238E27FC236}">
                <a16:creationId xmlns:a16="http://schemas.microsoft.com/office/drawing/2014/main" id="{BF6DE3F2-42FE-4C93-B7EC-7FE9717E1663}"/>
              </a:ext>
            </a:extLst>
          </p:cNvPr>
          <p:cNvSpPr>
            <a:spLocks xmlns:a="http://schemas.openxmlformats.org/drawingml/2006/main" noGrp="1"/>
          </p:cNvSpPr>
          <p:nvPr/>
        </p:nvSpPr>
        <p:spPr>
          <a:xfrm xmlns:a="http://schemas.openxmlformats.org/drawingml/2006/main">
            <a:off x="685800" y="5105400"/>
            <a:ext cx="2495550" cy="714375"/>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77" name="필수 이름 조회(DNS)">
            <a:extLst xmlns:a="http://schemas.openxmlformats.org/drawingml/2006/main">
              <a:ext uri="{FF2B5EF4-FFF2-40B4-BE49-F238E27FC236}">
                <a16:creationId xmlns:a16="http://schemas.microsoft.com/office/drawing/2014/main" id="{AFFAE425-28BF-459C-8396-A9F457286EA3}"/>
              </a:ext>
            </a:extLst>
          </p:cNvPr>
          <p:cNvSpPr>
            <a:spLocks xmlns:a="http://schemas.openxmlformats.org/drawingml/2006/main" noGrp="1"/>
          </p:cNvSpPr>
          <p:nvPr/>
        </p:nvSpPr>
        <p:spPr>
          <a:xfrm xmlns:a="http://schemas.openxmlformats.org/drawingml/2006/main">
            <a:off x="819150" y="5172075"/>
            <a:ext cx="222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필수 이름 조회(DNS)</a:t>
            </a:r>
          </a:p>
        </p:txBody>
      </p:sp>
      <p:sp>
        <p:nvSpPr>
          <p:cNvPr id="178" name="최소 허용 범위 · 이권욱">
            <a:extLst xmlns:a="http://schemas.openxmlformats.org/drawingml/2006/main">
              <a:ext uri="{FF2B5EF4-FFF2-40B4-BE49-F238E27FC236}">
                <a16:creationId xmlns:a16="http://schemas.microsoft.com/office/drawing/2014/main" id="{FB834790-CAB4-4E48-8EEE-C1F7F7DDD3A5}"/>
              </a:ext>
            </a:extLst>
          </p:cNvPr>
          <p:cNvSpPr>
            <a:spLocks xmlns:a="http://schemas.openxmlformats.org/drawingml/2006/main" noGrp="1"/>
          </p:cNvSpPr>
          <p:nvPr/>
        </p:nvSpPr>
        <p:spPr>
          <a:xfrm xmlns:a="http://schemas.openxmlformats.org/drawingml/2006/main">
            <a:off x="819150" y="5534025"/>
            <a:ext cx="2228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최소 허용 범위 · 이권욱</a:t>
            </a:r>
          </a:p>
        </p:txBody>
      </p:sp>
      <p:sp>
        <p:nvSpPr>
          <p:cNvPr id="179" name="">
            <a:extLst xmlns:a="http://schemas.openxmlformats.org/drawingml/2006/main">
              <a:ext uri="{FF2B5EF4-FFF2-40B4-BE49-F238E27FC236}">
                <a16:creationId xmlns:a16="http://schemas.microsoft.com/office/drawing/2014/main" id="{A1F9590A-7EAD-4E4C-BAB1-A9B323BE0D37}"/>
              </a:ext>
            </a:extLst>
          </p:cNvPr>
          <p:cNvSpPr>
            <a:spLocks xmlns:a="http://schemas.openxmlformats.org/drawingml/2006/main" noGrp="1"/>
          </p:cNvSpPr>
          <p:nvPr/>
        </p:nvSpPr>
        <p:spPr>
          <a:xfrm xmlns:a="http://schemas.openxmlformats.org/drawingml/2006/main">
            <a:off x="4000500" y="5105400"/>
            <a:ext cx="2552700" cy="714375"/>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80" name="배포 서버 관리망">
            <a:extLst xmlns:a="http://schemas.openxmlformats.org/drawingml/2006/main">
              <a:ext uri="{FF2B5EF4-FFF2-40B4-BE49-F238E27FC236}">
                <a16:creationId xmlns:a16="http://schemas.microsoft.com/office/drawing/2014/main" id="{A00CD596-87E9-435C-9D7E-7C3959BCD117}"/>
              </a:ext>
            </a:extLst>
          </p:cNvPr>
          <p:cNvSpPr>
            <a:spLocks xmlns:a="http://schemas.openxmlformats.org/drawingml/2006/main" noGrp="1"/>
          </p:cNvSpPr>
          <p:nvPr/>
        </p:nvSpPr>
        <p:spPr>
          <a:xfrm xmlns:a="http://schemas.openxmlformats.org/drawingml/2006/main">
            <a:off x="4133850" y="51720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배포 서버 관리망</a:t>
            </a:r>
          </a:p>
        </p:txBody>
      </p:sp>
      <p:sp>
        <p:nvSpPr>
          <p:cNvPr id="181" name="10.250.10.20">
            <a:extLst xmlns:a="http://schemas.openxmlformats.org/drawingml/2006/main">
              <a:ext uri="{FF2B5EF4-FFF2-40B4-BE49-F238E27FC236}">
                <a16:creationId xmlns:a16="http://schemas.microsoft.com/office/drawing/2014/main" id="{020719D6-16A9-4BA7-9342-9ECF8DAC1142}"/>
              </a:ext>
            </a:extLst>
          </p:cNvPr>
          <p:cNvSpPr>
            <a:spLocks xmlns:a="http://schemas.openxmlformats.org/drawingml/2006/main" noGrp="1"/>
          </p:cNvSpPr>
          <p:nvPr/>
        </p:nvSpPr>
        <p:spPr>
          <a:xfrm xmlns:a="http://schemas.openxmlformats.org/drawingml/2006/main">
            <a:off x="4133850" y="5534025"/>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10.250.10.20</a:t>
            </a:r>
          </a:p>
        </p:txBody>
      </p:sp>
      <p:sp>
        <p:nvSpPr>
          <p:cNvPr id="182" name="">
            <a:extLst xmlns:a="http://schemas.openxmlformats.org/drawingml/2006/main">
              <a:ext uri="{FF2B5EF4-FFF2-40B4-BE49-F238E27FC236}">
                <a16:creationId xmlns:a16="http://schemas.microsoft.com/office/drawing/2014/main" id="{EBD250BC-9F4F-4DE0-ADED-55D4267C99F0}"/>
              </a:ext>
            </a:extLst>
          </p:cNvPr>
          <p:cNvSpPr>
            <a:spLocks xmlns:a="http://schemas.openxmlformats.org/drawingml/2006/main" noGrp="1"/>
          </p:cNvSpPr>
          <p:nvPr/>
        </p:nvSpPr>
        <p:spPr>
          <a:xfrm xmlns:a="http://schemas.openxmlformats.org/drawingml/2006/main">
            <a:off x="9048750" y="5105400"/>
            <a:ext cx="2457450" cy="714375"/>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83" name="ROSA 관리 접속">
            <a:extLst xmlns:a="http://schemas.openxmlformats.org/drawingml/2006/main">
              <a:ext uri="{FF2B5EF4-FFF2-40B4-BE49-F238E27FC236}">
                <a16:creationId xmlns:a16="http://schemas.microsoft.com/office/drawing/2014/main" id="{E3E4F561-C100-499E-94C2-02A92D953D56}"/>
              </a:ext>
            </a:extLst>
          </p:cNvPr>
          <p:cNvSpPr>
            <a:spLocks xmlns:a="http://schemas.openxmlformats.org/drawingml/2006/main" noGrp="1"/>
          </p:cNvSpPr>
          <p:nvPr/>
        </p:nvSpPr>
        <p:spPr>
          <a:xfrm xmlns:a="http://schemas.openxmlformats.org/drawingml/2006/main">
            <a:off x="9182100" y="5172075"/>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ROSA 관리 접속</a:t>
            </a:r>
          </a:p>
        </p:txBody>
      </p:sp>
      <p:sp>
        <p:nvSpPr>
          <p:cNvPr id="184" name="내부 관리 API">
            <a:extLst xmlns:a="http://schemas.openxmlformats.org/drawingml/2006/main">
              <a:ext uri="{FF2B5EF4-FFF2-40B4-BE49-F238E27FC236}">
                <a16:creationId xmlns:a16="http://schemas.microsoft.com/office/drawing/2014/main" id="{4E3A1FC7-088D-4C80-B4D7-6F90D0BEE811}"/>
              </a:ext>
            </a:extLst>
          </p:cNvPr>
          <p:cNvSpPr>
            <a:spLocks xmlns:a="http://schemas.openxmlformats.org/drawingml/2006/main" noGrp="1"/>
          </p:cNvSpPr>
          <p:nvPr/>
        </p:nvSpPr>
        <p:spPr>
          <a:xfrm xmlns:a="http://schemas.openxmlformats.org/drawingml/2006/main">
            <a:off x="9182100" y="553402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내부 관리 API</a:t>
            </a:r>
          </a:p>
        </p:txBody>
      </p:sp>
      <p:cxnSp>
        <p:nvCxnSpPr>
          <p:cNvPr id="275" name=""/>
          <p:cNvCxnSpPr>
            <a:stCxn xmlns:a="http://schemas.openxmlformats.org/drawingml/2006/main" id="176" idx="3"/>
            <a:endCxn xmlns:a="http://schemas.openxmlformats.org/drawingml/2006/main" id="179" idx="1"/>
          </p:cNvCxnSpPr>
          <p:nvPr/>
        </p:nvCxnSpPr>
        <p:spPr>
          <a:xfrm xmlns:a="http://schemas.openxmlformats.org/drawingml/2006/main">
            <a:off x="3181350" y="5462588"/>
            <a:ext cx="819150" cy="0"/>
          </a:xfrm>
          <a:prstGeom xmlns:a="http://schemas.openxmlformats.org/drawingml/2006/main" prst="straightConnector1">
            <a:avLst/>
          </a:prstGeom>
          <a:ln xmlns:a="http://schemas.openxmlformats.org/drawingml/2006/main" w="23813">
            <a:solidFill>
              <a:srgbClr val="0F6A6C"/>
            </a:solidFill>
            <a:prstDash val="dash"/>
            <a:headEnd type="triangle" w="sm" len="sm"/>
            <a:tailEnd type="triangle" w="sm" len="sm"/>
          </a:ln>
        </p:spPr>
      </p:cxnSp>
      <p:cxnSp>
        <p:nvCxnSpPr>
          <p:cNvPr id="276" name=""/>
          <p:cNvCxnSpPr>
            <a:stCxn xmlns:a="http://schemas.openxmlformats.org/drawingml/2006/main" id="179" idx="3"/>
            <a:endCxn xmlns:a="http://schemas.openxmlformats.org/drawingml/2006/main" id="182" idx="1"/>
          </p:cNvCxnSpPr>
          <p:nvPr/>
        </p:nvCxnSpPr>
        <p:spPr>
          <a:xfrm xmlns:a="http://schemas.openxmlformats.org/drawingml/2006/main">
            <a:off x="6553200" y="5462588"/>
            <a:ext cx="2495550" cy="0"/>
          </a:xfrm>
          <a:prstGeom xmlns:a="http://schemas.openxmlformats.org/drawingml/2006/main" prst="straightConnector1">
            <a:avLst/>
          </a:prstGeom>
          <a:ln xmlns:a="http://schemas.openxmlformats.org/drawingml/2006/main" w="23813">
            <a:solidFill>
              <a:srgbClr val="0F6A6C"/>
            </a:solidFill>
            <a:prstDash val="dash"/>
            <a:headEnd type="triangle" w="sm" len="sm"/>
            <a:tailEnd type="triangle" w="sm" len="sm"/>
          </a:ln>
        </p:spPr>
      </p:cxnSp>
      <p:sp>
        <p:nvSpPr>
          <p:cNvPr id="187" name="경로·인증·이름 조회">
            <a:extLst xmlns:a="http://schemas.openxmlformats.org/drawingml/2006/main">
              <a:ext uri="{FF2B5EF4-FFF2-40B4-BE49-F238E27FC236}">
                <a16:creationId xmlns:a16="http://schemas.microsoft.com/office/drawing/2014/main" id="{BAC6B2B4-775E-4A99-BA1D-E88DD0160FD5}"/>
              </a:ext>
            </a:extLst>
          </p:cNvPr>
          <p:cNvSpPr>
            <a:spLocks xmlns:a="http://schemas.openxmlformats.org/drawingml/2006/main" noGrp="1"/>
          </p:cNvSpPr>
          <p:nvPr/>
        </p:nvSpPr>
        <p:spPr>
          <a:xfrm xmlns:a="http://schemas.openxmlformats.org/drawingml/2006/main">
            <a:off x="6677025" y="4591050"/>
            <a:ext cx="223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9A651A"/>
                </a:solidFill>
                <a:latin typeface="Malgun Gothic"/>
                <a:ea typeface="Malgun Gothic"/>
                <a:cs typeface="Malgun Gothic"/>
              </a:defRPr>
            </a:pPr>
            <a:r>
              <a:rPr sz="1100" b="0">
                <a:solidFill>
                  <a:srgbClr val="3D4C57"/>
                </a:solidFill>
                <a:latin typeface="Malgun Gothic"/>
                <a:ea typeface="Malgun Gothic"/>
                <a:cs typeface="Malgun Gothic"/>
              </a:rPr>
              <a:t>승인 경로·실제 인증</a:t>
            </a:r>
          </a:p>
          <a:p xmlns:a="http://schemas.openxmlformats.org/drawingml/2006/main">
            <a:pPr algn="l">
              <a:buNone/>
              <a:defRPr sz="1425" b="0">
                <a:solidFill>
                  <a:srgbClr val="9A651A"/>
                </a:solidFill>
                <a:latin typeface="Malgun Gothic"/>
                <a:ea typeface="Malgun Gothic"/>
                <a:cs typeface="Malgun Gothic"/>
              </a:defRPr>
            </a:pPr>
            <a:r>
              <a:rPr sz="1100" b="0">
                <a:solidFill>
                  <a:srgbClr val="3D4C57"/>
                </a:solidFill>
                <a:latin typeface="Malgun Gothic"/>
                <a:ea typeface="Malgun Gothic"/>
                <a:cs typeface="Malgun Gothic"/>
              </a:rPr>
              <a:t>필수 이름 조회 확정</a:t>
            </a:r>
          </a:p>
        </p:txBody>
      </p:sp>
      <p:sp>
        <p:nvSpPr>
          <p:cNvPr id="188" name="파란 실선: 이미지 공급    청록 실선: 배포 제어    청록 점선: P0 연결 조건 확">
            <a:extLst xmlns:a="http://schemas.openxmlformats.org/drawingml/2006/main">
              <a:ext uri="{FF2B5EF4-FFF2-40B4-BE49-F238E27FC236}">
                <a16:creationId xmlns:a16="http://schemas.microsoft.com/office/drawing/2014/main" id="{5C871CE6-DA56-448C-8686-987CC9ADF66F}"/>
              </a:ext>
            </a:extLst>
          </p:cNvPr>
          <p:cNvSpPr>
            <a:spLocks xmlns:a="http://schemas.openxmlformats.org/drawingml/2006/main" noGrp="1"/>
          </p:cNvSpPr>
          <p:nvPr/>
        </p:nvSpPr>
        <p:spPr>
          <a:xfrm xmlns:a="http://schemas.openxmlformats.org/drawingml/2006/main">
            <a:off x="685800" y="61722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26675"/>
                </a:solidFill>
                <a:latin typeface="Malgun Gothic"/>
                <a:ea typeface="Malgun Gothic"/>
                <a:cs typeface="Malgun Gothic"/>
              </a:defRPr>
            </a:pPr>
            <a:r>
              <a:rPr sz="1200" b="0">
                <a:solidFill>
                  <a:srgbClr val="3D4C57"/>
                </a:solidFill>
                <a:latin typeface="Malgun Gothic"/>
                <a:ea typeface="Malgun Gothic"/>
                <a:cs typeface="Malgun Gothic"/>
              </a:rPr>
              <a:t>파란 실선: 이미지 공급    청록 실선: 배포 제어    청록 점선: P0 연결 조건 확인</a:t>
            </a:r>
          </a:p>
        </p:txBody>
      </p:sp>
      <p:sp xmlns:a="http://schemas.openxmlformats.org/drawingml/2006/main">
        <p:nvSpPr>
          <p:cNvPr id="277" name="Rectangle 276"/>
          <p:cNvSpPr/>
          <p:nvPr/>
        </p:nvSpPr>
        <p:spPr>
          <a:xfrm>
            <a:off x="0" y="0"/>
            <a:ext cx="12191695" cy="73152"/>
          </a:xfrm>
          <a:prstGeom prst="rect">
            <a:avLst/>
          </a:prstGeom>
          <a:solidFill>
            <a:srgbClr val="14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8" name="Rectangle 277"/>
          <p:cNvSpPr/>
          <p:nvPr/>
        </p:nvSpPr>
        <p:spPr>
          <a:xfrm>
            <a:off x="0" y="73152"/>
            <a:ext cx="73152" cy="6784848"/>
          </a:xfrm>
          <a:prstGeom prst="rect">
            <a:avLst/>
          </a:prstGeom>
          <a:solidFill>
            <a:srgbClr val="1F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9" name="Rounded Rectangle 278"/>
          <p:cNvSpPr/>
          <p:nvPr/>
        </p:nvSpPr>
        <p:spPr>
          <a:xfrm>
            <a:off x="9646920" y="146304"/>
            <a:ext cx="2240280" cy="237744"/>
          </a:xfrm>
          <a:prstGeom prst="roundRect">
            <a:avLst>
              <a:gd name="adj" fmla="val 50000"/>
            </a:avLst>
          </a:prstGeom>
          <a:solidFill>
            <a:srgbClr val="FFFFFF"/>
          </a:solidFill>
          <a:ln w="12700">
            <a:solidFill>
              <a:srgbClr val="1F8A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8A8A"/>
                </a:solidFill>
                <a:latin typeface="Malgun Gothic"/>
                <a:ea typeface="Malgun Gothic"/>
                <a:cs typeface="Malgun Gothic"/>
              </a:rPr>
              <a:t>부록  배포 관리</a:t>
            </a:r>
          </a:p>
        </p:txBody>
      </p:sp>
    </p:spTree>
    <p:extLst>
      <p:ext uri="{BB962C8B-B14F-4D97-AF65-F5344CB8AC3E}">
        <p14:creationId xmlns:p14="http://schemas.microsoft.com/office/powerpoint/2010/main" val="15938924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1" name=""/>
          <p:cNvPicPr>
            <a:picLocks xmlns:a="http://schemas.openxmlformats.org/drawingml/2006/main" noChangeAspect="1"/>
          </p:cNvPicPr>
          <p:nvPr/>
        </p:nvPicPr>
        <p:blipFill>
          <a:blip xmlns:r="http://schemas.openxmlformats.org/officeDocument/2006/relationships" xmlns:a="http://schemas.openxmlformats.org/drawingml/2006/main" r:embed="Rea3b4eae08974ead"/>
          <a:stretch xmlns:a="http://schemas.openxmlformats.org/drawingml/2006/main"/>
        </p:blipFill>
        <p:spPr>
          <a:xfrm xmlns:a="http://schemas.openxmlformats.org/drawingml/2006/main">
            <a:off x="847725" y="2219325"/>
            <a:ext cx="400050" cy="400050"/>
          </a:xfrm>
          <a:prstGeom xmlns:a="http://schemas.openxmlformats.org/drawingml/2006/main" prst="rect">
            <a:avLst/>
          </a:prstGeom>
        </p:spPr>
      </p:pic>
      <p:pic>
        <p:nvPicPr>
          <p:cNvPr id="222" name=""/>
          <p:cNvPicPr>
            <a:picLocks xmlns:a="http://schemas.openxmlformats.org/drawingml/2006/main" noChangeAspect="1"/>
          </p:cNvPicPr>
          <p:nvPr/>
        </p:nvPicPr>
        <p:blipFill>
          <a:blip xmlns:r="http://schemas.openxmlformats.org/officeDocument/2006/relationships" xmlns:a="http://schemas.openxmlformats.org/drawingml/2006/main" r:embed="R374bf3545d4f4358"/>
          <a:stretch xmlns:a="http://schemas.openxmlformats.org/drawingml/2006/main"/>
        </p:blipFill>
        <p:spPr>
          <a:xfrm xmlns:a="http://schemas.openxmlformats.org/drawingml/2006/main">
            <a:off x="4286250" y="3000375"/>
            <a:ext cx="361950" cy="361950"/>
          </a:xfrm>
          <a:prstGeom xmlns:a="http://schemas.openxmlformats.org/drawingml/2006/main" prst="rect">
            <a:avLst/>
          </a:prstGeom>
        </p:spPr>
      </p:pic>
      <p:pic>
        <p:nvPicPr>
          <p:cNvPr id="223" name=""/>
          <p:cNvPicPr>
            <a:picLocks xmlns:a="http://schemas.openxmlformats.org/drawingml/2006/main" noChangeAspect="1"/>
          </p:cNvPicPr>
          <p:nvPr/>
        </p:nvPicPr>
        <p:blipFill>
          <a:blip xmlns:r="http://schemas.openxmlformats.org/officeDocument/2006/relationships" xmlns:a="http://schemas.openxmlformats.org/drawingml/2006/main" r:embed="R1d79fd74d34f4e82"/>
          <a:stretch xmlns:a="http://schemas.openxmlformats.org/drawingml/2006/main"/>
        </p:blipFill>
        <p:spPr>
          <a:xfrm xmlns:a="http://schemas.openxmlformats.org/drawingml/2006/main">
            <a:off x="6848475" y="3000375"/>
            <a:ext cx="333375" cy="333375"/>
          </a:xfrm>
          <a:prstGeom xmlns:a="http://schemas.openxmlformats.org/drawingml/2006/main" prst="rect">
            <a:avLst/>
          </a:prstGeom>
        </p:spPr>
      </p:pic>
      <p:pic>
        <p:nvPicPr>
          <p:cNvPr id="224" name=""/>
          <p:cNvPicPr>
            <a:picLocks xmlns:a="http://schemas.openxmlformats.org/drawingml/2006/main" noChangeAspect="1"/>
          </p:cNvPicPr>
          <p:nvPr/>
        </p:nvPicPr>
        <p:blipFill>
          <a:blip xmlns:r="http://schemas.openxmlformats.org/officeDocument/2006/relationships" xmlns:a="http://schemas.openxmlformats.org/drawingml/2006/main" r:embed="R92c802d9c6234059"/>
          <a:stretch xmlns:a="http://schemas.openxmlformats.org/drawingml/2006/main"/>
        </p:blipFill>
        <p:spPr>
          <a:xfrm xmlns:a="http://schemas.openxmlformats.org/drawingml/2006/main">
            <a:off x="7229475" y="3000375"/>
            <a:ext cx="333375" cy="333375"/>
          </a:xfrm>
          <a:prstGeom xmlns:a="http://schemas.openxmlformats.org/drawingml/2006/main" prst="rect">
            <a:avLst/>
          </a:prstGeom>
        </p:spPr>
      </p:pic>
      <p:pic>
        <p:nvPicPr>
          <p:cNvPr id="225" name=""/>
          <p:cNvPicPr>
            <a:picLocks xmlns:a="http://schemas.openxmlformats.org/drawingml/2006/main" noChangeAspect="1"/>
          </p:cNvPicPr>
          <p:nvPr/>
        </p:nvPicPr>
        <p:blipFill>
          <a:blip xmlns:r="http://schemas.openxmlformats.org/officeDocument/2006/relationships" xmlns:a="http://schemas.openxmlformats.org/drawingml/2006/main" r:embed="Rf4b4e5e0bf194cee"/>
          <a:stretch xmlns:a="http://schemas.openxmlformats.org/drawingml/2006/main"/>
        </p:blipFill>
        <p:spPr>
          <a:xfrm xmlns:a="http://schemas.openxmlformats.org/drawingml/2006/main">
            <a:off x="9305925" y="3000375"/>
            <a:ext cx="333375" cy="333375"/>
          </a:xfrm>
          <a:prstGeom xmlns:a="http://schemas.openxmlformats.org/drawingml/2006/main" prst="rect">
            <a:avLst/>
          </a:prstGeom>
        </p:spPr>
      </p:pic>
      <p:pic>
        <p:nvPicPr>
          <p:cNvPr id="226" name=""/>
          <p:cNvPicPr>
            <a:picLocks xmlns:a="http://schemas.openxmlformats.org/drawingml/2006/main" noChangeAspect="1"/>
          </p:cNvPicPr>
          <p:nvPr/>
        </p:nvPicPr>
        <p:blipFill>
          <a:blip xmlns:r="http://schemas.openxmlformats.org/officeDocument/2006/relationships" xmlns:a="http://schemas.openxmlformats.org/drawingml/2006/main" r:embed="Rab33bfdd1304442b"/>
          <a:stretch xmlns:a="http://schemas.openxmlformats.org/drawingml/2006/main"/>
        </p:blipFill>
        <p:spPr>
          <a:xfrm xmlns:a="http://schemas.openxmlformats.org/drawingml/2006/main">
            <a:off x="7953375" y="4572000"/>
            <a:ext cx="342900" cy="342900"/>
          </a:xfrm>
          <a:prstGeom xmlns:a="http://schemas.openxmlformats.org/drawingml/2006/main" prst="rect">
            <a:avLst/>
          </a:prstGeom>
        </p:spPr>
      </p:pic>
      <p:sp>
        <p:nvSpPr>
          <p:cNvPr id="144" name="전체 아키텍처 ③ P1 운영 확장">
            <a:extLst xmlns:a="http://schemas.openxmlformats.org/drawingml/2006/main">
              <a:ext uri="{FF2B5EF4-FFF2-40B4-BE49-F238E27FC236}">
                <a16:creationId xmlns:a16="http://schemas.microsoft.com/office/drawing/2014/main" id="{17AE4814-D4AD-4162-ACBB-F4B1AA8F45BE}"/>
              </a:ext>
            </a:extLst>
          </p:cNvPr>
          <p:cNvSpPr>
            <a:spLocks xmlns:a="http://schemas.openxmlformats.org/drawingml/2006/main" noGrp="1"/>
          </p:cNvSpPr>
          <p:nvPr/>
        </p:nvSpPr>
        <p:spPr>
          <a:xfrm xmlns:a="http://schemas.openxmlformats.org/drawingml/2006/main">
            <a:off x="685800" y="40957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1">
                <a:solidFill>
                  <a:srgbClr val="142D40"/>
                </a:solidFill>
                <a:latin typeface="Malgun Gothic"/>
                <a:ea typeface="Malgun Gothic"/>
                <a:cs typeface="Malgun Gothic"/>
              </a:defRPr>
            </a:pPr>
            <a:r>
              <a:rPr sz="2400" b="1">
                <a:solidFill>
                  <a:srgbClr val="1C242B"/>
                </a:solidFill>
                <a:latin typeface="Malgun Gothic"/>
                <a:ea typeface="Malgun Gothic"/>
                <a:cs typeface="Malgun Gothic"/>
              </a:rPr>
              <a:t>전체 아키텍처 ③ P1 운영 확장</a:t>
            </a:r>
          </a:p>
        </p:txBody>
      </p:sp>
      <p:sp>
        <p:nvSpPr>
          <p:cNvPr id="145" name="P0 배포 검증 후 지원·권한·비용과 작업 여력을 확인해 도입 범위를 결정합니다">
            <a:extLst xmlns:a="http://schemas.openxmlformats.org/drawingml/2006/main">
              <a:ext uri="{FF2B5EF4-FFF2-40B4-BE49-F238E27FC236}">
                <a16:creationId xmlns:a16="http://schemas.microsoft.com/office/drawing/2014/main" id="{794527C5-ED75-4C9C-976D-53092F404960}"/>
              </a:ext>
            </a:extLst>
          </p:cNvPr>
          <p:cNvSpPr>
            <a:spLocks xmlns:a="http://schemas.openxmlformats.org/drawingml/2006/main" noGrp="1"/>
          </p:cNvSpPr>
          <p:nvPr/>
        </p:nvSpPr>
        <p:spPr>
          <a:xfrm xmlns:a="http://schemas.openxmlformats.org/drawingml/2006/main">
            <a:off x="685800" y="10763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26675"/>
                </a:solidFill>
                <a:latin typeface="Malgun Gothic"/>
                <a:ea typeface="Malgun Gothic"/>
                <a:cs typeface="Malgun Gothic"/>
              </a:defRPr>
            </a:pPr>
            <a:r>
              <a:rPr sz="1400" b="0">
                <a:solidFill>
                  <a:srgbClr val="3D4C57"/>
                </a:solidFill>
                <a:latin typeface="Malgun Gothic"/>
                <a:ea typeface="Malgun Gothic"/>
                <a:cs typeface="Malgun Gothic"/>
              </a:rPr>
              <a:t>P0 배포 검증 후 지원·권한·비용과 작업 여력을 확인해 도입 범위를 결정합니다</a:t>
            </a:r>
          </a:p>
        </p:txBody>
      </p:sp>
      <p:sp>
        <p:nvSpPr>
          <p:cNvPr id="146" name="부록  12">
            <a:extLst xmlns:a="http://schemas.openxmlformats.org/drawingml/2006/main">
              <a:ext uri="{FF2B5EF4-FFF2-40B4-BE49-F238E27FC236}">
                <a16:creationId xmlns:a16="http://schemas.microsoft.com/office/drawing/2014/main" id="{F8A47EFA-BE07-4ED4-99A8-D3B8E14192FA}"/>
              </a:ext>
            </a:extLst>
          </p:cNvPr>
          <p:cNvSpPr>
            <a:spLocks xmlns:a="http://schemas.openxmlformats.org/drawingml/2006/main" noGrp="1"/>
          </p:cNvSpPr>
          <p:nvPr/>
        </p:nvSpPr>
        <p:spPr>
          <a:xfrm xmlns:a="http://schemas.openxmlformats.org/drawingml/2006/main">
            <a:off x="-27432000" y="-27432000"/>
            <a:ext cx="2240280" cy="2377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26675"/>
                </a:solidFill>
                <a:latin typeface="Malgun Gothic"/>
                <a:ea typeface="Malgun Gothic"/>
                <a:cs typeface="Malgun Gothic"/>
              </a:defRPr>
            </a:pPr>
            <a:r>
              <a:rPr sz="1200" b="0">
                <a:solidFill>
                  <a:srgbClr val="526675"/>
                </a:solidFill>
                <a:latin typeface="Malgun Gothic"/>
                <a:ea typeface="Malgun Gothic"/>
                <a:cs typeface="Malgun Gothic"/>
              </a:rPr>
              <a:t>부록  12</a:t>
            </a:r>
          </a:p>
        </p:txBody>
      </p:sp>
      <p:sp>
        <p:nvSpPr>
          <p:cNvPr id="147" name="">
            <a:extLst xmlns:a="http://schemas.openxmlformats.org/drawingml/2006/main">
              <a:ext uri="{FF2B5EF4-FFF2-40B4-BE49-F238E27FC236}">
                <a16:creationId xmlns:a16="http://schemas.microsoft.com/office/drawing/2014/main" id="{91A08404-E3C2-4F95-A534-0FDA0BF6067E}"/>
              </a:ext>
            </a:extLst>
          </p:cNvPr>
          <p:cNvSpPr>
            <a:spLocks xmlns:a="http://schemas.openxmlformats.org/drawingml/2006/main" noGrp="1"/>
          </p:cNvSpPr>
          <p:nvPr/>
        </p:nvSpPr>
        <p:spPr>
          <a:xfrm xmlns:a="http://schemas.openxmlformats.org/drawingml/2006/main">
            <a:off x="685800" y="2047875"/>
            <a:ext cx="2533650" cy="828675"/>
          </a:xfrm>
          <a:prstGeom xmlns:a="http://schemas.openxmlformats.org/drawingml/2006/main" prst="rect">
            <a:avLst/>
          </a:prstGeom>
          <a:noFill xmlns:a="http://schemas.openxmlformats.org/drawingml/2006/main"/>
          <a:ln xmlns:a="http://schemas.openxmlformats.org/drawingml/2006/main" w="14288">
            <a:solidFill>
              <a:srgbClr val="0F6A6C"/>
            </a:solidFill>
            <a:prstDash val="solid"/>
          </a:ln>
        </p:spPr>
        <p:txBody xmlns:a="http://schemas.openxmlformats.org/drawingml/2006/main">
          <a:bodyPr/>
          <a:p/>
        </p:txBody>
      </p:sp>
      <p:sp>
        <p:nvSpPr>
          <p:cNvPr id="148" name="P0 업무 기반">
            <a:extLst xmlns:a="http://schemas.openxmlformats.org/drawingml/2006/main">
              <a:ext uri="{FF2B5EF4-FFF2-40B4-BE49-F238E27FC236}">
                <a16:creationId xmlns:a16="http://schemas.microsoft.com/office/drawing/2014/main" id="{879B2BE7-A66C-4F6F-A3E6-41ADF74F64ED}"/>
              </a:ext>
            </a:extLst>
          </p:cNvPr>
          <p:cNvSpPr>
            <a:spLocks xmlns:a="http://schemas.openxmlformats.org/drawingml/2006/main" noGrp="1"/>
          </p:cNvSpPr>
          <p:nvPr/>
        </p:nvSpPr>
        <p:spPr>
          <a:xfrm xmlns:a="http://schemas.openxmlformats.org/drawingml/2006/main">
            <a:off x="1381125" y="2162175"/>
            <a:ext cx="171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P0 업무 기반</a:t>
            </a:r>
          </a:p>
        </p:txBody>
      </p:sp>
      <p:sp>
        <p:nvSpPr>
          <p:cNvPr id="149" name="ROSA · 직접 배포">
            <a:extLst xmlns:a="http://schemas.openxmlformats.org/drawingml/2006/main">
              <a:ext uri="{FF2B5EF4-FFF2-40B4-BE49-F238E27FC236}">
                <a16:creationId xmlns:a16="http://schemas.microsoft.com/office/drawing/2014/main" id="{9479F3D4-5877-4C4F-A225-6CC6CA3980AD}"/>
              </a:ext>
            </a:extLst>
          </p:cNvPr>
          <p:cNvSpPr>
            <a:spLocks xmlns:a="http://schemas.openxmlformats.org/drawingml/2006/main" noGrp="1"/>
          </p:cNvSpPr>
          <p:nvPr/>
        </p:nvSpPr>
        <p:spPr>
          <a:xfrm xmlns:a="http://schemas.openxmlformats.org/drawingml/2006/main">
            <a:off x="1381125" y="25336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ROSA · 직접 배포</a:t>
            </a:r>
          </a:p>
        </p:txBody>
      </p:sp>
      <p:sp>
        <p:nvSpPr>
          <p:cNvPr id="150" name="">
            <a:extLst xmlns:a="http://schemas.openxmlformats.org/drawingml/2006/main">
              <a:ext uri="{FF2B5EF4-FFF2-40B4-BE49-F238E27FC236}">
                <a16:creationId xmlns:a16="http://schemas.microsoft.com/office/drawing/2014/main" id="{7BA26AD3-3C87-4238-94AD-5CF87298B47A}"/>
              </a:ext>
            </a:extLst>
          </p:cNvPr>
          <p:cNvSpPr>
            <a:spLocks xmlns:a="http://schemas.openxmlformats.org/drawingml/2006/main" noGrp="1"/>
          </p:cNvSpPr>
          <p:nvPr/>
        </p:nvSpPr>
        <p:spPr>
          <a:xfrm xmlns:a="http://schemas.openxmlformats.org/drawingml/2006/main">
            <a:off x="685800" y="3295650"/>
            <a:ext cx="2533650" cy="1600200"/>
          </a:xfrm>
          <a:prstGeom xmlns:a="http://schemas.openxmlformats.org/drawingml/2006/main" prst="rect">
            <a:avLst/>
          </a:prstGeom>
          <a:noFill xmlns:a="http://schemas.openxmlformats.org/drawingml/2006/main"/>
          <a:ln xmlns:a="http://schemas.openxmlformats.org/drawingml/2006/main" w="14288">
            <a:solidFill>
              <a:srgbClr val="0F6A6C"/>
            </a:solidFill>
            <a:prstDash val="solid"/>
          </a:ln>
        </p:spPr>
        <p:txBody xmlns:a="http://schemas.openxmlformats.org/drawingml/2006/main">
          <a:bodyPr/>
          <a:p/>
        </p:txBody>
      </p:sp>
      <p:sp>
        <p:nvSpPr>
          <p:cNvPr id="151" name="배포 검증 후 판단">
            <a:extLst xmlns:a="http://schemas.openxmlformats.org/drawingml/2006/main">
              <a:ext uri="{FF2B5EF4-FFF2-40B4-BE49-F238E27FC236}">
                <a16:creationId xmlns:a16="http://schemas.microsoft.com/office/drawing/2014/main" id="{617756C9-D023-44E1-9EAF-B00E20AD5D2A}"/>
              </a:ext>
            </a:extLst>
          </p:cNvPr>
          <p:cNvSpPr>
            <a:spLocks xmlns:a="http://schemas.openxmlformats.org/drawingml/2006/main" noGrp="1"/>
          </p:cNvSpPr>
          <p:nvPr/>
        </p:nvSpPr>
        <p:spPr>
          <a:xfrm xmlns:a="http://schemas.openxmlformats.org/drawingml/2006/main">
            <a:off x="847725" y="3409950"/>
            <a:ext cx="2209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배포 검증 후 판단</a:t>
            </a:r>
          </a:p>
        </p:txBody>
      </p:sp>
      <p:sp>
        <p:nvSpPr>
          <p:cNvPr id="152" name="필수 배포·차단·복구 확인">
            <a:extLst xmlns:a="http://schemas.openxmlformats.org/drawingml/2006/main">
              <a:ext uri="{FF2B5EF4-FFF2-40B4-BE49-F238E27FC236}">
                <a16:creationId xmlns:a16="http://schemas.microsoft.com/office/drawing/2014/main" id="{183C7FA8-272D-460B-823A-AA00802C2DE3}"/>
              </a:ext>
            </a:extLst>
          </p:cNvPr>
          <p:cNvSpPr>
            <a:spLocks xmlns:a="http://schemas.openxmlformats.org/drawingml/2006/main" noGrp="1"/>
          </p:cNvSpPr>
          <p:nvPr/>
        </p:nvSpPr>
        <p:spPr>
          <a:xfrm xmlns:a="http://schemas.openxmlformats.org/drawingml/2006/main">
            <a:off x="847725" y="3876675"/>
            <a:ext cx="22098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필수 배포·차단·복구 확인</a:t>
            </a:r>
          </a:p>
          <a:p xmlns:a="http://schemas.openxmlformats.org/drawingml/2006/main">
            <a:pPr algn="l">
              <a:buNone/>
              <a:defRPr sz="1500"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지원·권한·비용 검토</a:t>
            </a:r>
          </a:p>
          <a:p xmlns:a="http://schemas.openxmlformats.org/drawingml/2006/main">
            <a:pPr algn="l">
              <a:buNone/>
              <a:defRPr sz="1500"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P0 잔여 작업 여력</a:t>
            </a:r>
          </a:p>
          <a:p xmlns:a="http://schemas.openxmlformats.org/drawingml/2006/main">
            <a:pPr algn="l">
              <a:buNone/>
              <a:defRPr sz="1500"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도입 여부·변경 결정</a:t>
            </a:r>
          </a:p>
        </p:txBody>
      </p:sp>
      <p:sp>
        <p:nvSpPr>
          <p:cNvPr id="153" name="">
            <a:extLst xmlns:a="http://schemas.openxmlformats.org/drawingml/2006/main">
              <a:ext uri="{FF2B5EF4-FFF2-40B4-BE49-F238E27FC236}">
                <a16:creationId xmlns:a16="http://schemas.microsoft.com/office/drawing/2014/main" id="{D139D208-5073-4995-9EB2-094FFF224863}"/>
              </a:ext>
            </a:extLst>
          </p:cNvPr>
          <p:cNvSpPr>
            <a:spLocks xmlns:a="http://schemas.openxmlformats.org/drawingml/2006/main" noGrp="1"/>
          </p:cNvSpPr>
          <p:nvPr/>
        </p:nvSpPr>
        <p:spPr>
          <a:xfrm xmlns:a="http://schemas.openxmlformats.org/drawingml/2006/main">
            <a:off x="685800" y="5334000"/>
            <a:ext cx="2533650" cy="590550"/>
          </a:xfrm>
          <a:prstGeom xmlns:a="http://schemas.openxmlformats.org/drawingml/2006/main" prst="rect">
            <a:avLst/>
          </a:prstGeom>
          <a:noFill xmlns:a="http://schemas.openxmlformats.org/drawingml/2006/main"/>
          <a:ln xmlns:a="http://schemas.openxmlformats.org/drawingml/2006/main" w="14288">
            <a:solidFill>
              <a:srgbClr val="81929D"/>
            </a:solidFill>
            <a:prstDash val="dash"/>
          </a:ln>
        </p:spPr>
        <p:txBody xmlns:a="http://schemas.openxmlformats.org/drawingml/2006/main">
          <a:bodyPr/>
          <a:p/>
        </p:txBody>
      </p:sp>
      <p:sp>
        <p:nvSpPr>
          <p:cNvPr id="154" name="미충족 시 유예">
            <a:extLst xmlns:a="http://schemas.openxmlformats.org/drawingml/2006/main">
              <a:ext uri="{FF2B5EF4-FFF2-40B4-BE49-F238E27FC236}">
                <a16:creationId xmlns:a16="http://schemas.microsoft.com/office/drawing/2014/main" id="{64EBECAF-132F-4449-B13B-3F5DC4730447}"/>
              </a:ext>
            </a:extLst>
          </p:cNvPr>
          <p:cNvSpPr>
            <a:spLocks xmlns:a="http://schemas.openxmlformats.org/drawingml/2006/main" noGrp="1"/>
          </p:cNvSpPr>
          <p:nvPr/>
        </p:nvSpPr>
        <p:spPr>
          <a:xfrm xmlns:a="http://schemas.openxmlformats.org/drawingml/2006/main">
            <a:off x="866775" y="5391150"/>
            <a:ext cx="2171700" cy="6145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0">
                <a:solidFill>
                  <a:srgbClr val="81929D"/>
                </a:solidFill>
                <a:latin typeface="Malgun Gothic"/>
                <a:ea typeface="Malgun Gothic"/>
                <a:cs typeface="Malgun Gothic"/>
              </a:defRPr>
            </a:pPr>
            <a:r>
              <a:rPr sz="1100" b="0">
                <a:solidFill>
                  <a:srgbClr val="3D4C57"/>
                </a:solidFill>
                <a:latin typeface="Malgun Gothic"/>
                <a:ea typeface="Malgun Gothic"/>
                <a:cs typeface="Malgun Gothic"/>
              </a:rPr>
              <a:t>미충족 시 유예</a:t>
            </a:r>
          </a:p>
          <a:p xmlns:a="http://schemas.openxmlformats.org/drawingml/2006/main">
            <a:pPr algn="ctr">
              <a:buNone/>
              <a:defRPr sz="1500" b="0">
                <a:solidFill>
                  <a:srgbClr val="81929D"/>
                </a:solidFill>
                <a:latin typeface="Malgun Gothic"/>
                <a:ea typeface="Malgun Gothic"/>
                <a:cs typeface="Malgun Gothic"/>
              </a:defRPr>
            </a:pPr>
            <a:r>
              <a:rPr sz="1100" b="0">
                <a:solidFill>
                  <a:srgbClr val="3D4C57"/>
                </a:solidFill>
                <a:latin typeface="Malgun Gothic"/>
                <a:ea typeface="Malgun Gothic"/>
                <a:cs typeface="Malgun Gothic"/>
              </a:rPr>
              <a:t>근거·재개 조건 기록</a:t>
            </a:r>
          </a:p>
        </p:txBody>
      </p:sp>
      <p:sp>
        <p:nvSpPr>
          <p:cNvPr id="155" name="">
            <a:extLst xmlns:a="http://schemas.openxmlformats.org/drawingml/2006/main">
              <a:ext uri="{FF2B5EF4-FFF2-40B4-BE49-F238E27FC236}">
                <a16:creationId xmlns:a16="http://schemas.microsoft.com/office/drawing/2014/main" id="{AE21570A-0717-4125-A363-E95228AB9459}"/>
              </a:ext>
            </a:extLst>
          </p:cNvPr>
          <p:cNvSpPr>
            <a:spLocks xmlns:a="http://schemas.openxmlformats.org/drawingml/2006/main" noGrp="1"/>
          </p:cNvSpPr>
          <p:nvPr/>
        </p:nvSpPr>
        <p:spPr>
          <a:xfrm xmlns:a="http://schemas.openxmlformats.org/drawingml/2006/main">
            <a:off x="3933825" y="2047875"/>
            <a:ext cx="7572375" cy="3686175"/>
          </a:xfrm>
          <a:prstGeom xmlns:a="http://schemas.openxmlformats.org/drawingml/2006/main" prst="rect">
            <a:avLst/>
          </a:prstGeom>
          <a:noFill xmlns:a="http://schemas.openxmlformats.org/drawingml/2006/main"/>
          <a:ln xmlns:a="http://schemas.openxmlformats.org/drawingml/2006/main" w="14288">
            <a:solidFill>
              <a:srgbClr val="81929D"/>
            </a:solidFill>
            <a:prstDash val="dash"/>
          </a:ln>
        </p:spPr>
        <p:txBody xmlns:a="http://schemas.openxmlformats.org/drawingml/2006/main">
          <a:bodyPr/>
          <a:p/>
        </p:txBody>
      </p:sp>
      <p:sp>
        <p:nvSpPr>
          <p:cNvPr id="156" name="P1 조건부 운영 확장">
            <a:extLst xmlns:a="http://schemas.openxmlformats.org/drawingml/2006/main">
              <a:ext uri="{FF2B5EF4-FFF2-40B4-BE49-F238E27FC236}">
                <a16:creationId xmlns:a16="http://schemas.microsoft.com/office/drawing/2014/main" id="{4079F929-8563-4E2A-B100-41EF91D18162}"/>
              </a:ext>
            </a:extLst>
          </p:cNvPr>
          <p:cNvSpPr>
            <a:spLocks xmlns:a="http://schemas.openxmlformats.org/drawingml/2006/main" noGrp="1"/>
          </p:cNvSpPr>
          <p:nvPr/>
        </p:nvSpPr>
        <p:spPr>
          <a:xfrm xmlns:a="http://schemas.openxmlformats.org/drawingml/2006/main">
            <a:off x="4143375" y="2152650"/>
            <a:ext cx="7105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81929D"/>
                </a:solidFill>
                <a:latin typeface="Malgun Gothic"/>
                <a:ea typeface="Malgun Gothic"/>
                <a:cs typeface="Malgun Gothic"/>
              </a:defRPr>
            </a:pPr>
            <a:r>
              <a:rPr sz="2100" b="1">
                <a:solidFill>
                  <a:srgbClr val="81929D"/>
                </a:solidFill>
                <a:latin typeface="Malgun Gothic"/>
                <a:ea typeface="Malgun Gothic"/>
                <a:cs typeface="Malgun Gothic"/>
              </a:rPr>
              <a:t>P1 조건부 운영 확장</a:t>
            </a:r>
          </a:p>
        </p:txBody>
      </p:sp>
      <p:sp>
        <p:nvSpPr>
          <p:cNvPr id="157" name="">
            <a:extLst xmlns:a="http://schemas.openxmlformats.org/drawingml/2006/main">
              <a:ext uri="{FF2B5EF4-FFF2-40B4-BE49-F238E27FC236}">
                <a16:creationId xmlns:a16="http://schemas.microsoft.com/office/drawing/2014/main" id="{68997EA7-2447-409F-83F2-B21EA97536C1}"/>
              </a:ext>
            </a:extLst>
          </p:cNvPr>
          <p:cNvSpPr>
            <a:spLocks xmlns:a="http://schemas.openxmlformats.org/drawingml/2006/main" noGrp="1"/>
          </p:cNvSpPr>
          <p:nvPr/>
        </p:nvSpPr>
        <p:spPr>
          <a:xfrm xmlns:a="http://schemas.openxmlformats.org/drawingml/2006/main">
            <a:off x="4143375" y="2847975"/>
            <a:ext cx="2362200" cy="1076325"/>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58" name="설정 기반 배포">
            <a:extLst xmlns:a="http://schemas.openxmlformats.org/drawingml/2006/main">
              <a:ext uri="{FF2B5EF4-FFF2-40B4-BE49-F238E27FC236}">
                <a16:creationId xmlns:a16="http://schemas.microsoft.com/office/drawing/2014/main" id="{370F80BA-98B6-441C-B04C-15B5C2652C36}"/>
              </a:ext>
            </a:extLst>
          </p:cNvPr>
          <p:cNvSpPr>
            <a:spLocks xmlns:a="http://schemas.openxmlformats.org/drawingml/2006/main" noGrp="1"/>
          </p:cNvSpPr>
          <p:nvPr/>
        </p:nvSpPr>
        <p:spPr>
          <a:xfrm xmlns:a="http://schemas.openxmlformats.org/drawingml/2006/main">
            <a:off x="4743450" y="2952750"/>
            <a:ext cx="16478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설정 기반 배포</a:t>
            </a:r>
          </a:p>
        </p:txBody>
      </p:sp>
      <p:sp>
        <p:nvSpPr>
          <p:cNvPr id="159" name="Argo CD 후보 · 이권욱">
            <a:extLst xmlns:a="http://schemas.openxmlformats.org/drawingml/2006/main">
              <a:ext uri="{FF2B5EF4-FFF2-40B4-BE49-F238E27FC236}">
                <a16:creationId xmlns:a16="http://schemas.microsoft.com/office/drawing/2014/main" id="{D97529EE-6B00-4290-B657-70718C86D822}"/>
              </a:ext>
            </a:extLst>
          </p:cNvPr>
          <p:cNvSpPr>
            <a:spLocks xmlns:a="http://schemas.openxmlformats.org/drawingml/2006/main" noGrp="1"/>
          </p:cNvSpPr>
          <p:nvPr/>
        </p:nvSpPr>
        <p:spPr>
          <a:xfrm xmlns:a="http://schemas.openxmlformats.org/drawingml/2006/main">
            <a:off x="4286250" y="3524250"/>
            <a:ext cx="2066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Argo CD 후보 · 이권욱</a:t>
            </a:r>
          </a:p>
        </p:txBody>
      </p:sp>
      <p:sp>
        <p:nvSpPr>
          <p:cNvPr id="160" name="">
            <a:extLst xmlns:a="http://schemas.openxmlformats.org/drawingml/2006/main">
              <a:ext uri="{FF2B5EF4-FFF2-40B4-BE49-F238E27FC236}">
                <a16:creationId xmlns:a16="http://schemas.microsoft.com/office/drawing/2014/main" id="{3A35EA13-44B1-4CAA-B93B-87B302C9A496}"/>
              </a:ext>
            </a:extLst>
          </p:cNvPr>
          <p:cNvSpPr>
            <a:spLocks xmlns:a="http://schemas.openxmlformats.org/drawingml/2006/main" noGrp="1"/>
          </p:cNvSpPr>
          <p:nvPr/>
        </p:nvSpPr>
        <p:spPr>
          <a:xfrm xmlns:a="http://schemas.openxmlformats.org/drawingml/2006/main">
            <a:off x="6715125" y="2847975"/>
            <a:ext cx="2257425" cy="1076325"/>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61" name="백업·복구">
            <a:extLst xmlns:a="http://schemas.openxmlformats.org/drawingml/2006/main">
              <a:ext uri="{FF2B5EF4-FFF2-40B4-BE49-F238E27FC236}">
                <a16:creationId xmlns:a16="http://schemas.microsoft.com/office/drawing/2014/main" id="{B24118B8-C652-4D6C-8BD8-CF5A6FC04E56}"/>
              </a:ext>
            </a:extLst>
          </p:cNvPr>
          <p:cNvSpPr>
            <a:spLocks xmlns:a="http://schemas.openxmlformats.org/drawingml/2006/main" noGrp="1"/>
          </p:cNvSpPr>
          <p:nvPr/>
        </p:nvSpPr>
        <p:spPr>
          <a:xfrm xmlns:a="http://schemas.openxmlformats.org/drawingml/2006/main">
            <a:off x="7658100" y="2952750"/>
            <a:ext cx="1190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백업·복구</a:t>
            </a:r>
          </a:p>
        </p:txBody>
      </p:sp>
      <p:sp>
        <p:nvSpPr>
          <p:cNvPr id="162" name="OADP + S3 · 이하영">
            <a:extLst xmlns:a="http://schemas.openxmlformats.org/drawingml/2006/main">
              <a:ext uri="{FF2B5EF4-FFF2-40B4-BE49-F238E27FC236}">
                <a16:creationId xmlns:a16="http://schemas.microsoft.com/office/drawing/2014/main" id="{E6DADB82-4265-48C7-82E1-DC9528CFF187}"/>
              </a:ext>
            </a:extLst>
          </p:cNvPr>
          <p:cNvSpPr>
            <a:spLocks xmlns:a="http://schemas.openxmlformats.org/drawingml/2006/main" noGrp="1"/>
          </p:cNvSpPr>
          <p:nvPr/>
        </p:nvSpPr>
        <p:spPr>
          <a:xfrm xmlns:a="http://schemas.openxmlformats.org/drawingml/2006/main">
            <a:off x="6858000" y="35242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OADP + S3 · 이하영</a:t>
            </a:r>
          </a:p>
        </p:txBody>
      </p:sp>
      <p:sp>
        <p:nvSpPr>
          <p:cNvPr id="163" name="">
            <a:extLst xmlns:a="http://schemas.openxmlformats.org/drawingml/2006/main">
              <a:ext uri="{FF2B5EF4-FFF2-40B4-BE49-F238E27FC236}">
                <a16:creationId xmlns:a16="http://schemas.microsoft.com/office/drawing/2014/main" id="{6758E3D3-15C0-49CC-B88D-0346B0FD323D}"/>
              </a:ext>
            </a:extLst>
          </p:cNvPr>
          <p:cNvSpPr>
            <a:spLocks xmlns:a="http://schemas.openxmlformats.org/drawingml/2006/main" noGrp="1"/>
          </p:cNvSpPr>
          <p:nvPr/>
        </p:nvSpPr>
        <p:spPr>
          <a:xfrm xmlns:a="http://schemas.openxmlformats.org/drawingml/2006/main">
            <a:off x="9172575" y="2847975"/>
            <a:ext cx="2143125" cy="1076325"/>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64" name="운영 기능">
            <a:extLst xmlns:a="http://schemas.openxmlformats.org/drawingml/2006/main">
              <a:ext uri="{FF2B5EF4-FFF2-40B4-BE49-F238E27FC236}">
                <a16:creationId xmlns:a16="http://schemas.microsoft.com/office/drawing/2014/main" id="{9D1AC6A4-AF0B-406F-9DB3-B487175CBDB4}"/>
              </a:ext>
            </a:extLst>
          </p:cNvPr>
          <p:cNvSpPr>
            <a:spLocks xmlns:a="http://schemas.openxmlformats.org/drawingml/2006/main" noGrp="1"/>
          </p:cNvSpPr>
          <p:nvPr/>
        </p:nvSpPr>
        <p:spPr>
          <a:xfrm xmlns:a="http://schemas.openxmlformats.org/drawingml/2006/main">
            <a:off x="9772650" y="2952750"/>
            <a:ext cx="1419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운영 기능</a:t>
            </a:r>
          </a:p>
        </p:txBody>
      </p:sp>
      <p:sp>
        <p:nvSpPr>
          <p:cNvPr id="165" name="Operator · 이하영">
            <a:extLst xmlns:a="http://schemas.openxmlformats.org/drawingml/2006/main">
              <a:ext uri="{FF2B5EF4-FFF2-40B4-BE49-F238E27FC236}">
                <a16:creationId xmlns:a16="http://schemas.microsoft.com/office/drawing/2014/main" id="{84EF92FB-0134-4BA9-8CB2-B103AB514852}"/>
              </a:ext>
            </a:extLst>
          </p:cNvPr>
          <p:cNvSpPr>
            <a:spLocks xmlns:a="http://schemas.openxmlformats.org/drawingml/2006/main" noGrp="1"/>
          </p:cNvSpPr>
          <p:nvPr/>
        </p:nvSpPr>
        <p:spPr>
          <a:xfrm xmlns:a="http://schemas.openxmlformats.org/drawingml/2006/main">
            <a:off x="9315450" y="3524250"/>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26675"/>
                </a:solidFill>
                <a:latin typeface="Malgun Gothic"/>
                <a:ea typeface="Malgun Gothic"/>
                <a:cs typeface="Malgun Gothic"/>
              </a:defRPr>
            </a:pPr>
            <a:r>
              <a:rPr sz="1100" b="0">
                <a:solidFill>
                  <a:srgbClr val="3D4C57"/>
                </a:solidFill>
                <a:latin typeface="Malgun Gothic"/>
                <a:ea typeface="Malgun Gothic"/>
                <a:cs typeface="Malgun Gothic"/>
              </a:rPr>
              <a:t>Operator · 이하영</a:t>
            </a:r>
          </a:p>
        </p:txBody>
      </p:sp>
      <p:sp>
        <p:nvSpPr>
          <p:cNvPr id="166" name="">
            <a:extLst xmlns:a="http://schemas.openxmlformats.org/drawingml/2006/main">
              <a:ext uri="{FF2B5EF4-FFF2-40B4-BE49-F238E27FC236}">
                <a16:creationId xmlns:a16="http://schemas.microsoft.com/office/drawing/2014/main" id="{6CAAC905-6C7C-4AEF-B456-2524C2EF2076}"/>
              </a:ext>
            </a:extLst>
          </p:cNvPr>
          <p:cNvSpPr>
            <a:spLocks xmlns:a="http://schemas.openxmlformats.org/drawingml/2006/main" noGrp="1"/>
          </p:cNvSpPr>
          <p:nvPr/>
        </p:nvSpPr>
        <p:spPr>
          <a:xfrm xmlns:a="http://schemas.openxmlformats.org/drawingml/2006/main">
            <a:off x="4143375" y="4410075"/>
            <a:ext cx="3419475" cy="1057275"/>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67" name="환경 간 이름 조회 확장">
            <a:extLst xmlns:a="http://schemas.openxmlformats.org/drawingml/2006/main">
              <a:ext uri="{FF2B5EF4-FFF2-40B4-BE49-F238E27FC236}">
                <a16:creationId xmlns:a16="http://schemas.microsoft.com/office/drawing/2014/main" id="{634388CF-2E05-4CCC-8C4E-ECF6E8EB0ED8}"/>
              </a:ext>
            </a:extLst>
          </p:cNvPr>
          <p:cNvSpPr>
            <a:spLocks xmlns:a="http://schemas.openxmlformats.org/drawingml/2006/main" noGrp="1"/>
          </p:cNvSpPr>
          <p:nvPr/>
        </p:nvSpPr>
        <p:spPr>
          <a:xfrm xmlns:a="http://schemas.openxmlformats.org/drawingml/2006/main">
            <a:off x="4295775" y="4552950"/>
            <a:ext cx="3114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2D40"/>
                </a:solidFill>
                <a:latin typeface="Malgun Gothic"/>
                <a:ea typeface="Malgun Gothic"/>
                <a:cs typeface="Malgun Gothic"/>
              </a:defRPr>
            </a:pPr>
            <a:r>
              <a:rPr sz="1800" b="1">
                <a:solidFill>
                  <a:srgbClr val="142D40"/>
                </a:solidFill>
                <a:latin typeface="Malgun Gothic"/>
                <a:ea typeface="Malgun Gothic"/>
                <a:cs typeface="Malgun Gothic"/>
              </a:rPr>
              <a:t>환경 간 이름 조회 확장</a:t>
            </a:r>
          </a:p>
        </p:txBody>
      </p:sp>
      <p:sp>
        <p:nvSpPr>
          <p:cNvPr id="168" name="전체 Hybrid DNS · 이권욱">
            <a:extLst xmlns:a="http://schemas.openxmlformats.org/drawingml/2006/main">
              <a:ext uri="{FF2B5EF4-FFF2-40B4-BE49-F238E27FC236}">
                <a16:creationId xmlns:a16="http://schemas.microsoft.com/office/drawing/2014/main" id="{C8840FF7-0335-4075-A0D4-EA9DE90F3A21}"/>
              </a:ext>
            </a:extLst>
          </p:cNvPr>
          <p:cNvSpPr>
            <a:spLocks xmlns:a="http://schemas.openxmlformats.org/drawingml/2006/main" noGrp="1"/>
          </p:cNvSpPr>
          <p:nvPr/>
        </p:nvSpPr>
        <p:spPr>
          <a:xfrm xmlns:a="http://schemas.openxmlformats.org/drawingml/2006/main">
            <a:off x="4295775" y="5076825"/>
            <a:ext cx="3114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26675"/>
                </a:solidFill>
                <a:latin typeface="Malgun Gothic"/>
                <a:ea typeface="Malgun Gothic"/>
                <a:cs typeface="Malgun Gothic"/>
              </a:defRPr>
            </a:pPr>
            <a:r>
              <a:rPr sz="1500" b="0">
                <a:solidFill>
                  <a:srgbClr val="526675"/>
                </a:solidFill>
                <a:latin typeface="Malgun Gothic"/>
                <a:ea typeface="Malgun Gothic"/>
                <a:cs typeface="Malgun Gothic"/>
              </a:rPr>
              <a:t>전체 Hybrid DNS · 이권욱</a:t>
            </a:r>
          </a:p>
        </p:txBody>
      </p:sp>
      <p:sp>
        <p:nvSpPr>
          <p:cNvPr id="169" name="">
            <a:extLst xmlns:a="http://schemas.openxmlformats.org/drawingml/2006/main">
              <a:ext uri="{FF2B5EF4-FFF2-40B4-BE49-F238E27FC236}">
                <a16:creationId xmlns:a16="http://schemas.microsoft.com/office/drawing/2014/main" id="{1616577D-65B8-48C9-ACE9-3404C02DC811}"/>
              </a:ext>
            </a:extLst>
          </p:cNvPr>
          <p:cNvSpPr>
            <a:spLocks xmlns:a="http://schemas.openxmlformats.org/drawingml/2006/main" noGrp="1"/>
          </p:cNvSpPr>
          <p:nvPr/>
        </p:nvSpPr>
        <p:spPr>
          <a:xfrm xmlns:a="http://schemas.openxmlformats.org/drawingml/2006/main">
            <a:off x="7791450" y="4410075"/>
            <a:ext cx="3524250" cy="1057275"/>
          </a:xfrm>
          <a:prstGeom xmlns:a="http://schemas.openxmlformats.org/drawingml/2006/main" prst="rect">
            <a:avLst/>
          </a:prstGeom>
          <a:noFill xmlns:a="http://schemas.openxmlformats.org/drawingml/2006/main"/>
          <a:ln xmlns:a="http://schemas.openxmlformats.org/drawingml/2006/main" w="14288">
            <a:solidFill>
              <a:srgbClr val="CAD8DF"/>
            </a:solidFill>
            <a:prstDash val="solid"/>
          </a:ln>
        </p:spPr>
        <p:txBody xmlns:a="http://schemas.openxmlformats.org/drawingml/2006/main">
          <a:bodyPr/>
          <a:p/>
        </p:txBody>
      </p:sp>
      <p:sp>
        <p:nvSpPr>
          <p:cNvPr id="170" name="보안 기준 점검">
            <a:extLst xmlns:a="http://schemas.openxmlformats.org/drawingml/2006/main">
              <a:ext uri="{FF2B5EF4-FFF2-40B4-BE49-F238E27FC236}">
                <a16:creationId xmlns:a16="http://schemas.microsoft.com/office/drawing/2014/main" id="{EFB29FBF-4672-4B62-85A1-F292E62B1102}"/>
              </a:ext>
            </a:extLst>
          </p:cNvPr>
          <p:cNvSpPr>
            <a:spLocks xmlns:a="http://schemas.openxmlformats.org/drawingml/2006/main" noGrp="1"/>
          </p:cNvSpPr>
          <p:nvPr/>
        </p:nvSpPr>
        <p:spPr>
          <a:xfrm xmlns:a="http://schemas.openxmlformats.org/drawingml/2006/main">
            <a:off x="8420100" y="4552950"/>
            <a:ext cx="2771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2D40"/>
                </a:solidFill>
                <a:latin typeface="Malgun Gothic"/>
                <a:ea typeface="Malgun Gothic"/>
                <a:cs typeface="Malgun Gothic"/>
              </a:defRPr>
            </a:pPr>
            <a:r>
              <a:rPr sz="1300" b="1">
                <a:solidFill>
                  <a:srgbClr val="1C242B"/>
                </a:solidFill>
                <a:latin typeface="Malgun Gothic"/>
                <a:ea typeface="Malgun Gothic"/>
                <a:cs typeface="Malgun Gothic"/>
              </a:rPr>
              <a:t>보안 기준 점검</a:t>
            </a:r>
          </a:p>
        </p:txBody>
      </p:sp>
      <p:sp>
        <p:nvSpPr>
          <p:cNvPr id="171" name="Compliance · 이하영">
            <a:extLst xmlns:a="http://schemas.openxmlformats.org/drawingml/2006/main">
              <a:ext uri="{FF2B5EF4-FFF2-40B4-BE49-F238E27FC236}">
                <a16:creationId xmlns:a16="http://schemas.microsoft.com/office/drawing/2014/main" id="{BCBD16F2-5F3D-46D9-BD88-2C3B1CDC958B}"/>
              </a:ext>
            </a:extLst>
          </p:cNvPr>
          <p:cNvSpPr>
            <a:spLocks xmlns:a="http://schemas.openxmlformats.org/drawingml/2006/main" noGrp="1"/>
          </p:cNvSpPr>
          <p:nvPr/>
        </p:nvSpPr>
        <p:spPr>
          <a:xfrm xmlns:a="http://schemas.openxmlformats.org/drawingml/2006/main">
            <a:off x="7953375" y="5076825"/>
            <a:ext cx="323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26675"/>
                </a:solidFill>
                <a:latin typeface="Malgun Gothic"/>
                <a:ea typeface="Malgun Gothic"/>
                <a:cs typeface="Malgun Gothic"/>
              </a:defRPr>
            </a:pPr>
            <a:r>
              <a:rPr sz="1500" b="0">
                <a:solidFill>
                  <a:srgbClr val="526675"/>
                </a:solidFill>
                <a:latin typeface="Malgun Gothic"/>
                <a:ea typeface="Malgun Gothic"/>
                <a:cs typeface="Malgun Gothic"/>
              </a:rPr>
              <a:t>Compliance · 이하영</a:t>
            </a:r>
          </a:p>
        </p:txBody>
      </p:sp>
      <p:cxnSp>
        <p:nvCxnSpPr>
          <p:cNvPr id="255" name=""/>
          <p:cNvCxnSpPr>
            <a:stCxn xmlns:a="http://schemas.openxmlformats.org/drawingml/2006/main" id="147" idx="2"/>
            <a:endCxn xmlns:a="http://schemas.openxmlformats.org/drawingml/2006/main" id="150" idx="0"/>
          </p:cNvCxnSpPr>
          <p:nvPr/>
        </p:nvCxnSpPr>
        <p:spPr>
          <a:xfrm xmlns:a="http://schemas.openxmlformats.org/drawingml/2006/main">
            <a:off x="1952625" y="2876550"/>
            <a:ext cx="0" cy="419100"/>
          </a:xfrm>
          <a:prstGeom xmlns:a="http://schemas.openxmlformats.org/drawingml/2006/main" prst="straightConnector1">
            <a:avLst/>
          </a:prstGeom>
          <a:ln xmlns:a="http://schemas.openxmlformats.org/drawingml/2006/main" w="23813">
            <a:solidFill>
              <a:srgbClr val="0F6A6C"/>
            </a:solidFill>
            <a:prstDash val="solid"/>
            <a:tailEnd type="triangle" w="sm" len="sm"/>
          </a:ln>
        </p:spPr>
      </p:cxnSp>
      <p:cxnSp>
        <p:nvCxnSpPr>
          <p:cNvPr id="256" name=""/>
          <p:cNvCxnSpPr>
            <a:stCxn xmlns:a="http://schemas.openxmlformats.org/drawingml/2006/main" id="150" idx="3"/>
            <a:endCxn xmlns:a="http://schemas.openxmlformats.org/drawingml/2006/main" id="155" idx="1"/>
          </p:cNvCxnSpPr>
          <p:nvPr/>
        </p:nvCxnSpPr>
        <p:spPr>
          <a:xfrm xmlns:a="http://schemas.openxmlformats.org/drawingml/2006/main" flipV="1">
            <a:off x="3219450" y="3890963"/>
            <a:ext cx="714375" cy="204788"/>
          </a:xfrm>
          <a:prstGeom xmlns:a="http://schemas.openxmlformats.org/drawingml/2006/main" prst="straightConnector1">
            <a:avLst/>
          </a:prstGeom>
          <a:ln xmlns:a="http://schemas.openxmlformats.org/drawingml/2006/main" w="23813">
            <a:solidFill>
              <a:srgbClr val="81929D"/>
            </a:solidFill>
            <a:prstDash val="dash"/>
            <a:tailEnd type="triangle" w="sm" len="sm"/>
          </a:ln>
        </p:spPr>
      </p:cxnSp>
      <p:cxnSp>
        <p:nvCxnSpPr>
          <p:cNvPr id="257" name=""/>
          <p:cNvCxnSpPr>
            <a:stCxn xmlns:a="http://schemas.openxmlformats.org/drawingml/2006/main" id="150" idx="2"/>
            <a:endCxn xmlns:a="http://schemas.openxmlformats.org/drawingml/2006/main" id="153" idx="0"/>
          </p:cNvCxnSpPr>
          <p:nvPr/>
        </p:nvCxnSpPr>
        <p:spPr>
          <a:xfrm xmlns:a="http://schemas.openxmlformats.org/drawingml/2006/main">
            <a:off x="1952625" y="4895850"/>
            <a:ext cx="0" cy="438150"/>
          </a:xfrm>
          <a:prstGeom xmlns:a="http://schemas.openxmlformats.org/drawingml/2006/main" prst="straightConnector1">
            <a:avLst/>
          </a:prstGeom>
          <a:ln xmlns:a="http://schemas.openxmlformats.org/drawingml/2006/main" w="23813">
            <a:solidFill>
              <a:srgbClr val="81929D"/>
            </a:solidFill>
            <a:prstDash val="dash"/>
            <a:tailEnd type="triangle" w="sm" len="sm"/>
          </a:ln>
        </p:spPr>
      </p:cxnSp>
      <p:sp>
        <p:nvSpPr>
          <p:cNvPr id="175" name="조건 충족">
            <a:extLst xmlns:a="http://schemas.openxmlformats.org/drawingml/2006/main">
              <a:ext uri="{FF2B5EF4-FFF2-40B4-BE49-F238E27FC236}">
                <a16:creationId xmlns:a16="http://schemas.microsoft.com/office/drawing/2014/main" id="{8B648197-4983-4498-9269-4445914A3E17}"/>
              </a:ext>
            </a:extLst>
          </p:cNvPr>
          <p:cNvSpPr>
            <a:spLocks xmlns:a="http://schemas.openxmlformats.org/drawingml/2006/main" noGrp="1"/>
          </p:cNvSpPr>
          <p:nvPr/>
        </p:nvSpPr>
        <p:spPr>
          <a:xfrm xmlns:a="http://schemas.openxmlformats.org/drawingml/2006/main">
            <a:off x="3238500" y="3771900"/>
            <a:ext cx="695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81929D"/>
                </a:solidFill>
                <a:latin typeface="Malgun Gothic"/>
                <a:ea typeface="Malgun Gothic"/>
                <a:cs typeface="Malgun Gothic"/>
              </a:defRPr>
            </a:pPr>
            <a:r>
              <a:rPr sz="1350" b="0">
                <a:solidFill>
                  <a:srgbClr val="81929D"/>
                </a:solidFill>
                <a:latin typeface="Malgun Gothic"/>
                <a:ea typeface="Malgun Gothic"/>
                <a:cs typeface="Malgun Gothic"/>
              </a:rPr>
              <a:t>조건 충족</a:t>
            </a:r>
          </a:p>
        </p:txBody>
      </p:sp>
      <p:sp>
        <p:nvSpPr>
          <p:cNvPr id="176" name="AI 운영 플랫폼(RHOAI)은 유예 우선 · 이하영">
            <a:extLst xmlns:a="http://schemas.openxmlformats.org/drawingml/2006/main">
              <a:ext uri="{FF2B5EF4-FFF2-40B4-BE49-F238E27FC236}">
                <a16:creationId xmlns:a16="http://schemas.microsoft.com/office/drawing/2014/main" id="{7B28E894-C720-403A-B878-0360BE70BDF2}"/>
              </a:ext>
            </a:extLst>
          </p:cNvPr>
          <p:cNvSpPr>
            <a:spLocks xmlns:a="http://schemas.openxmlformats.org/drawingml/2006/main" noGrp="1"/>
          </p:cNvSpPr>
          <p:nvPr/>
        </p:nvSpPr>
        <p:spPr>
          <a:xfrm xmlns:a="http://schemas.openxmlformats.org/drawingml/2006/main">
            <a:off x="3933825" y="5886450"/>
            <a:ext cx="7572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81929D"/>
                </a:solidFill>
                <a:latin typeface="Malgun Gothic"/>
                <a:ea typeface="Malgun Gothic"/>
                <a:cs typeface="Malgun Gothic"/>
              </a:defRPr>
            </a:pPr>
            <a:r>
              <a:rPr sz="1200" b="0">
                <a:solidFill>
                  <a:srgbClr val="3D4C57"/>
                </a:solidFill>
                <a:latin typeface="Malgun Gothic"/>
                <a:ea typeface="Malgun Gothic"/>
                <a:cs typeface="Malgun Gothic"/>
              </a:rPr>
              <a:t>AI 운영 플랫폼(RHOAI)은 유예 우선 · 이하영</a:t>
            </a:r>
          </a:p>
        </p:txBody>
      </p:sp>
      <p:sp>
        <p:nvSpPr>
          <p:cNvPr id="177" name="P0 최소 이름 조회·비밀정보 보호·필수 복구 조건은 계속 충족합니다">
            <a:extLst xmlns:a="http://schemas.openxmlformats.org/drawingml/2006/main">
              <a:ext uri="{FF2B5EF4-FFF2-40B4-BE49-F238E27FC236}">
                <a16:creationId xmlns:a16="http://schemas.microsoft.com/office/drawing/2014/main" id="{7117DE7D-A1AC-4DD4-BD96-F38CC455E602}"/>
              </a:ext>
            </a:extLst>
          </p:cNvPr>
          <p:cNvSpPr>
            <a:spLocks xmlns:a="http://schemas.openxmlformats.org/drawingml/2006/main" noGrp="1"/>
          </p:cNvSpPr>
          <p:nvPr/>
        </p:nvSpPr>
        <p:spPr>
          <a:xfrm xmlns:a="http://schemas.openxmlformats.org/drawingml/2006/main">
            <a:off x="685800" y="6343650"/>
            <a:ext cx="101631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0F6A6C"/>
                </a:solidFill>
                <a:latin typeface="Malgun Gothic"/>
                <a:ea typeface="Malgun Gothic"/>
                <a:cs typeface="Malgun Gothic"/>
              </a:defRPr>
            </a:pPr>
            <a:r>
              <a:rPr sz="1200" b="1">
                <a:solidFill>
                  <a:srgbClr val="3D4C57"/>
                </a:solidFill>
                <a:latin typeface="Malgun Gothic"/>
                <a:ea typeface="Malgun Gothic"/>
                <a:cs typeface="Malgun Gothic"/>
              </a:rPr>
              <a:t>P0 최소 이름 조회·비밀정보 보호·필수 복구 조건은 계속 충족합니다</a:t>
            </a:r>
          </a:p>
        </p:txBody>
      </p:sp>
      <p:sp xmlns:a="http://schemas.openxmlformats.org/drawingml/2006/main">
        <p:nvSpPr>
          <p:cNvPr id="258" name="Rectangle 257"/>
          <p:cNvSpPr/>
          <p:nvPr/>
        </p:nvSpPr>
        <p:spPr>
          <a:xfrm>
            <a:off x="0" y="0"/>
            <a:ext cx="12191695" cy="73152"/>
          </a:xfrm>
          <a:prstGeom prst="rect">
            <a:avLst/>
          </a:prstGeom>
          <a:solidFill>
            <a:srgbClr val="14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9" name="Rectangle 258"/>
          <p:cNvSpPr/>
          <p:nvPr/>
        </p:nvSpPr>
        <p:spPr>
          <a:xfrm>
            <a:off x="0" y="73152"/>
            <a:ext cx="73152" cy="6784848"/>
          </a:xfrm>
          <a:prstGeom prst="rect">
            <a:avLst/>
          </a:prstGeom>
          <a:solidFill>
            <a:srgbClr val="1F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0" name="Rounded Rectangle 259"/>
          <p:cNvSpPr/>
          <p:nvPr/>
        </p:nvSpPr>
        <p:spPr>
          <a:xfrm>
            <a:off x="9646920" y="146304"/>
            <a:ext cx="2240280" cy="237744"/>
          </a:xfrm>
          <a:prstGeom prst="roundRect">
            <a:avLst>
              <a:gd name="adj" fmla="val 50000"/>
            </a:avLst>
          </a:prstGeom>
          <a:solidFill>
            <a:srgbClr val="FFFFFF"/>
          </a:solidFill>
          <a:ln w="12700">
            <a:solidFill>
              <a:srgbClr val="1F8A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8A8A"/>
                </a:solidFill>
                <a:latin typeface="Malgun Gothic"/>
                <a:ea typeface="Malgun Gothic"/>
                <a:cs typeface="Malgun Gothic"/>
              </a:rPr>
              <a:t>부록  운영 확장</a:t>
            </a:r>
          </a:p>
        </p:txBody>
      </p:sp>
    </p:spTree>
    <p:extLst>
      <p:ext uri="{BB962C8B-B14F-4D97-AF65-F5344CB8AC3E}">
        <p14:creationId xmlns:p14="http://schemas.microsoft.com/office/powerpoint/2010/main" val="11688818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2026-10-06T11:51:47.7530000Z</dcterms:created>
  <dcterms:modified xsi:type="dcterms:W3CDTF">2026-10-06T11:51:47.7540000Z</dcterms:modified>
</coreProperties>
</file>